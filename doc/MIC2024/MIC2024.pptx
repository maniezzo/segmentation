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74" r:id="rId3"/>
    <p:sldId id="265" r:id="rId4"/>
    <p:sldId id="266" r:id="rId5"/>
    <p:sldId id="267" r:id="rId6"/>
    <p:sldId id="268" r:id="rId7"/>
    <p:sldId id="257" r:id="rId8"/>
    <p:sldId id="263" r:id="rId9"/>
    <p:sldId id="264" r:id="rId10"/>
    <p:sldId id="271" r:id="rId11"/>
    <p:sldId id="269" r:id="rId12"/>
    <p:sldId id="270" r:id="rId13"/>
    <p:sldId id="273" r:id="rId14"/>
    <p:sldId id="275" r:id="rId15"/>
    <p:sldId id="276" r:id="rId16"/>
    <p:sldId id="277" r:id="rId17"/>
    <p:sldId id="262" r:id="rId18"/>
    <p:sldId id="259" r:id="rId19"/>
    <p:sldId id="261" r:id="rId20"/>
    <p:sldId id="272" r:id="rId21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9" autoAdjust="0"/>
    <p:restoredTop sz="94660"/>
  </p:normalViewPr>
  <p:slideViewPr>
    <p:cSldViewPr snapToGrid="0">
      <p:cViewPr varScale="1">
        <p:scale>
          <a:sx n="72" d="100"/>
          <a:sy n="72" d="100"/>
        </p:scale>
        <p:origin x="636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36847" y="3657124"/>
            <a:ext cx="7074291" cy="99107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rgbClr val="002060"/>
                </a:solidFill>
                <a:latin typeface="AAchalk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3" name="Title 1"/>
          <p:cNvSpPr>
            <a:spLocks noGrp="1"/>
          </p:cNvSpPr>
          <p:nvPr>
            <p:ph type="ctrTitle"/>
          </p:nvPr>
        </p:nvSpPr>
        <p:spPr>
          <a:xfrm>
            <a:off x="1032863" y="1905004"/>
            <a:ext cx="7078274" cy="1625599"/>
          </a:xfrm>
        </p:spPr>
        <p:txBody>
          <a:bodyPr>
            <a:normAutofit/>
          </a:bodyPr>
          <a:lstStyle>
            <a:lvl1pPr algn="ctr">
              <a:lnSpc>
                <a:spcPct val="90000"/>
              </a:lnSpc>
              <a:defRPr sz="4800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3205846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4" name="linea"/>
          <p:cNvGrpSpPr/>
          <p:nvPr/>
        </p:nvGrpSpPr>
        <p:grpSpPr bwMode="invGray">
          <a:xfrm>
            <a:off x="315162" y="840518"/>
            <a:ext cx="7929246" cy="64008"/>
            <a:chOff x="1522413" y="1514475"/>
            <a:chExt cx="10569575" cy="64008"/>
          </a:xfrm>
          <a:solidFill>
            <a:schemeClr val="accent2">
              <a:lumMod val="75000"/>
            </a:schemeClr>
          </a:solidFill>
        </p:grpSpPr>
        <p:sp>
          <p:nvSpPr>
            <p:cNvPr id="5" name="Figura a mano libera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" name="Figura a mano libera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8" name="Figura a mano libera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9" name="Figura a mano libera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0" name="Figura a mano libera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1" name="Figura a mano libera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2" name="Figura a mano libera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3" name="Figura a mano libera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4" name="Figura a mano libera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5" name="Figura a mano libera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6" name="Figura a mano libera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7" name="Figura a mano libera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8" name="Figura a mano libera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9" name="Figura a mano libera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0" name="Figura a mano libera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1" name="Figura a mano libera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2" name="Figura a mano libera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3" name="Figura a mano libera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4" name="Figura a mano libera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5" name="Figura a mano libera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6" name="Figura a mano libera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7" name="Figura a mano libera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8" name="Figura a mano libera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9" name="Figura a mano libera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0" name="Figura a mano libera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1" name="Figura a mano libera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2" name="Figura a mano libera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3" name="Figura a mano libera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4" name="Figura a mano libera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5" name="Figura a mano libera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6" name="Figura a mano libera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7" name="Figura a mano libera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8" name="Figura a mano libera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9" name="Figura a mano libera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0" name="Figura a mano libera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1" name="Figura a mano libera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2" name="Figura a mano libera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3" name="Figura a mano libera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4" name="Figura a mano libera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5" name="Figura a mano libera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6" name="Figura a mano libera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7" name="Figura a mano libera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8" name="Figura a mano libera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9" name="Figura a mano libera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0" name="Figura a mano libera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1" name="Figura a mano libera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2" name="Figura a mano libera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3" name="Figura a mano libera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4" name="Figura a mano libera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5" name="Figura a mano libera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6" name="Figura a mano libera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7" name="Figura a mano libera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8" name="Figura a mano libera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9" name="Figura a mano libera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0" name="Figura a mano libera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1" name="Figura a mano libera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2" name="Figura a mano libera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3" name="Figura a mano libera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4" name="Figura a mano libera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5" name="Figura a mano libera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6" name="Figura a mano libera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7" name="Figura a mano libera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8" name="Figura a mano libera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9" name="Figura a mano libera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0" name="Figura a mano libera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1" name="Figura a mano libera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2" name="Figura a mano libera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3" name="Figura a mano libera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4" name="Figura a mano libera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5" name="Figura a mano libera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6" name="Figura a mano libera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7" name="Figura a mano libera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8" name="Figura a mano libera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9" name="Figura a mano libera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</p:grpSp>
      <p:sp>
        <p:nvSpPr>
          <p:cNvPr id="80" name="Footer Placeholder 4">
            <a:extLst>
              <a:ext uri="{FF2B5EF4-FFF2-40B4-BE49-F238E27FC236}">
                <a16:creationId xmlns:a16="http://schemas.microsoft.com/office/drawing/2014/main" id="{E4BE8164-996A-474C-978A-F0A76F8C9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85" y="6580584"/>
            <a:ext cx="310264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tx1"/>
                </a:solidFill>
                <a:latin typeface="ManiezzoSlides" pitchFamily="2" charset="0"/>
                <a:ea typeface="Microsoft YaHei" panose="020B0503020204020204" pitchFamily="34" charset="-122"/>
              </a:defRPr>
            </a:lvl1pPr>
          </a:lstStyle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81" name="Slide Number Placeholder 5">
            <a:extLst>
              <a:ext uri="{FF2B5EF4-FFF2-40B4-BE49-F238E27FC236}">
                <a16:creationId xmlns:a16="http://schemas.microsoft.com/office/drawing/2014/main" id="{39CA8FFC-AF78-45E6-98A9-C8B0B8648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56706" y="6588890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61530991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‹#›</a:t>
            </a:fld>
            <a:endParaRPr lang="it-IT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6" name="linea"/>
          <p:cNvGrpSpPr/>
          <p:nvPr/>
        </p:nvGrpSpPr>
        <p:grpSpPr bwMode="invGray">
          <a:xfrm>
            <a:off x="315162" y="840518"/>
            <a:ext cx="7929246" cy="64008"/>
            <a:chOff x="1522413" y="1514475"/>
            <a:chExt cx="10569575" cy="64008"/>
          </a:xfrm>
          <a:solidFill>
            <a:schemeClr val="accent2">
              <a:lumMod val="75000"/>
            </a:schemeClr>
          </a:solidFill>
        </p:grpSpPr>
        <p:sp>
          <p:nvSpPr>
            <p:cNvPr id="7" name="Figura a mano libera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8" name="Figura a mano libera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9" name="Figura a mano libera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0" name="Figura a mano libera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1" name="Figura a mano libera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2" name="Figura a mano libera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3" name="Figura a mano libera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4" name="Figura a mano libera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5" name="Figura a mano libera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6" name="Figura a mano libera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7" name="Figura a mano libera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8" name="Figura a mano libera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9" name="Figura a mano libera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0" name="Figura a mano libera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1" name="Figura a mano libera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2" name="Figura a mano libera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3" name="Figura a mano libera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4" name="Figura a mano libera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5" name="Figura a mano libera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6" name="Figura a mano libera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7" name="Figura a mano libera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8" name="Figura a mano libera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9" name="Figura a mano libera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0" name="Figura a mano libera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1" name="Figura a mano libera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2" name="Figura a mano libera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3" name="Figura a mano libera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4" name="Figura a mano libera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5" name="Figura a mano libera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6" name="Figura a mano libera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7" name="Figura a mano libera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8" name="Figura a mano libera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9" name="Figura a mano libera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0" name="Figura a mano libera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1" name="Figura a mano libera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2" name="Figura a mano libera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3" name="Figura a mano libera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4" name="Figura a mano libera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5" name="Figura a mano libera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6" name="Figura a mano libera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7" name="Figura a mano libera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8" name="Figura a mano libera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9" name="Figura a mano libera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0" name="Figura a mano libera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1" name="Figura a mano libera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2" name="Figura a mano libera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3" name="Figura a mano libera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4" name="Figura a mano libera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5" name="Figura a mano libera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6" name="Figura a mano libera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7" name="Figura a mano libera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8" name="Figura a mano libera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9" name="Figura a mano libera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0" name="Figura a mano libera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1" name="Figura a mano libera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2" name="Figura a mano libera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3" name="Figura a mano libera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4" name="Figura a mano libera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5" name="Figura a mano libera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6" name="Figura a mano libera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7" name="Figura a mano libera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8" name="Figura a mano libera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9" name="Figura a mano libera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0" name="Figura a mano libera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1" name="Figura a mano libera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2" name="Figura a mano libera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3" name="Figura a mano libera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4" name="Figura a mano libera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5" name="Figura a mano libera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6" name="Figura a mano libera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7" name="Figura a mano libera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8" name="Figura a mano libera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9" name="Figura a mano libera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80" name="Figura a mano libera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</p:grpSp>
      <p:sp>
        <p:nvSpPr>
          <p:cNvPr id="81" name="Footer Placeholder 4">
            <a:extLst>
              <a:ext uri="{FF2B5EF4-FFF2-40B4-BE49-F238E27FC236}">
                <a16:creationId xmlns:a16="http://schemas.microsoft.com/office/drawing/2014/main" id="{3E84B2B8-6A6C-4172-8F92-776075D81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85" y="6580584"/>
            <a:ext cx="310264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tx1"/>
                </a:solidFill>
                <a:latin typeface="ManiezzoSlides" pitchFamily="2" charset="0"/>
                <a:ea typeface="Microsoft YaHei" panose="020B0503020204020204" pitchFamily="34" charset="-122"/>
              </a:defRPr>
            </a:lvl1pPr>
          </a:lstStyle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59287632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‹#›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C9A75-8A08-4035-85FB-5EA0B5BB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85" y="6580584"/>
            <a:ext cx="310264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tx1"/>
                </a:solidFill>
                <a:latin typeface="ManiezzoSlides" pitchFamily="2" charset="0"/>
                <a:ea typeface="Microsoft YaHei" panose="020B0503020204020204" pitchFamily="34" charset="-122"/>
              </a:defRPr>
            </a:lvl1pPr>
          </a:lstStyle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20908868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>
          <a:xfrm>
            <a:off x="107504" y="6597352"/>
            <a:ext cx="3096344" cy="26064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dirty="0"/>
              <a:t>Vittorio Maniezzo - </a:t>
            </a:r>
            <a:r>
              <a:rPr lang="it-IT" dirty="0" err="1"/>
              <a:t>University</a:t>
            </a:r>
            <a:r>
              <a:rPr lang="it-IT" dirty="0"/>
              <a:t> of Bologna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95C6C1-66D2-4A7C-8B60-02391940B58A}" type="slidenum">
              <a:rPr lang="it-IT" smtClean="0"/>
              <a:pPr>
                <a:defRPr/>
              </a:pPr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93656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3"/>
          <p:cNvGrpSpPr>
            <a:grpSpLocks/>
          </p:cNvGrpSpPr>
          <p:nvPr/>
        </p:nvGrpSpPr>
        <p:grpSpPr bwMode="ltGray">
          <a:xfrm>
            <a:off x="72070" y="37277"/>
            <a:ext cx="9071930" cy="6856413"/>
            <a:chOff x="0" y="0"/>
            <a:chExt cx="5759" cy="4319"/>
          </a:xfrm>
        </p:grpSpPr>
        <p:sp>
          <p:nvSpPr>
            <p:cNvPr id="13" name="Line 4"/>
            <p:cNvSpPr>
              <a:spLocks noChangeShapeType="1"/>
            </p:cNvSpPr>
            <p:nvPr/>
          </p:nvSpPr>
          <p:spPr bwMode="ltGray">
            <a:xfrm>
              <a:off x="0" y="14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4" name="Line 5"/>
            <p:cNvSpPr>
              <a:spLocks noChangeShapeType="1"/>
            </p:cNvSpPr>
            <p:nvPr/>
          </p:nvSpPr>
          <p:spPr bwMode="ltGray">
            <a:xfrm>
              <a:off x="0" y="33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5" name="Line 6"/>
            <p:cNvSpPr>
              <a:spLocks noChangeShapeType="1"/>
            </p:cNvSpPr>
            <p:nvPr/>
          </p:nvSpPr>
          <p:spPr bwMode="ltGray">
            <a:xfrm>
              <a:off x="0" y="528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6" name="Line 7"/>
            <p:cNvSpPr>
              <a:spLocks noChangeShapeType="1"/>
            </p:cNvSpPr>
            <p:nvPr/>
          </p:nvSpPr>
          <p:spPr bwMode="ltGray">
            <a:xfrm>
              <a:off x="0" y="720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7" name="Line 8"/>
            <p:cNvSpPr>
              <a:spLocks noChangeShapeType="1"/>
            </p:cNvSpPr>
            <p:nvPr/>
          </p:nvSpPr>
          <p:spPr bwMode="ltGray">
            <a:xfrm>
              <a:off x="0" y="912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8" name="Line 9"/>
            <p:cNvSpPr>
              <a:spLocks noChangeShapeType="1"/>
            </p:cNvSpPr>
            <p:nvPr/>
          </p:nvSpPr>
          <p:spPr bwMode="ltGray">
            <a:xfrm>
              <a:off x="0" y="110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9" name="Line 10"/>
            <p:cNvSpPr>
              <a:spLocks noChangeShapeType="1"/>
            </p:cNvSpPr>
            <p:nvPr/>
          </p:nvSpPr>
          <p:spPr bwMode="ltGray">
            <a:xfrm>
              <a:off x="0" y="129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0" name="Line 11"/>
            <p:cNvSpPr>
              <a:spLocks noChangeShapeType="1"/>
            </p:cNvSpPr>
            <p:nvPr/>
          </p:nvSpPr>
          <p:spPr bwMode="ltGray">
            <a:xfrm>
              <a:off x="0" y="1488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1" name="Line 12"/>
            <p:cNvSpPr>
              <a:spLocks noChangeShapeType="1"/>
            </p:cNvSpPr>
            <p:nvPr/>
          </p:nvSpPr>
          <p:spPr bwMode="ltGray">
            <a:xfrm>
              <a:off x="0" y="1680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2" name="Line 13"/>
            <p:cNvSpPr>
              <a:spLocks noChangeShapeType="1"/>
            </p:cNvSpPr>
            <p:nvPr/>
          </p:nvSpPr>
          <p:spPr bwMode="ltGray">
            <a:xfrm>
              <a:off x="0" y="1872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Line 14"/>
            <p:cNvSpPr>
              <a:spLocks noChangeShapeType="1"/>
            </p:cNvSpPr>
            <p:nvPr/>
          </p:nvSpPr>
          <p:spPr bwMode="ltGray">
            <a:xfrm>
              <a:off x="0" y="206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Line 15"/>
            <p:cNvSpPr>
              <a:spLocks noChangeShapeType="1"/>
            </p:cNvSpPr>
            <p:nvPr/>
          </p:nvSpPr>
          <p:spPr bwMode="ltGray">
            <a:xfrm>
              <a:off x="0" y="225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Line 16"/>
            <p:cNvSpPr>
              <a:spLocks noChangeShapeType="1"/>
            </p:cNvSpPr>
            <p:nvPr/>
          </p:nvSpPr>
          <p:spPr bwMode="ltGray">
            <a:xfrm>
              <a:off x="0" y="2448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Line 17"/>
            <p:cNvSpPr>
              <a:spLocks noChangeShapeType="1"/>
            </p:cNvSpPr>
            <p:nvPr/>
          </p:nvSpPr>
          <p:spPr bwMode="ltGray">
            <a:xfrm>
              <a:off x="0" y="2640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7" name="Line 18"/>
            <p:cNvSpPr>
              <a:spLocks noChangeShapeType="1"/>
            </p:cNvSpPr>
            <p:nvPr/>
          </p:nvSpPr>
          <p:spPr bwMode="ltGray">
            <a:xfrm>
              <a:off x="0" y="2832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8" name="Line 19"/>
            <p:cNvSpPr>
              <a:spLocks noChangeShapeType="1"/>
            </p:cNvSpPr>
            <p:nvPr/>
          </p:nvSpPr>
          <p:spPr bwMode="ltGray">
            <a:xfrm>
              <a:off x="0" y="302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9" name="Line 20"/>
            <p:cNvSpPr>
              <a:spLocks noChangeShapeType="1"/>
            </p:cNvSpPr>
            <p:nvPr/>
          </p:nvSpPr>
          <p:spPr bwMode="ltGray">
            <a:xfrm>
              <a:off x="0" y="321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0" name="Line 21"/>
            <p:cNvSpPr>
              <a:spLocks noChangeShapeType="1"/>
            </p:cNvSpPr>
            <p:nvPr/>
          </p:nvSpPr>
          <p:spPr bwMode="ltGray">
            <a:xfrm>
              <a:off x="0" y="3408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1" name="Line 22"/>
            <p:cNvSpPr>
              <a:spLocks noChangeShapeType="1"/>
            </p:cNvSpPr>
            <p:nvPr/>
          </p:nvSpPr>
          <p:spPr bwMode="ltGray">
            <a:xfrm>
              <a:off x="0" y="3600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2" name="Line 23"/>
            <p:cNvSpPr>
              <a:spLocks noChangeShapeType="1"/>
            </p:cNvSpPr>
            <p:nvPr/>
          </p:nvSpPr>
          <p:spPr bwMode="ltGray">
            <a:xfrm>
              <a:off x="0" y="3792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3" name="Line 24"/>
            <p:cNvSpPr>
              <a:spLocks noChangeShapeType="1"/>
            </p:cNvSpPr>
            <p:nvPr/>
          </p:nvSpPr>
          <p:spPr bwMode="ltGray">
            <a:xfrm>
              <a:off x="0" y="398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4" name="Line 25"/>
            <p:cNvSpPr>
              <a:spLocks noChangeShapeType="1"/>
            </p:cNvSpPr>
            <p:nvPr/>
          </p:nvSpPr>
          <p:spPr bwMode="ltGray">
            <a:xfrm>
              <a:off x="0" y="417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" name="Line 26"/>
            <p:cNvSpPr>
              <a:spLocks noChangeShapeType="1"/>
            </p:cNvSpPr>
            <p:nvPr/>
          </p:nvSpPr>
          <p:spPr bwMode="ltGray">
            <a:xfrm>
              <a:off x="14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6" name="Line 27"/>
            <p:cNvSpPr>
              <a:spLocks noChangeShapeType="1"/>
            </p:cNvSpPr>
            <p:nvPr/>
          </p:nvSpPr>
          <p:spPr bwMode="ltGray">
            <a:xfrm>
              <a:off x="33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7" name="Line 28"/>
            <p:cNvSpPr>
              <a:spLocks noChangeShapeType="1"/>
            </p:cNvSpPr>
            <p:nvPr/>
          </p:nvSpPr>
          <p:spPr bwMode="ltGray">
            <a:xfrm>
              <a:off x="52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8" name="Line 29"/>
            <p:cNvSpPr>
              <a:spLocks noChangeShapeType="1"/>
            </p:cNvSpPr>
            <p:nvPr/>
          </p:nvSpPr>
          <p:spPr bwMode="ltGray">
            <a:xfrm>
              <a:off x="72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9" name="Line 30"/>
            <p:cNvSpPr>
              <a:spLocks noChangeShapeType="1"/>
            </p:cNvSpPr>
            <p:nvPr/>
          </p:nvSpPr>
          <p:spPr bwMode="ltGray">
            <a:xfrm>
              <a:off x="91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0" name="Line 31"/>
            <p:cNvSpPr>
              <a:spLocks noChangeShapeType="1"/>
            </p:cNvSpPr>
            <p:nvPr/>
          </p:nvSpPr>
          <p:spPr bwMode="ltGray">
            <a:xfrm>
              <a:off x="110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1" name="Line 32"/>
            <p:cNvSpPr>
              <a:spLocks noChangeShapeType="1"/>
            </p:cNvSpPr>
            <p:nvPr/>
          </p:nvSpPr>
          <p:spPr bwMode="ltGray">
            <a:xfrm>
              <a:off x="129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2" name="Line 33"/>
            <p:cNvSpPr>
              <a:spLocks noChangeShapeType="1"/>
            </p:cNvSpPr>
            <p:nvPr/>
          </p:nvSpPr>
          <p:spPr bwMode="ltGray">
            <a:xfrm>
              <a:off x="148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3" name="Line 34"/>
            <p:cNvSpPr>
              <a:spLocks noChangeShapeType="1"/>
            </p:cNvSpPr>
            <p:nvPr/>
          </p:nvSpPr>
          <p:spPr bwMode="ltGray">
            <a:xfrm>
              <a:off x="168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4" name="Line 35"/>
            <p:cNvSpPr>
              <a:spLocks noChangeShapeType="1"/>
            </p:cNvSpPr>
            <p:nvPr/>
          </p:nvSpPr>
          <p:spPr bwMode="ltGray">
            <a:xfrm>
              <a:off x="187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5" name="Line 36"/>
            <p:cNvSpPr>
              <a:spLocks noChangeShapeType="1"/>
            </p:cNvSpPr>
            <p:nvPr/>
          </p:nvSpPr>
          <p:spPr bwMode="ltGray">
            <a:xfrm>
              <a:off x="206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6" name="Line 37"/>
            <p:cNvSpPr>
              <a:spLocks noChangeShapeType="1"/>
            </p:cNvSpPr>
            <p:nvPr/>
          </p:nvSpPr>
          <p:spPr bwMode="ltGray">
            <a:xfrm>
              <a:off x="225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7" name="Line 38"/>
            <p:cNvSpPr>
              <a:spLocks noChangeShapeType="1"/>
            </p:cNvSpPr>
            <p:nvPr/>
          </p:nvSpPr>
          <p:spPr bwMode="ltGray">
            <a:xfrm>
              <a:off x="244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8" name="Line 39"/>
            <p:cNvSpPr>
              <a:spLocks noChangeShapeType="1"/>
            </p:cNvSpPr>
            <p:nvPr/>
          </p:nvSpPr>
          <p:spPr bwMode="ltGray">
            <a:xfrm>
              <a:off x="264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9" name="Line 40"/>
            <p:cNvSpPr>
              <a:spLocks noChangeShapeType="1"/>
            </p:cNvSpPr>
            <p:nvPr/>
          </p:nvSpPr>
          <p:spPr bwMode="ltGray">
            <a:xfrm>
              <a:off x="283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0" name="Line 41"/>
            <p:cNvSpPr>
              <a:spLocks noChangeShapeType="1"/>
            </p:cNvSpPr>
            <p:nvPr/>
          </p:nvSpPr>
          <p:spPr bwMode="ltGray">
            <a:xfrm>
              <a:off x="302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1" name="Line 42"/>
            <p:cNvSpPr>
              <a:spLocks noChangeShapeType="1"/>
            </p:cNvSpPr>
            <p:nvPr/>
          </p:nvSpPr>
          <p:spPr bwMode="ltGray">
            <a:xfrm>
              <a:off x="321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2" name="Line 43"/>
            <p:cNvSpPr>
              <a:spLocks noChangeShapeType="1"/>
            </p:cNvSpPr>
            <p:nvPr/>
          </p:nvSpPr>
          <p:spPr bwMode="ltGray">
            <a:xfrm>
              <a:off x="340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3" name="Line 44"/>
            <p:cNvSpPr>
              <a:spLocks noChangeShapeType="1"/>
            </p:cNvSpPr>
            <p:nvPr/>
          </p:nvSpPr>
          <p:spPr bwMode="ltGray">
            <a:xfrm>
              <a:off x="360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4" name="Line 45"/>
            <p:cNvSpPr>
              <a:spLocks noChangeShapeType="1"/>
            </p:cNvSpPr>
            <p:nvPr/>
          </p:nvSpPr>
          <p:spPr bwMode="ltGray">
            <a:xfrm>
              <a:off x="379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5" name="Line 46"/>
            <p:cNvSpPr>
              <a:spLocks noChangeShapeType="1"/>
            </p:cNvSpPr>
            <p:nvPr/>
          </p:nvSpPr>
          <p:spPr bwMode="ltGray">
            <a:xfrm>
              <a:off x="398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6" name="Line 47"/>
            <p:cNvSpPr>
              <a:spLocks noChangeShapeType="1"/>
            </p:cNvSpPr>
            <p:nvPr/>
          </p:nvSpPr>
          <p:spPr bwMode="ltGray">
            <a:xfrm>
              <a:off x="417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7" name="Line 48"/>
            <p:cNvSpPr>
              <a:spLocks noChangeShapeType="1"/>
            </p:cNvSpPr>
            <p:nvPr/>
          </p:nvSpPr>
          <p:spPr bwMode="ltGray">
            <a:xfrm>
              <a:off x="436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8" name="Line 49"/>
            <p:cNvSpPr>
              <a:spLocks noChangeShapeType="1"/>
            </p:cNvSpPr>
            <p:nvPr/>
          </p:nvSpPr>
          <p:spPr bwMode="ltGray">
            <a:xfrm>
              <a:off x="456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9" name="Line 50"/>
            <p:cNvSpPr>
              <a:spLocks noChangeShapeType="1"/>
            </p:cNvSpPr>
            <p:nvPr/>
          </p:nvSpPr>
          <p:spPr bwMode="ltGray">
            <a:xfrm>
              <a:off x="475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0" name="Line 51"/>
            <p:cNvSpPr>
              <a:spLocks noChangeShapeType="1"/>
            </p:cNvSpPr>
            <p:nvPr/>
          </p:nvSpPr>
          <p:spPr bwMode="ltGray">
            <a:xfrm>
              <a:off x="494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1" name="Line 52"/>
            <p:cNvSpPr>
              <a:spLocks noChangeShapeType="1"/>
            </p:cNvSpPr>
            <p:nvPr/>
          </p:nvSpPr>
          <p:spPr bwMode="ltGray">
            <a:xfrm>
              <a:off x="513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2" name="Line 53"/>
            <p:cNvSpPr>
              <a:spLocks noChangeShapeType="1"/>
            </p:cNvSpPr>
            <p:nvPr/>
          </p:nvSpPr>
          <p:spPr bwMode="ltGray">
            <a:xfrm>
              <a:off x="532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3" name="Line 54"/>
            <p:cNvSpPr>
              <a:spLocks noChangeShapeType="1"/>
            </p:cNvSpPr>
            <p:nvPr/>
          </p:nvSpPr>
          <p:spPr bwMode="ltGray">
            <a:xfrm>
              <a:off x="552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4" name="Line 55"/>
            <p:cNvSpPr>
              <a:spLocks noChangeShapeType="1"/>
            </p:cNvSpPr>
            <p:nvPr/>
          </p:nvSpPr>
          <p:spPr bwMode="ltGray">
            <a:xfrm>
              <a:off x="571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185" y="6580584"/>
            <a:ext cx="310264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tx1"/>
                </a:solidFill>
                <a:latin typeface="ManiezzoSlides" pitchFamily="2" charset="0"/>
                <a:ea typeface="Microsoft YaHei" panose="020B0503020204020204" pitchFamily="34" charset="-122"/>
              </a:defRPr>
            </a:lvl1pPr>
          </a:lstStyle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56706" y="6588890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‹#›</a:t>
            </a:fld>
            <a:endParaRPr lang="it-IT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8907" y="1173916"/>
            <a:ext cx="8546175" cy="5259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8767" y="37278"/>
            <a:ext cx="8791195" cy="7667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081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002060"/>
          </a:solidFill>
          <a:latin typeface="AAchalk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800"/>
        </a:spcBef>
        <a:buClrTx/>
        <a:buFont typeface="Arial" panose="020B0604020202020204" pitchFamily="34" charset="0"/>
        <a:buNone/>
        <a:defRPr sz="2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48640" indent="-246888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0392" indent="-246888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152144" indent="-246888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453896" indent="-246888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755648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accent5"/>
        </a:buClr>
        <a:buFont typeface="Wingdings" panose="05000000000000000000" pitchFamily="2" charset="2"/>
        <a:buChar char="§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accent5"/>
        </a:buClr>
        <a:buFont typeface="Wingdings" panose="05000000000000000000" pitchFamily="2" charset="2"/>
        <a:buChar char="§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359152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accent5"/>
        </a:buClr>
        <a:buFont typeface="Wingdings" panose="05000000000000000000" pitchFamily="2" charset="2"/>
        <a:buChar char="§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660904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accent5"/>
        </a:buClr>
        <a:buFont typeface="Wingdings" panose="05000000000000000000" pitchFamily="2" charset="2"/>
        <a:buChar char="§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9AEB7D-37B2-2B36-9DAD-91ED247EA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419" y="1365397"/>
            <a:ext cx="7078274" cy="2644694"/>
          </a:xfrm>
        </p:spPr>
        <p:txBody>
          <a:bodyPr>
            <a:normAutofit fontScale="90000"/>
          </a:bodyPr>
          <a:lstStyle/>
          <a:p>
            <a:pPr algn="l">
              <a:lnSpc>
                <a:spcPct val="100000"/>
              </a:lnSpc>
            </a:pPr>
            <a:r>
              <a:rPr lang="en-US" dirty="0"/>
              <a:t>Extended set covering for time series segmentation</a:t>
            </a:r>
            <a:endParaRPr lang="it-IT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298ADB6-C24C-444C-3A3E-15DED536373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637875" y="5198323"/>
            <a:ext cx="4465194" cy="1616627"/>
          </a:xfrm>
        </p:spPr>
        <p:txBody>
          <a:bodyPr>
            <a:noAutofit/>
          </a:bodyPr>
          <a:lstStyle/>
          <a:p>
            <a:pPr algn="r" eaLnBrk="1" hangingPunct="1"/>
            <a:r>
              <a:rPr lang="it-IT" altLang="en-US" sz="3200" b="1" dirty="0">
                <a:latin typeface="ManiezzoSlides" pitchFamily="2" charset="0"/>
              </a:rPr>
              <a:t>Vittorio Maniezzo</a:t>
            </a:r>
          </a:p>
          <a:p>
            <a:pPr algn="r" eaLnBrk="1" hangingPunct="1"/>
            <a:r>
              <a:rPr lang="it-IT" altLang="en-US" sz="3200" b="1" dirty="0">
                <a:latin typeface="ManiezzoSlides" pitchFamily="2" charset="0"/>
              </a:rPr>
              <a:t>University of Bologna</a:t>
            </a:r>
          </a:p>
          <a:p>
            <a:pPr algn="r" eaLnBrk="1" hangingPunct="1"/>
            <a:r>
              <a:rPr lang="it-IT" altLang="en-US" sz="3200" b="1" dirty="0">
                <a:latin typeface="ManiezzoSlides" pitchFamily="2" charset="0"/>
              </a:rPr>
              <a:t>vittorio.maniezzo@unibo.it</a:t>
            </a:r>
          </a:p>
        </p:txBody>
      </p:sp>
    </p:spTree>
    <p:extLst>
      <p:ext uri="{BB962C8B-B14F-4D97-AF65-F5344CB8AC3E}">
        <p14:creationId xmlns:p14="http://schemas.microsoft.com/office/powerpoint/2010/main" val="1349857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3852E8-3872-8F8E-7850-5961EAD81546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146" y="969484"/>
            <a:ext cx="9142854" cy="588851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80BAAA7-A37C-C775-A80C-2E7A9D9BE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C000"/>
                </a:solidFill>
              </a:rPr>
              <a:t>Fintech, trading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56750D-9A7C-4375-E5D2-02F0E57DA6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 dirty="0">
                <a:solidFill>
                  <a:srgbClr val="FFC000"/>
                </a:solidFill>
              </a:rPr>
              <a:t>Vittorio Maniezzo - University of Bologna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090A23-82B1-9E6A-5EFF-72D9992656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2</a:t>
            </a:fld>
            <a:endParaRPr lang="it-IT" dirty="0"/>
          </a:p>
        </p:txBody>
      </p:sp>
      <p:grpSp>
        <p:nvGrpSpPr>
          <p:cNvPr id="7" name="linea">
            <a:extLst>
              <a:ext uri="{FF2B5EF4-FFF2-40B4-BE49-F238E27FC236}">
                <a16:creationId xmlns:a16="http://schemas.microsoft.com/office/drawing/2014/main" id="{5B6D60A5-917E-9F9D-2E86-1AD769B9B8AB}"/>
              </a:ext>
            </a:extLst>
          </p:cNvPr>
          <p:cNvGrpSpPr/>
          <p:nvPr/>
        </p:nvGrpSpPr>
        <p:grpSpPr bwMode="invGray">
          <a:xfrm>
            <a:off x="315162" y="840518"/>
            <a:ext cx="7929246" cy="64008"/>
            <a:chOff x="1522413" y="1514475"/>
            <a:chExt cx="10569575" cy="64008"/>
          </a:xfrm>
          <a:solidFill>
            <a:srgbClr val="FFC000"/>
          </a:solidFill>
        </p:grpSpPr>
        <p:sp>
          <p:nvSpPr>
            <p:cNvPr id="8" name="Figura a mano libera 10">
              <a:extLst>
                <a:ext uri="{FF2B5EF4-FFF2-40B4-BE49-F238E27FC236}">
                  <a16:creationId xmlns:a16="http://schemas.microsoft.com/office/drawing/2014/main" id="{929C84C0-7779-0A59-7D5A-6F4BC36C832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9" name="Figura a mano libera 11">
              <a:extLst>
                <a:ext uri="{FF2B5EF4-FFF2-40B4-BE49-F238E27FC236}">
                  <a16:creationId xmlns:a16="http://schemas.microsoft.com/office/drawing/2014/main" id="{75BB4241-AFFA-5EC9-041D-0327165C7D0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0" name="Figura a mano libera 12">
              <a:extLst>
                <a:ext uri="{FF2B5EF4-FFF2-40B4-BE49-F238E27FC236}">
                  <a16:creationId xmlns:a16="http://schemas.microsoft.com/office/drawing/2014/main" id="{BF55C3CA-5242-D44C-832C-0B7A6DD0BD7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1" name="Figura a mano libera 15">
              <a:extLst>
                <a:ext uri="{FF2B5EF4-FFF2-40B4-BE49-F238E27FC236}">
                  <a16:creationId xmlns:a16="http://schemas.microsoft.com/office/drawing/2014/main" id="{60A70E1D-5585-7154-B644-E1075EF6338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2" name="Figura a mano libera 16">
              <a:extLst>
                <a:ext uri="{FF2B5EF4-FFF2-40B4-BE49-F238E27FC236}">
                  <a16:creationId xmlns:a16="http://schemas.microsoft.com/office/drawing/2014/main" id="{76F35024-93A2-D7AB-D087-0AB32C78F608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3" name="Figura a mano libera 17">
              <a:extLst>
                <a:ext uri="{FF2B5EF4-FFF2-40B4-BE49-F238E27FC236}">
                  <a16:creationId xmlns:a16="http://schemas.microsoft.com/office/drawing/2014/main" id="{943AF27D-126A-1FFD-41C6-4DA673D571B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4" name="Figura a mano libera 18">
              <a:extLst>
                <a:ext uri="{FF2B5EF4-FFF2-40B4-BE49-F238E27FC236}">
                  <a16:creationId xmlns:a16="http://schemas.microsoft.com/office/drawing/2014/main" id="{7A6E4574-714D-4923-32EC-4AB6C7EE60C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5" name="Figura a mano libera 19">
              <a:extLst>
                <a:ext uri="{FF2B5EF4-FFF2-40B4-BE49-F238E27FC236}">
                  <a16:creationId xmlns:a16="http://schemas.microsoft.com/office/drawing/2014/main" id="{E99C0809-42FB-FF05-2519-D14263CA47B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6" name="Figura a mano libera 20">
              <a:extLst>
                <a:ext uri="{FF2B5EF4-FFF2-40B4-BE49-F238E27FC236}">
                  <a16:creationId xmlns:a16="http://schemas.microsoft.com/office/drawing/2014/main" id="{19320F6E-9407-3ABC-DE0A-4E7AB3FB148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7" name="Figura a mano libera 21">
              <a:extLst>
                <a:ext uri="{FF2B5EF4-FFF2-40B4-BE49-F238E27FC236}">
                  <a16:creationId xmlns:a16="http://schemas.microsoft.com/office/drawing/2014/main" id="{D5419750-325B-151F-FF7F-D23664F0808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8" name="Figura a mano libera 22">
              <a:extLst>
                <a:ext uri="{FF2B5EF4-FFF2-40B4-BE49-F238E27FC236}">
                  <a16:creationId xmlns:a16="http://schemas.microsoft.com/office/drawing/2014/main" id="{9B953EE2-2F1F-36FB-A9C9-6636AB105BA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9" name="Figura a mano libera 23">
              <a:extLst>
                <a:ext uri="{FF2B5EF4-FFF2-40B4-BE49-F238E27FC236}">
                  <a16:creationId xmlns:a16="http://schemas.microsoft.com/office/drawing/2014/main" id="{B857B8CA-AB92-56EC-56FF-A85B9BF3A56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20" name="Figura a mano libera 24">
              <a:extLst>
                <a:ext uri="{FF2B5EF4-FFF2-40B4-BE49-F238E27FC236}">
                  <a16:creationId xmlns:a16="http://schemas.microsoft.com/office/drawing/2014/main" id="{D6338F1B-6FEE-4D77-E10B-F852108BED98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21" name="Figura a mano libera 25">
              <a:extLst>
                <a:ext uri="{FF2B5EF4-FFF2-40B4-BE49-F238E27FC236}">
                  <a16:creationId xmlns:a16="http://schemas.microsoft.com/office/drawing/2014/main" id="{B7A758F9-E103-4752-C5D6-F1D635CCDDA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22" name="Figura a mano libera 26">
              <a:extLst>
                <a:ext uri="{FF2B5EF4-FFF2-40B4-BE49-F238E27FC236}">
                  <a16:creationId xmlns:a16="http://schemas.microsoft.com/office/drawing/2014/main" id="{57E06E2B-F8A9-BBF8-8587-CA6C1F81541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23" name="Figura a mano libera 27">
              <a:extLst>
                <a:ext uri="{FF2B5EF4-FFF2-40B4-BE49-F238E27FC236}">
                  <a16:creationId xmlns:a16="http://schemas.microsoft.com/office/drawing/2014/main" id="{DA2E1F65-28B5-6B17-8771-94C9BED31BD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24" name="Figura a mano libera 28">
              <a:extLst>
                <a:ext uri="{FF2B5EF4-FFF2-40B4-BE49-F238E27FC236}">
                  <a16:creationId xmlns:a16="http://schemas.microsoft.com/office/drawing/2014/main" id="{D0D58BB5-98AC-7A1E-FF46-A5DF076ED8C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25" name="Figura a mano libera 29">
              <a:extLst>
                <a:ext uri="{FF2B5EF4-FFF2-40B4-BE49-F238E27FC236}">
                  <a16:creationId xmlns:a16="http://schemas.microsoft.com/office/drawing/2014/main" id="{7D176E60-88A8-50EB-6779-0D79798A6FC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26" name="Figura a mano libera 30">
              <a:extLst>
                <a:ext uri="{FF2B5EF4-FFF2-40B4-BE49-F238E27FC236}">
                  <a16:creationId xmlns:a16="http://schemas.microsoft.com/office/drawing/2014/main" id="{6D1FECB9-58C9-C7EB-C6C5-CD1D91A018B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27" name="Figura a mano libera 31">
              <a:extLst>
                <a:ext uri="{FF2B5EF4-FFF2-40B4-BE49-F238E27FC236}">
                  <a16:creationId xmlns:a16="http://schemas.microsoft.com/office/drawing/2014/main" id="{325410F5-B482-4FEE-0216-7722BFCB3AC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28" name="Figura a mano libera 32">
              <a:extLst>
                <a:ext uri="{FF2B5EF4-FFF2-40B4-BE49-F238E27FC236}">
                  <a16:creationId xmlns:a16="http://schemas.microsoft.com/office/drawing/2014/main" id="{51C2CF77-D0EB-4620-4D96-E693D618A433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29" name="Figura a mano libera 33">
              <a:extLst>
                <a:ext uri="{FF2B5EF4-FFF2-40B4-BE49-F238E27FC236}">
                  <a16:creationId xmlns:a16="http://schemas.microsoft.com/office/drawing/2014/main" id="{64A2E17F-B1AF-BCA1-B6A8-161E842158D3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30" name="Figura a mano libera 34">
              <a:extLst>
                <a:ext uri="{FF2B5EF4-FFF2-40B4-BE49-F238E27FC236}">
                  <a16:creationId xmlns:a16="http://schemas.microsoft.com/office/drawing/2014/main" id="{688FA222-28F3-4EC5-BDE4-18E81D0BB98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31" name="Figura a mano libera 35">
              <a:extLst>
                <a:ext uri="{FF2B5EF4-FFF2-40B4-BE49-F238E27FC236}">
                  <a16:creationId xmlns:a16="http://schemas.microsoft.com/office/drawing/2014/main" id="{B8599EB8-BFAC-3185-F5E1-404FD52262F3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32" name="Figura a mano libera 36">
              <a:extLst>
                <a:ext uri="{FF2B5EF4-FFF2-40B4-BE49-F238E27FC236}">
                  <a16:creationId xmlns:a16="http://schemas.microsoft.com/office/drawing/2014/main" id="{4A1999AE-2E59-761E-31E0-E607D986183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33" name="Figura a mano libera 37">
              <a:extLst>
                <a:ext uri="{FF2B5EF4-FFF2-40B4-BE49-F238E27FC236}">
                  <a16:creationId xmlns:a16="http://schemas.microsoft.com/office/drawing/2014/main" id="{4E16E0C4-8AFF-09F1-3428-F6347F35A20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34" name="Figura a mano libera 38">
              <a:extLst>
                <a:ext uri="{FF2B5EF4-FFF2-40B4-BE49-F238E27FC236}">
                  <a16:creationId xmlns:a16="http://schemas.microsoft.com/office/drawing/2014/main" id="{F54487BE-C292-56D4-E682-C2A229018E3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35" name="Figura a mano libera 39">
              <a:extLst>
                <a:ext uri="{FF2B5EF4-FFF2-40B4-BE49-F238E27FC236}">
                  <a16:creationId xmlns:a16="http://schemas.microsoft.com/office/drawing/2014/main" id="{114D2097-6273-DDD8-FE9A-988BB110FE4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36" name="Figura a mano libera 40">
              <a:extLst>
                <a:ext uri="{FF2B5EF4-FFF2-40B4-BE49-F238E27FC236}">
                  <a16:creationId xmlns:a16="http://schemas.microsoft.com/office/drawing/2014/main" id="{67B022BD-779D-1D4A-B59A-3886BE29C0D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37" name="Figura a mano libera 41">
              <a:extLst>
                <a:ext uri="{FF2B5EF4-FFF2-40B4-BE49-F238E27FC236}">
                  <a16:creationId xmlns:a16="http://schemas.microsoft.com/office/drawing/2014/main" id="{1734E1BF-E3F4-B165-B2A3-1C2A1A8A820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38" name="Figura a mano libera 42">
              <a:extLst>
                <a:ext uri="{FF2B5EF4-FFF2-40B4-BE49-F238E27FC236}">
                  <a16:creationId xmlns:a16="http://schemas.microsoft.com/office/drawing/2014/main" id="{EE0786F8-A993-D161-6A6E-D92E2CD2EDA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39" name="Figura a mano libera 43">
              <a:extLst>
                <a:ext uri="{FF2B5EF4-FFF2-40B4-BE49-F238E27FC236}">
                  <a16:creationId xmlns:a16="http://schemas.microsoft.com/office/drawing/2014/main" id="{21D3B1E4-A946-05AA-AA0A-00546EB50AB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40" name="Figura a mano libera 44">
              <a:extLst>
                <a:ext uri="{FF2B5EF4-FFF2-40B4-BE49-F238E27FC236}">
                  <a16:creationId xmlns:a16="http://schemas.microsoft.com/office/drawing/2014/main" id="{94CD7054-FD4D-BEFB-75F6-36F03A55D31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41" name="Figura a mano libera 45">
              <a:extLst>
                <a:ext uri="{FF2B5EF4-FFF2-40B4-BE49-F238E27FC236}">
                  <a16:creationId xmlns:a16="http://schemas.microsoft.com/office/drawing/2014/main" id="{793C14BE-0F05-D718-77F5-AC0F608A02B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42" name="Figura a mano libera 46">
              <a:extLst>
                <a:ext uri="{FF2B5EF4-FFF2-40B4-BE49-F238E27FC236}">
                  <a16:creationId xmlns:a16="http://schemas.microsoft.com/office/drawing/2014/main" id="{35A18716-2D4D-759E-D8EB-3B4D8351263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43" name="Figura a mano libera 47">
              <a:extLst>
                <a:ext uri="{FF2B5EF4-FFF2-40B4-BE49-F238E27FC236}">
                  <a16:creationId xmlns:a16="http://schemas.microsoft.com/office/drawing/2014/main" id="{4D20D98E-F0B0-669F-6221-9A5A7D17EE0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44" name="Figura a mano libera 48">
              <a:extLst>
                <a:ext uri="{FF2B5EF4-FFF2-40B4-BE49-F238E27FC236}">
                  <a16:creationId xmlns:a16="http://schemas.microsoft.com/office/drawing/2014/main" id="{2C80E127-5651-A66D-D120-B78E1696056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45" name="Figura a mano libera 49">
              <a:extLst>
                <a:ext uri="{FF2B5EF4-FFF2-40B4-BE49-F238E27FC236}">
                  <a16:creationId xmlns:a16="http://schemas.microsoft.com/office/drawing/2014/main" id="{5715D19E-584D-3531-5413-CADBF07CFB2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46" name="Figura a mano libera 50">
              <a:extLst>
                <a:ext uri="{FF2B5EF4-FFF2-40B4-BE49-F238E27FC236}">
                  <a16:creationId xmlns:a16="http://schemas.microsoft.com/office/drawing/2014/main" id="{FDC17FF0-78E7-D592-FBFD-C6C0FF62459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47" name="Figura a mano libera 51">
              <a:extLst>
                <a:ext uri="{FF2B5EF4-FFF2-40B4-BE49-F238E27FC236}">
                  <a16:creationId xmlns:a16="http://schemas.microsoft.com/office/drawing/2014/main" id="{D8D136EE-9CBF-F170-8A43-E117C0891C2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48" name="Figura a mano libera 52">
              <a:extLst>
                <a:ext uri="{FF2B5EF4-FFF2-40B4-BE49-F238E27FC236}">
                  <a16:creationId xmlns:a16="http://schemas.microsoft.com/office/drawing/2014/main" id="{9B11FD43-1095-DDE4-0FFA-A8FFE555485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49" name="Figura a mano libera 53">
              <a:extLst>
                <a:ext uri="{FF2B5EF4-FFF2-40B4-BE49-F238E27FC236}">
                  <a16:creationId xmlns:a16="http://schemas.microsoft.com/office/drawing/2014/main" id="{BC0D287C-5E6A-C5A5-6FBC-233AFF1BC4C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50" name="Figura a mano libera 54">
              <a:extLst>
                <a:ext uri="{FF2B5EF4-FFF2-40B4-BE49-F238E27FC236}">
                  <a16:creationId xmlns:a16="http://schemas.microsoft.com/office/drawing/2014/main" id="{C4AB388D-DFC6-5D2C-AA73-DB78ABF5FD9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51" name="Figura a mano libera 55">
              <a:extLst>
                <a:ext uri="{FF2B5EF4-FFF2-40B4-BE49-F238E27FC236}">
                  <a16:creationId xmlns:a16="http://schemas.microsoft.com/office/drawing/2014/main" id="{05BF11DA-B6CC-0C28-FAD5-25EF36D8DAF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52" name="Figura a mano libera 56">
              <a:extLst>
                <a:ext uri="{FF2B5EF4-FFF2-40B4-BE49-F238E27FC236}">
                  <a16:creationId xmlns:a16="http://schemas.microsoft.com/office/drawing/2014/main" id="{EC09A6F3-0FBF-3A29-A6CD-937882A83D2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53" name="Figura a mano libera 57">
              <a:extLst>
                <a:ext uri="{FF2B5EF4-FFF2-40B4-BE49-F238E27FC236}">
                  <a16:creationId xmlns:a16="http://schemas.microsoft.com/office/drawing/2014/main" id="{939EDB81-48B6-0241-A7C9-127B737DC96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54" name="Figura a mano libera 58">
              <a:extLst>
                <a:ext uri="{FF2B5EF4-FFF2-40B4-BE49-F238E27FC236}">
                  <a16:creationId xmlns:a16="http://schemas.microsoft.com/office/drawing/2014/main" id="{B6C909A6-65A0-5CCB-E9BC-975736795F7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55" name="Figura a mano libera 59">
              <a:extLst>
                <a:ext uri="{FF2B5EF4-FFF2-40B4-BE49-F238E27FC236}">
                  <a16:creationId xmlns:a16="http://schemas.microsoft.com/office/drawing/2014/main" id="{B39ECF7B-40B2-E436-0E49-1BF261DC684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56" name="Figura a mano libera 60">
              <a:extLst>
                <a:ext uri="{FF2B5EF4-FFF2-40B4-BE49-F238E27FC236}">
                  <a16:creationId xmlns:a16="http://schemas.microsoft.com/office/drawing/2014/main" id="{9EF9AE2F-8E2A-625F-717C-56D6C58D6DB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57" name="Figura a mano libera 61">
              <a:extLst>
                <a:ext uri="{FF2B5EF4-FFF2-40B4-BE49-F238E27FC236}">
                  <a16:creationId xmlns:a16="http://schemas.microsoft.com/office/drawing/2014/main" id="{8B0F063B-E01D-2E3E-0214-B3FE8F3E6AC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58" name="Figura a mano libera 62">
              <a:extLst>
                <a:ext uri="{FF2B5EF4-FFF2-40B4-BE49-F238E27FC236}">
                  <a16:creationId xmlns:a16="http://schemas.microsoft.com/office/drawing/2014/main" id="{897A6754-EDF1-D771-61BA-25BA00FEA004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59" name="Figura a mano libera 63">
              <a:extLst>
                <a:ext uri="{FF2B5EF4-FFF2-40B4-BE49-F238E27FC236}">
                  <a16:creationId xmlns:a16="http://schemas.microsoft.com/office/drawing/2014/main" id="{7B0C0176-E33C-4CDD-034C-9F8C88B6350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60" name="Figura a mano libera 64">
              <a:extLst>
                <a:ext uri="{FF2B5EF4-FFF2-40B4-BE49-F238E27FC236}">
                  <a16:creationId xmlns:a16="http://schemas.microsoft.com/office/drawing/2014/main" id="{83042857-2F6F-6F97-4406-A9418F99DAC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61" name="Figura a mano libera 65">
              <a:extLst>
                <a:ext uri="{FF2B5EF4-FFF2-40B4-BE49-F238E27FC236}">
                  <a16:creationId xmlns:a16="http://schemas.microsoft.com/office/drawing/2014/main" id="{E3964107-1444-5FEF-27D4-2A98E62D031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62" name="Figura a mano libera 66">
              <a:extLst>
                <a:ext uri="{FF2B5EF4-FFF2-40B4-BE49-F238E27FC236}">
                  <a16:creationId xmlns:a16="http://schemas.microsoft.com/office/drawing/2014/main" id="{6B864621-486F-8427-9FA6-68BB2ED42EC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63" name="Figura a mano libera 67">
              <a:extLst>
                <a:ext uri="{FF2B5EF4-FFF2-40B4-BE49-F238E27FC236}">
                  <a16:creationId xmlns:a16="http://schemas.microsoft.com/office/drawing/2014/main" id="{6225123E-3697-BF50-1F05-1323A6E4D72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024" name="Figura a mano libera 68">
              <a:extLst>
                <a:ext uri="{FF2B5EF4-FFF2-40B4-BE49-F238E27FC236}">
                  <a16:creationId xmlns:a16="http://schemas.microsoft.com/office/drawing/2014/main" id="{A66EBD54-77EB-7333-3085-2AA1926E512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025" name="Figura a mano libera 69">
              <a:extLst>
                <a:ext uri="{FF2B5EF4-FFF2-40B4-BE49-F238E27FC236}">
                  <a16:creationId xmlns:a16="http://schemas.microsoft.com/office/drawing/2014/main" id="{12B46518-5F94-9B20-6F80-3ACD3DB5311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027" name="Figura a mano libera 70">
              <a:extLst>
                <a:ext uri="{FF2B5EF4-FFF2-40B4-BE49-F238E27FC236}">
                  <a16:creationId xmlns:a16="http://schemas.microsoft.com/office/drawing/2014/main" id="{F934E5B3-2D0F-FA49-CB59-A5512489E1C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028" name="Figura a mano libera 71">
              <a:extLst>
                <a:ext uri="{FF2B5EF4-FFF2-40B4-BE49-F238E27FC236}">
                  <a16:creationId xmlns:a16="http://schemas.microsoft.com/office/drawing/2014/main" id="{BFA2407B-F491-0643-E279-44CA6E69AC48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029" name="Figura a mano libera 72">
              <a:extLst>
                <a:ext uri="{FF2B5EF4-FFF2-40B4-BE49-F238E27FC236}">
                  <a16:creationId xmlns:a16="http://schemas.microsoft.com/office/drawing/2014/main" id="{190FE714-9EE8-8012-666B-845445B0E4B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030" name="Figura a mano libera 73">
              <a:extLst>
                <a:ext uri="{FF2B5EF4-FFF2-40B4-BE49-F238E27FC236}">
                  <a16:creationId xmlns:a16="http://schemas.microsoft.com/office/drawing/2014/main" id="{CB450C5A-DBCB-B690-232F-B96FC6B661C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031" name="Figura a mano libera 74">
              <a:extLst>
                <a:ext uri="{FF2B5EF4-FFF2-40B4-BE49-F238E27FC236}">
                  <a16:creationId xmlns:a16="http://schemas.microsoft.com/office/drawing/2014/main" id="{683414F8-A783-2CF9-966C-2BC0D509CB1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032" name="Figura a mano libera 75">
              <a:extLst>
                <a:ext uri="{FF2B5EF4-FFF2-40B4-BE49-F238E27FC236}">
                  <a16:creationId xmlns:a16="http://schemas.microsoft.com/office/drawing/2014/main" id="{7D8085C4-2E2D-20B8-B65A-C5C185C53B3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033" name="Figura a mano libera 76">
              <a:extLst>
                <a:ext uri="{FF2B5EF4-FFF2-40B4-BE49-F238E27FC236}">
                  <a16:creationId xmlns:a16="http://schemas.microsoft.com/office/drawing/2014/main" id="{20EFAB66-B080-6C52-5027-D6D0C1E73D88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034" name="Figura a mano libera 77">
              <a:extLst>
                <a:ext uri="{FF2B5EF4-FFF2-40B4-BE49-F238E27FC236}">
                  <a16:creationId xmlns:a16="http://schemas.microsoft.com/office/drawing/2014/main" id="{449023AD-EC74-4539-DC09-0F8EB855027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035" name="Figura a mano libera 78">
              <a:extLst>
                <a:ext uri="{FF2B5EF4-FFF2-40B4-BE49-F238E27FC236}">
                  <a16:creationId xmlns:a16="http://schemas.microsoft.com/office/drawing/2014/main" id="{B6FB9A49-E246-9945-93BB-DB2F9E00A27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036" name="Figura a mano libera 79">
              <a:extLst>
                <a:ext uri="{FF2B5EF4-FFF2-40B4-BE49-F238E27FC236}">
                  <a16:creationId xmlns:a16="http://schemas.microsoft.com/office/drawing/2014/main" id="{E7F73E39-0BC1-47B1-E561-6A5C44EAD09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037" name="Figura a mano libera 80">
              <a:extLst>
                <a:ext uri="{FF2B5EF4-FFF2-40B4-BE49-F238E27FC236}">
                  <a16:creationId xmlns:a16="http://schemas.microsoft.com/office/drawing/2014/main" id="{E84A6AC2-0C9E-2D82-DF91-EEC843639F2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038" name="Figura a mano libera 81">
              <a:extLst>
                <a:ext uri="{FF2B5EF4-FFF2-40B4-BE49-F238E27FC236}">
                  <a16:creationId xmlns:a16="http://schemas.microsoft.com/office/drawing/2014/main" id="{6D48D4F3-5169-5E2D-B2FE-16C8A246AC58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039" name="Figura a mano libera 82">
              <a:extLst>
                <a:ext uri="{FF2B5EF4-FFF2-40B4-BE49-F238E27FC236}">
                  <a16:creationId xmlns:a16="http://schemas.microsoft.com/office/drawing/2014/main" id="{2D1F7CA1-BBE7-7988-794E-823EB39C7D1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040" name="Figura a mano libera 83">
              <a:extLst>
                <a:ext uri="{FF2B5EF4-FFF2-40B4-BE49-F238E27FC236}">
                  <a16:creationId xmlns:a16="http://schemas.microsoft.com/office/drawing/2014/main" id="{57187DDE-3FB9-C164-D331-4BEA9A097EF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041" name="Figura a mano libera 84">
              <a:extLst>
                <a:ext uri="{FF2B5EF4-FFF2-40B4-BE49-F238E27FC236}">
                  <a16:creationId xmlns:a16="http://schemas.microsoft.com/office/drawing/2014/main" id="{3E826688-8809-D5AA-0785-1EA286F3057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  <p:sp>
          <p:nvSpPr>
            <p:cNvPr id="1042" name="Figura a mano libera 85">
              <a:extLst>
                <a:ext uri="{FF2B5EF4-FFF2-40B4-BE49-F238E27FC236}">
                  <a16:creationId xmlns:a16="http://schemas.microsoft.com/office/drawing/2014/main" id="{3AC5E1DC-EF77-C2A1-2FE9-58EE5D23B41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solidFill>
                <a:srgbClr val="FFC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  <a:solidFill>
                  <a:srgbClr val="FFC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2222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249462-D8D2-7F95-D278-1AEAFB44F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07" y="1173916"/>
            <a:ext cx="8546175" cy="5414974"/>
          </a:xfrm>
        </p:spPr>
        <p:txBody>
          <a:bodyPr>
            <a:normAutofit/>
          </a:bodyPr>
          <a:lstStyle/>
          <a:p>
            <a:r>
              <a:rPr lang="en-US" sz="2600" dirty="0"/>
              <a:t>Time series segmentation asks to </a:t>
            </a:r>
            <a:r>
              <a:rPr lang="en-US" sz="2600" dirty="0">
                <a:solidFill>
                  <a:srgbClr val="C00000"/>
                </a:solidFill>
              </a:rPr>
              <a:t>partition a time series </a:t>
            </a:r>
            <a:r>
              <a:rPr lang="en-US" sz="2600" dirty="0"/>
              <a:t>into distinct, </a:t>
            </a:r>
            <a:r>
              <a:rPr lang="en-US" sz="2600" dirty="0">
                <a:solidFill>
                  <a:srgbClr val="C00000"/>
                </a:solidFill>
              </a:rPr>
              <a:t>non-overlapping time segments</a:t>
            </a:r>
            <a:r>
              <a:rPr lang="en-US" sz="2600" dirty="0"/>
              <a:t>, each characterized by homogeneous patterns or behaviors.</a:t>
            </a:r>
          </a:p>
          <a:p>
            <a:r>
              <a:rPr lang="en-US" sz="2600" dirty="0"/>
              <a:t>Segmenting a time series entails identifying </a:t>
            </a:r>
            <a:r>
              <a:rPr lang="en-US" sz="2600" dirty="0">
                <a:solidFill>
                  <a:srgbClr val="C00000"/>
                </a:solidFill>
              </a:rPr>
              <a:t>points of change </a:t>
            </a:r>
            <a:r>
              <a:rPr lang="en-US" sz="2600" dirty="0"/>
              <a:t>in the series: temporal shifts, transitions, or abrupt changes that </a:t>
            </a:r>
            <a:r>
              <a:rPr lang="en-US" sz="2600" dirty="0">
                <a:solidFill>
                  <a:srgbClr val="C00000"/>
                </a:solidFill>
              </a:rPr>
              <a:t>carry critical information</a:t>
            </a:r>
            <a:r>
              <a:rPr lang="en-US" sz="2600" dirty="0"/>
              <a:t>. </a:t>
            </a:r>
          </a:p>
          <a:p>
            <a:r>
              <a:rPr lang="en-US" sz="2600" dirty="0"/>
              <a:t>Change points </a:t>
            </a:r>
            <a:r>
              <a:rPr lang="en-US" sz="2600" dirty="0">
                <a:solidFill>
                  <a:srgbClr val="C00000"/>
                </a:solidFill>
              </a:rPr>
              <a:t>identify events </a:t>
            </a:r>
            <a:r>
              <a:rPr lang="en-US" sz="2600" dirty="0"/>
              <a:t>in a time series where the statistical properties of the data undergo a significant change, contributing to the understanding of: 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evolving trends, 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prediction of future behavior,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identification of anomalous events.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C14EFE-AEE1-0EEB-A0DD-1049E34DA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segmentation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F1007-7753-FF1A-BDF1-91E00845F9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D02E13-606C-AD6D-BBF6-31225FAA4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61618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659F84-4D1B-2CC2-3CD3-9881C58F9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07" y="1156160"/>
            <a:ext cx="8546175" cy="5342294"/>
          </a:xfrm>
        </p:spPr>
        <p:txBody>
          <a:bodyPr>
            <a:normAutofit fontScale="92500"/>
          </a:bodyPr>
          <a:lstStyle/>
          <a:p>
            <a:pPr>
              <a:spcBef>
                <a:spcPts val="1200"/>
              </a:spcBef>
            </a:pPr>
            <a:r>
              <a:rPr lang="en-US" dirty="0"/>
              <a:t>The segments can </a:t>
            </a:r>
            <a:r>
              <a:rPr lang="en-US" dirty="0">
                <a:solidFill>
                  <a:srgbClr val="C00000"/>
                </a:solidFill>
              </a:rPr>
              <a:t>correspond to any pattern of interest</a:t>
            </a:r>
            <a:r>
              <a:rPr lang="en-US" dirty="0"/>
              <a:t>, but because of its computational efficiency and immediacy of understanding, </a:t>
            </a:r>
            <a:r>
              <a:rPr lang="en-US" dirty="0">
                <a:solidFill>
                  <a:srgbClr val="C00000"/>
                </a:solidFill>
              </a:rPr>
              <a:t>linear regression </a:t>
            </a:r>
            <a:r>
              <a:rPr lang="en-US" dirty="0"/>
              <a:t>plays a predominant role. </a:t>
            </a:r>
          </a:p>
          <a:p>
            <a:pPr>
              <a:spcBef>
                <a:spcPts val="1200"/>
              </a:spcBef>
            </a:pPr>
            <a:r>
              <a:rPr lang="en-US" dirty="0"/>
              <a:t>Segmentation into linear intervals is known as </a:t>
            </a:r>
            <a:r>
              <a:rPr lang="en-US" dirty="0">
                <a:solidFill>
                  <a:srgbClr val="C00000"/>
                </a:solidFill>
              </a:rPr>
              <a:t>piecewise linear regression</a:t>
            </a:r>
            <a:r>
              <a:rPr lang="en-US" dirty="0"/>
              <a:t>. </a:t>
            </a:r>
          </a:p>
          <a:p>
            <a:pPr>
              <a:spcBef>
                <a:spcPts val="1200"/>
              </a:spcBef>
            </a:pPr>
            <a:r>
              <a:rPr lang="en-US" dirty="0"/>
              <a:t>Piecewise linear regression recognizes the presence of distinct segments in the data, each characterized by its own </a:t>
            </a:r>
            <a:r>
              <a:rPr lang="en-US" dirty="0">
                <a:solidFill>
                  <a:srgbClr val="C00000"/>
                </a:solidFill>
              </a:rPr>
              <a:t>linear trend</a:t>
            </a:r>
            <a:r>
              <a:rPr lang="en-US" dirty="0"/>
              <a:t>.</a:t>
            </a: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rgbClr val="C00000"/>
                </a:solidFill>
              </a:rPr>
              <a:t>Several approaches in the literature </a:t>
            </a:r>
            <a:r>
              <a:rPr lang="en-US" dirty="0"/>
              <a:t>for time series segmentation and change point detection, including classical statistical techniques, Bayesian approaches, machine learning algorithms, and hybrid models.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97BB32-7096-15F1-10DA-6BE18168F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Piecewise linear regression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68B204-D270-C56A-D960-C718F72A6C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00ECF8-D3E3-5E5C-7C03-DF75CE309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4</a:t>
            </a:fld>
            <a:endParaRPr lang="it-I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422CB5-930C-F81A-0CBF-203D0B134AA9}"/>
              </a:ext>
            </a:extLst>
          </p:cNvPr>
          <p:cNvSpPr txBox="1"/>
          <p:nvPr/>
        </p:nvSpPr>
        <p:spPr>
          <a:xfrm rot="19843275">
            <a:off x="1432075" y="3117294"/>
            <a:ext cx="6134469" cy="131849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 anchor="t" anchorCtr="0">
            <a:noAutofit/>
          </a:bodyPr>
          <a:lstStyle/>
          <a:p>
            <a:r>
              <a:rPr lang="it-IT" sz="7200" dirty="0">
                <a:latin typeface="+mj-lt"/>
              </a:rPr>
              <a:t>JUST MIP IT!</a:t>
            </a:r>
          </a:p>
        </p:txBody>
      </p:sp>
    </p:spTree>
    <p:extLst>
      <p:ext uri="{BB962C8B-B14F-4D97-AF65-F5344CB8AC3E}">
        <p14:creationId xmlns:p14="http://schemas.microsoft.com/office/powerpoint/2010/main" val="185874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F90FFD-2E4F-9BC7-5ADB-E502F0B0F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07" y="1026776"/>
            <a:ext cx="8605396" cy="554219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The idea: </a:t>
            </a:r>
          </a:p>
          <a:p>
            <a:pPr marL="284163" indent="-284163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quantify the fitness of each acceptable run </a:t>
            </a:r>
            <a:r>
              <a:rPr lang="en-US" dirty="0"/>
              <a:t>of values of the series </a:t>
            </a:r>
          </a:p>
          <a:p>
            <a:pPr marL="284163" indent="-284163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select the subset of runs </a:t>
            </a:r>
            <a:r>
              <a:rPr lang="en-US" dirty="0"/>
              <a:t>that collectively cover the entire series</a:t>
            </a:r>
          </a:p>
          <a:p>
            <a:pPr marL="284163" indent="-284163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minimizing the cost of residuals </a:t>
            </a:r>
            <a:r>
              <a:rPr lang="en-US" dirty="0"/>
              <a:t>or maximizing model fitness.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C00000"/>
                </a:solidFill>
              </a:rPr>
              <a:t>Further constraints </a:t>
            </a:r>
            <a:r>
              <a:rPr lang="en-US" dirty="0"/>
              <a:t>can be added to accommodate specific desiderata on the model, thanks to the modeling flexibility of mixed-integer programming and the effectiveness of state-of-the-art general MIP solvers</a:t>
            </a:r>
          </a:p>
          <a:p>
            <a:pPr>
              <a:lnSpc>
                <a:spcPct val="110000"/>
              </a:lnSpc>
            </a:pPr>
            <a:r>
              <a:rPr lang="en-US" dirty="0"/>
              <a:t>A Set Partitioning Problem (SPP) is at the core of the model, where the </a:t>
            </a:r>
            <a:r>
              <a:rPr lang="en-US" dirty="0">
                <a:solidFill>
                  <a:srgbClr val="C00000"/>
                </a:solidFill>
              </a:rPr>
              <a:t>objective is to minimize the cost of the residuals </a:t>
            </a:r>
            <a:r>
              <a:rPr lang="en-US" dirty="0"/>
              <a:t>and the constraints ensure that </a:t>
            </a:r>
            <a:r>
              <a:rPr lang="en-US" dirty="0">
                <a:solidFill>
                  <a:srgbClr val="C00000"/>
                </a:solidFill>
              </a:rPr>
              <a:t>each point of the series has a corresponding one in the model</a:t>
            </a:r>
            <a:r>
              <a:rPr lang="en-US" dirty="0"/>
              <a:t>. </a:t>
            </a:r>
          </a:p>
          <a:p>
            <a:pPr>
              <a:lnSpc>
                <a:spcPct val="110000"/>
              </a:lnSpc>
            </a:pPr>
            <a:r>
              <a:rPr lang="en-US" dirty="0"/>
              <a:t>No assumption is made about the nature of the model of the segments.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07BBB0-72E8-F179-9955-1B0A56B42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SPP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A31EC4-FDCC-6F0A-03D9-E0CC46EAF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03B39-BB8B-E9D4-5E1F-ECF8A7AAB3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68277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EF48A1-3475-CBF4-3429-3DF836256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cost </a:t>
            </a:r>
            <a:r>
              <a:rPr lang="en-US" b="1" i="1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en-US" b="1" i="1" baseline="-25000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each run can be computed according to any of the fitness measures proposed in the literature, including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en-US" baseline="30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dirty="0"/>
              <a:t>,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SER</a:t>
            </a:r>
            <a:r>
              <a:rPr lang="en-US" dirty="0"/>
              <a:t>,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χ</a:t>
            </a:r>
            <a:r>
              <a:rPr lang="en-US" baseline="30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dirty="0"/>
              <a:t>,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RMSE</a:t>
            </a:r>
            <a:r>
              <a:rPr lang="en-US" dirty="0"/>
              <a:t>, simple variance etc. 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constraints</a:t>
            </a:r>
            <a:r>
              <a:rPr lang="en-US" dirty="0"/>
              <a:t> ensure that each point of the series is covered by a selected run.</a:t>
            </a:r>
          </a:p>
          <a:p>
            <a:r>
              <a:rPr lang="en-US" dirty="0"/>
              <a:t>BUT the </a:t>
            </a:r>
            <a:r>
              <a:rPr lang="en-US" dirty="0">
                <a:solidFill>
                  <a:srgbClr val="C00000"/>
                </a:solidFill>
              </a:rPr>
              <a:t>number of feasible runs </a:t>
            </a:r>
            <a:r>
              <a:rPr lang="en-US" dirty="0"/>
              <a:t>for a real-world application can be very large, and the SPP can take an unacceptable amount of time to solve. </a:t>
            </a:r>
          </a:p>
          <a:p>
            <a:r>
              <a:rPr lang="en-US" dirty="0"/>
              <a:t>We relax the equality constraints into inequalities, transforming the problem into a </a:t>
            </a:r>
            <a:r>
              <a:rPr lang="en-US" dirty="0">
                <a:solidFill>
                  <a:srgbClr val="C00000"/>
                </a:solidFill>
              </a:rPr>
              <a:t>Set Covering Problem </a:t>
            </a:r>
            <a:r>
              <a:rPr lang="en-US" dirty="0"/>
              <a:t>(SCP), which can typically be solved in much higher dimensions, at the cost of having </a:t>
            </a:r>
            <a:r>
              <a:rPr lang="en-US" dirty="0">
                <a:solidFill>
                  <a:srgbClr val="C00000"/>
                </a:solidFill>
              </a:rPr>
              <a:t>multiple runs covering some of the series points.</a:t>
            </a:r>
            <a:r>
              <a:rPr lang="en-US" dirty="0"/>
              <a:t> </a:t>
            </a:r>
          </a:p>
          <a:p>
            <a:r>
              <a:rPr lang="en-US" dirty="0"/>
              <a:t>It requires </a:t>
            </a:r>
            <a:r>
              <a:rPr lang="en-US" dirty="0">
                <a:solidFill>
                  <a:srgbClr val="C00000"/>
                </a:solidFill>
              </a:rPr>
              <a:t>postprocessing</a:t>
            </a:r>
            <a:r>
              <a:rPr lang="en-US" dirty="0"/>
              <a:t> to get a feasible segmentation. We simply cut one of the overlaps (very rough).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61C370-615C-2BD5-DBF0-F44362FD7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SCP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76299C-9009-2B6E-3E60-8021775D0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3A963-9F0B-EDB8-6CFC-26F2F0E2D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38668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75FD82-A0E4-A050-5954-1C7DCCB63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extended</a:t>
            </a:r>
            <a:r>
              <a:rPr lang="it-IT" dirty="0"/>
              <a:t> SCP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FEB8B-705F-5B65-5B6F-C1C1ADA26C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2791B1-FFD6-1929-E6FE-D8586E026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7</a:t>
            </a:fld>
            <a:endParaRPr lang="it-IT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5731EC9-5A85-5904-0805-9227890A61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29" y="1908693"/>
            <a:ext cx="9078944" cy="3764133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24D0631-403C-AB3F-06E5-4E90224CFB5B}"/>
                  </a:ext>
                </a:extLst>
              </p:cNvPr>
              <p:cNvSpPr txBox="1"/>
              <p:nvPr/>
            </p:nvSpPr>
            <p:spPr>
              <a:xfrm>
                <a:off x="634701" y="5892488"/>
                <a:ext cx="5647766" cy="465288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 wrap="none" rtlCol="0" anchor="t" anchorCtr="0">
                <a:no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𝑛𝑟𝑢𝑛𝑠</m:t>
                        </m:r>
                      </m:sup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𝑚𝑎𝑥𝑠h𝑜𝑟𝑡𝑠</m:t>
                        </m:r>
                      </m:e>
                    </m:nary>
                  </m:oMath>
                </a14:m>
                <a:r>
                  <a:rPr lang="en-US" sz="2000" dirty="0"/>
                  <a:t>               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𝑆h𝑜𝑟𝑡𝑅𝑢𝑛𝑠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24D0631-403C-AB3F-06E5-4E90224CF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701" y="5892488"/>
                <a:ext cx="5647766" cy="465288"/>
              </a:xfrm>
              <a:prstGeom prst="rect">
                <a:avLst/>
              </a:prstGeom>
              <a:blipFill>
                <a:blip r:embed="rId3"/>
                <a:stretch>
                  <a:fillRect l="-6459" t="-101282" b="-141026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43DCC7-ACD9-69DD-70A5-26A132C52FF6}"/>
              </a:ext>
            </a:extLst>
          </p:cNvPr>
          <p:cNvCxnSpPr/>
          <p:nvPr/>
        </p:nvCxnSpPr>
        <p:spPr>
          <a:xfrm flipV="1">
            <a:off x="1306587" y="5185186"/>
            <a:ext cx="2056069" cy="70730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592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241F02-3E64-A755-6082-43EB1AEE4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spcBef>
                <a:spcPts val="600"/>
              </a:spcBef>
            </a:pPr>
            <a:r>
              <a:rPr lang="en-US" dirty="0"/>
              <a:t>Dualizing covering constraints (2), you simply have to </a:t>
            </a:r>
            <a:r>
              <a:rPr lang="en-US" dirty="0">
                <a:solidFill>
                  <a:srgbClr val="C00000"/>
                </a:solidFill>
              </a:rPr>
              <a:t>pick the most negative </a:t>
            </a:r>
            <a:r>
              <a:rPr lang="en-US" dirty="0" err="1">
                <a:solidFill>
                  <a:srgbClr val="C00000"/>
                </a:solidFill>
              </a:rPr>
              <a:t>maxruns</a:t>
            </a:r>
            <a:r>
              <a:rPr lang="en-US" dirty="0">
                <a:solidFill>
                  <a:srgbClr val="C00000"/>
                </a:solidFill>
              </a:rPr>
              <a:t> columns</a:t>
            </a:r>
            <a:r>
              <a:rPr lang="en-US" dirty="0"/>
              <a:t>, if so many exist.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sz="2600" b="1" dirty="0">
                <a:latin typeface="Lekton" panose="02000000000000000000" pitchFamily="2" charset="0"/>
              </a:rPr>
              <a:t>function </a:t>
            </a:r>
            <a:r>
              <a:rPr lang="en-US" sz="2600" b="1" dirty="0" err="1">
                <a:latin typeface="Lekton" panose="02000000000000000000" pitchFamily="2" charset="0"/>
              </a:rPr>
              <a:t>LagrHeuristic</a:t>
            </a:r>
            <a:r>
              <a:rPr lang="en-US" sz="2600" b="1" dirty="0">
                <a:latin typeface="Lekton" panose="02000000000000000000" pitchFamily="2" charset="0"/>
              </a:rPr>
              <a:t>();</a:t>
            </a:r>
          </a:p>
          <a:p>
            <a:pPr>
              <a:spcBef>
                <a:spcPts val="600"/>
              </a:spcBef>
            </a:pPr>
            <a:r>
              <a:rPr lang="en-US" sz="2600" b="1" dirty="0">
                <a:latin typeface="Lekton" panose="02000000000000000000" pitchFamily="2" charset="0"/>
              </a:rPr>
              <a:t>1</a:t>
            </a:r>
            <a:r>
              <a:rPr lang="el-GR" sz="2600" b="1" dirty="0">
                <a:latin typeface="Lekton" panose="02000000000000000000" pitchFamily="2" charset="0"/>
              </a:rPr>
              <a:t> </a:t>
            </a:r>
            <a:r>
              <a:rPr lang="en-US" sz="2600" b="1" dirty="0">
                <a:latin typeface="Lekton" panose="02000000000000000000" pitchFamily="2" charset="0"/>
              </a:rPr>
              <a:t>identify an “easy” </a:t>
            </a:r>
            <a:r>
              <a:rPr lang="en-US" sz="2600" b="1" dirty="0">
                <a:solidFill>
                  <a:srgbClr val="C00000"/>
                </a:solidFill>
                <a:latin typeface="Lekton" panose="02000000000000000000" pitchFamily="2" charset="0"/>
              </a:rPr>
              <a:t>subproblem</a:t>
            </a:r>
            <a:r>
              <a:rPr lang="en-US" sz="2600" b="1" dirty="0">
                <a:latin typeface="Lekton" panose="02000000000000000000" pitchFamily="2" charset="0"/>
              </a:rPr>
              <a:t> LR(</a:t>
            </a:r>
            <a:r>
              <a:rPr lang="el-GR" sz="2600" b="1" dirty="0">
                <a:solidFill>
                  <a:schemeClr val="accent2">
                    <a:lumMod val="75000"/>
                  </a:schemeClr>
                </a:solidFill>
                <a:latin typeface="Lekton" panose="02000000000000000000" pitchFamily="2" charset="0"/>
              </a:rPr>
              <a:t>λ</a:t>
            </a:r>
            <a:r>
              <a:rPr lang="el-GR" sz="2600" b="1" dirty="0">
                <a:latin typeface="Lekton" panose="02000000000000000000" pitchFamily="2" charset="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sz="2600" b="1" dirty="0">
                <a:latin typeface="Lekton" panose="02000000000000000000" pitchFamily="2" charset="0"/>
              </a:rPr>
              <a:t>2 initialize the </a:t>
            </a:r>
            <a:r>
              <a:rPr lang="en-US" sz="2600" b="1" dirty="0">
                <a:solidFill>
                  <a:srgbClr val="C00000"/>
                </a:solidFill>
                <a:latin typeface="Lekton" panose="02000000000000000000" pitchFamily="2" charset="0"/>
              </a:rPr>
              <a:t>penalty</a:t>
            </a:r>
            <a:r>
              <a:rPr lang="en-US" sz="2600" b="1" dirty="0">
                <a:latin typeface="Lekton" panose="02000000000000000000" pitchFamily="2" charset="0"/>
              </a:rPr>
              <a:t> vector </a:t>
            </a:r>
            <a:r>
              <a:rPr lang="el-GR" sz="2600" b="1" dirty="0">
                <a:solidFill>
                  <a:schemeClr val="accent2">
                    <a:lumMod val="75000"/>
                  </a:schemeClr>
                </a:solidFill>
                <a:latin typeface="Lekton" panose="02000000000000000000" pitchFamily="2" charset="0"/>
              </a:rPr>
              <a:t>λ</a:t>
            </a:r>
          </a:p>
          <a:p>
            <a:pPr>
              <a:spcBef>
                <a:spcPts val="600"/>
              </a:spcBef>
            </a:pPr>
            <a:r>
              <a:rPr lang="en-US" sz="2600" b="1" dirty="0">
                <a:latin typeface="Lekton" panose="02000000000000000000" pitchFamily="2" charset="0"/>
              </a:rPr>
              <a:t>3</a:t>
            </a:r>
            <a:r>
              <a:rPr lang="el-GR" sz="2600" b="1" dirty="0">
                <a:latin typeface="Lekton" panose="02000000000000000000" pitchFamily="2" charset="0"/>
              </a:rPr>
              <a:t> </a:t>
            </a:r>
            <a:r>
              <a:rPr lang="en-US" sz="2600" b="1" dirty="0">
                <a:solidFill>
                  <a:srgbClr val="002060"/>
                </a:solidFill>
                <a:latin typeface="Lekton" panose="02000000000000000000" pitchFamily="2" charset="0"/>
              </a:rPr>
              <a:t>repeat</a:t>
            </a:r>
          </a:p>
          <a:p>
            <a:pPr>
              <a:spcBef>
                <a:spcPts val="600"/>
              </a:spcBef>
            </a:pPr>
            <a:r>
              <a:rPr lang="en-US" sz="2600" b="1" dirty="0">
                <a:latin typeface="Lekton" panose="02000000000000000000" pitchFamily="2" charset="0"/>
              </a:rPr>
              <a:t>4   </a:t>
            </a:r>
            <a:r>
              <a:rPr lang="en-US" sz="2600" b="1" dirty="0">
                <a:solidFill>
                  <a:srgbClr val="C00000"/>
                </a:solidFill>
                <a:latin typeface="Lekton" panose="02000000000000000000" pitchFamily="2" charset="0"/>
              </a:rPr>
              <a:t>solve subproblem </a:t>
            </a:r>
            <a:r>
              <a:rPr lang="en-US" sz="2600" b="1" dirty="0">
                <a:latin typeface="Lekton" panose="02000000000000000000" pitchFamily="2" charset="0"/>
              </a:rPr>
              <a:t>LR(</a:t>
            </a:r>
            <a:r>
              <a:rPr lang="el-GR" sz="2600" b="1" dirty="0">
                <a:latin typeface="Lekton" panose="02000000000000000000" pitchFamily="2" charset="0"/>
              </a:rPr>
              <a:t>λ)</a:t>
            </a:r>
            <a:r>
              <a:rPr lang="en-US" sz="2600" b="1" dirty="0">
                <a:latin typeface="Lekton" panose="02000000000000000000" pitchFamily="2" charset="0"/>
              </a:rPr>
              <a:t>,</a:t>
            </a:r>
            <a:r>
              <a:rPr lang="el-GR" sz="2600" b="1" dirty="0">
                <a:latin typeface="Lekton" panose="02000000000000000000" pitchFamily="2" charset="0"/>
              </a:rPr>
              <a:t> </a:t>
            </a:r>
            <a:r>
              <a:rPr lang="en-US" sz="2600" b="1" dirty="0">
                <a:latin typeface="Lekton" panose="02000000000000000000" pitchFamily="2" charset="0"/>
              </a:rPr>
              <a:t>get (infeasible) solution </a:t>
            </a: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Lekton" panose="02000000000000000000" pitchFamily="2" charset="0"/>
              </a:rPr>
              <a:t>x</a:t>
            </a:r>
          </a:p>
          <a:p>
            <a:pPr>
              <a:spcBef>
                <a:spcPts val="600"/>
              </a:spcBef>
            </a:pPr>
            <a:r>
              <a:rPr lang="en-US" sz="2600" b="1" dirty="0">
                <a:latin typeface="Lekton" panose="02000000000000000000" pitchFamily="2" charset="0"/>
              </a:rPr>
              <a:t>5   </a:t>
            </a:r>
            <a:r>
              <a:rPr lang="en-US" sz="2600" b="1" dirty="0">
                <a:solidFill>
                  <a:srgbClr val="C00000"/>
                </a:solidFill>
                <a:latin typeface="Lekton" panose="02000000000000000000" pitchFamily="2" charset="0"/>
              </a:rPr>
              <a:t>check</a:t>
            </a:r>
            <a:r>
              <a:rPr lang="en-US" sz="2600" b="1" dirty="0">
                <a:latin typeface="Lekton" panose="02000000000000000000" pitchFamily="2" charset="0"/>
              </a:rPr>
              <a:t> for unsatisfied constraints</a:t>
            </a:r>
          </a:p>
          <a:p>
            <a:pPr>
              <a:spcBef>
                <a:spcPts val="600"/>
              </a:spcBef>
            </a:pPr>
            <a:r>
              <a:rPr lang="en-US" sz="2600" b="1" dirty="0">
                <a:latin typeface="Lekton" panose="02000000000000000000" pitchFamily="2" charset="0"/>
              </a:rPr>
              <a:t>6</a:t>
            </a:r>
            <a:r>
              <a:rPr lang="el-GR" sz="2600" b="1" dirty="0">
                <a:latin typeface="Lekton" panose="02000000000000000000" pitchFamily="2" charset="0"/>
              </a:rPr>
              <a:t> </a:t>
            </a:r>
            <a:r>
              <a:rPr lang="en-US" sz="2600" b="1" dirty="0">
                <a:latin typeface="Lekton" panose="02000000000000000000" pitchFamily="2" charset="0"/>
              </a:rPr>
              <a:t>  construct problem </a:t>
            </a:r>
            <a:r>
              <a:rPr lang="en-US" sz="2600" b="1" dirty="0">
                <a:solidFill>
                  <a:srgbClr val="C00000"/>
                </a:solidFill>
                <a:latin typeface="Lekton" panose="02000000000000000000" pitchFamily="2" charset="0"/>
              </a:rPr>
              <a:t>solution</a:t>
            </a:r>
            <a:r>
              <a:rPr lang="en-US" sz="2600" b="1" dirty="0">
                <a:latin typeface="Lekton" panose="02000000000000000000" pitchFamily="2" charset="0"/>
              </a:rPr>
              <a:t> </a:t>
            </a:r>
            <a:r>
              <a:rPr lang="en-US" sz="2600" b="1" dirty="0" err="1">
                <a:solidFill>
                  <a:schemeClr val="accent2">
                    <a:lumMod val="75000"/>
                  </a:schemeClr>
                </a:solidFill>
                <a:latin typeface="Lekton" panose="02000000000000000000" pitchFamily="2" charset="0"/>
              </a:rPr>
              <a:t>x</a:t>
            </a:r>
            <a:r>
              <a:rPr lang="en-US" sz="2600" b="1" baseline="30000" dirty="0" err="1">
                <a:solidFill>
                  <a:schemeClr val="accent2">
                    <a:lumMod val="75000"/>
                  </a:schemeClr>
                </a:solidFill>
                <a:latin typeface="Lekton" panose="02000000000000000000" pitchFamily="2" charset="0"/>
              </a:rPr>
              <a:t>h</a:t>
            </a:r>
            <a:r>
              <a:rPr lang="en-US" sz="2600" b="1" dirty="0">
                <a:latin typeface="Lekton" panose="02000000000000000000" pitchFamily="2" charset="0"/>
              </a:rPr>
              <a:t> using </a:t>
            </a: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Lekton" panose="02000000000000000000" pitchFamily="2" charset="0"/>
              </a:rPr>
              <a:t>x</a:t>
            </a:r>
            <a:r>
              <a:rPr lang="en-US" sz="2600" b="1" dirty="0">
                <a:latin typeface="Lekton" panose="02000000000000000000" pitchFamily="2" charset="0"/>
              </a:rPr>
              <a:t> and </a:t>
            </a:r>
            <a:r>
              <a:rPr lang="el-GR" sz="2600" b="1" dirty="0">
                <a:solidFill>
                  <a:schemeClr val="accent2">
                    <a:lumMod val="75000"/>
                  </a:schemeClr>
                </a:solidFill>
                <a:latin typeface="Lekton" panose="02000000000000000000" pitchFamily="2" charset="0"/>
              </a:rPr>
              <a:t>λ</a:t>
            </a:r>
          </a:p>
          <a:p>
            <a:pPr>
              <a:spcBef>
                <a:spcPts val="600"/>
              </a:spcBef>
            </a:pPr>
            <a:r>
              <a:rPr lang="en-US" sz="2600" b="1" dirty="0">
                <a:latin typeface="Lekton" panose="02000000000000000000" pitchFamily="2" charset="0"/>
              </a:rPr>
              <a:t>7</a:t>
            </a:r>
            <a:r>
              <a:rPr lang="el-GR" sz="2600" b="1" dirty="0">
                <a:latin typeface="Lekton" panose="02000000000000000000" pitchFamily="2" charset="0"/>
              </a:rPr>
              <a:t> </a:t>
            </a:r>
            <a:r>
              <a:rPr lang="en-US" sz="2600" b="1" dirty="0">
                <a:latin typeface="Lekton" panose="02000000000000000000" pitchFamily="2" charset="0"/>
              </a:rPr>
              <a:t>  </a:t>
            </a:r>
            <a:r>
              <a:rPr lang="en-US" sz="2600" b="1" dirty="0">
                <a:solidFill>
                  <a:srgbClr val="002060"/>
                </a:solidFill>
                <a:latin typeface="Lekton" panose="02000000000000000000" pitchFamily="2" charset="0"/>
              </a:rPr>
              <a:t>if</a:t>
            </a:r>
            <a:r>
              <a:rPr lang="en-US" sz="2600" b="1" dirty="0">
                <a:latin typeface="Lekton" panose="02000000000000000000" pitchFamily="2" charset="0"/>
              </a:rPr>
              <a:t> z(</a:t>
            </a:r>
            <a:r>
              <a:rPr lang="en-US" sz="2600" b="1" dirty="0" err="1">
                <a:solidFill>
                  <a:schemeClr val="accent2">
                    <a:lumMod val="75000"/>
                  </a:schemeClr>
                </a:solidFill>
                <a:latin typeface="Lekton" panose="02000000000000000000" pitchFamily="2" charset="0"/>
              </a:rPr>
              <a:t>x</a:t>
            </a:r>
            <a:r>
              <a:rPr lang="en-US" sz="2600" b="1" baseline="30000" dirty="0" err="1">
                <a:solidFill>
                  <a:schemeClr val="accent2">
                    <a:lumMod val="75000"/>
                  </a:schemeClr>
                </a:solidFill>
                <a:latin typeface="Lekton" panose="02000000000000000000" pitchFamily="2" charset="0"/>
              </a:rPr>
              <a:t>h</a:t>
            </a:r>
            <a:r>
              <a:rPr lang="en-US" sz="2600" b="1" dirty="0">
                <a:latin typeface="Lekton" panose="02000000000000000000" pitchFamily="2" charset="0"/>
              </a:rPr>
              <a:t>)&lt;z∗ </a:t>
            </a:r>
            <a:r>
              <a:rPr lang="en-US" sz="2600" b="1" dirty="0">
                <a:solidFill>
                  <a:srgbClr val="002060"/>
                </a:solidFill>
                <a:latin typeface="Lekton" panose="02000000000000000000" pitchFamily="2" charset="0"/>
              </a:rPr>
              <a:t>then</a:t>
            </a:r>
            <a:r>
              <a:rPr lang="en-US" sz="2600" b="1" dirty="0">
                <a:latin typeface="Lekton" panose="02000000000000000000" pitchFamily="2" charset="0"/>
              </a:rPr>
              <a:t> </a:t>
            </a: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Lekton" panose="02000000000000000000" pitchFamily="2" charset="0"/>
              </a:rPr>
              <a:t>x∗</a:t>
            </a:r>
            <a:r>
              <a:rPr lang="en-US" sz="2600" b="1" dirty="0">
                <a:latin typeface="Lekton" panose="02000000000000000000" pitchFamily="2" charset="0"/>
              </a:rPr>
              <a:t>=</a:t>
            </a:r>
            <a:r>
              <a:rPr lang="en-US" sz="2600" b="1" dirty="0" err="1">
                <a:solidFill>
                  <a:schemeClr val="accent2">
                    <a:lumMod val="75000"/>
                  </a:schemeClr>
                </a:solidFill>
                <a:latin typeface="Lekton" panose="02000000000000000000" pitchFamily="2" charset="0"/>
              </a:rPr>
              <a:t>x</a:t>
            </a:r>
            <a:r>
              <a:rPr lang="en-US" sz="2600" b="1" baseline="30000" dirty="0" err="1">
                <a:solidFill>
                  <a:schemeClr val="accent2">
                    <a:lumMod val="75000"/>
                  </a:schemeClr>
                </a:solidFill>
                <a:latin typeface="Lekton" panose="02000000000000000000" pitchFamily="2" charset="0"/>
              </a:rPr>
              <a:t>h</a:t>
            </a:r>
            <a:r>
              <a:rPr lang="en-US" sz="2600" b="1" dirty="0">
                <a:latin typeface="Lekton" panose="02000000000000000000" pitchFamily="2" charset="0"/>
              </a:rPr>
              <a:t>  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Lekton" panose="02000000000000000000" pitchFamily="2" charset="0"/>
              </a:rPr>
              <a:t>// z(</a:t>
            </a:r>
            <a:r>
              <a:rPr lang="en-US" sz="2600" b="1" dirty="0" err="1">
                <a:solidFill>
                  <a:schemeClr val="accent4">
                    <a:lumMod val="75000"/>
                  </a:schemeClr>
                </a:solidFill>
                <a:latin typeface="Lekton" panose="02000000000000000000" pitchFamily="2" charset="0"/>
              </a:rPr>
              <a:t>x</a:t>
            </a:r>
            <a:r>
              <a:rPr lang="en-US" sz="2600" b="1" baseline="30000" dirty="0" err="1">
                <a:solidFill>
                  <a:schemeClr val="accent4">
                    <a:lumMod val="75000"/>
                  </a:schemeClr>
                </a:solidFill>
                <a:latin typeface="Lekton" panose="02000000000000000000" pitchFamily="2" charset="0"/>
              </a:rPr>
              <a:t>h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Lekton" panose="02000000000000000000" pitchFamily="2" charset="0"/>
              </a:rPr>
              <a:t>),z∗ the costs of </a:t>
            </a:r>
            <a:r>
              <a:rPr lang="en-US" sz="2600" b="1" dirty="0" err="1">
                <a:solidFill>
                  <a:schemeClr val="accent4">
                    <a:lumMod val="75000"/>
                  </a:schemeClr>
                </a:solidFill>
                <a:latin typeface="Lekton" panose="02000000000000000000" pitchFamily="2" charset="0"/>
              </a:rPr>
              <a:t>x</a:t>
            </a:r>
            <a:r>
              <a:rPr lang="en-US" sz="2600" b="1" baseline="30000" dirty="0" err="1">
                <a:solidFill>
                  <a:schemeClr val="accent4">
                    <a:lumMod val="75000"/>
                  </a:schemeClr>
                </a:solidFill>
                <a:latin typeface="Lekton" panose="02000000000000000000" pitchFamily="2" charset="0"/>
              </a:rPr>
              <a:t>h</a:t>
            </a:r>
            <a:r>
              <a:rPr lang="en-US" sz="2600" b="1" dirty="0" err="1">
                <a:solidFill>
                  <a:schemeClr val="accent4">
                    <a:lumMod val="75000"/>
                  </a:schemeClr>
                </a:solidFill>
                <a:latin typeface="Lekton" panose="02000000000000000000" pitchFamily="2" charset="0"/>
              </a:rPr>
              <a:t>,x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Lekton" panose="02000000000000000000" pitchFamily="2" charset="0"/>
              </a:rPr>
              <a:t>∗</a:t>
            </a:r>
          </a:p>
          <a:p>
            <a:pPr>
              <a:spcBef>
                <a:spcPts val="600"/>
              </a:spcBef>
            </a:pPr>
            <a:r>
              <a:rPr lang="en-US" sz="2600" b="1" dirty="0">
                <a:latin typeface="Lekton" panose="02000000000000000000" pitchFamily="2" charset="0"/>
              </a:rPr>
              <a:t>8   </a:t>
            </a:r>
            <a:r>
              <a:rPr lang="en-US" sz="2600" b="1" dirty="0">
                <a:solidFill>
                  <a:srgbClr val="C00000"/>
                </a:solidFill>
                <a:latin typeface="Lekton" panose="02000000000000000000" pitchFamily="2" charset="0"/>
              </a:rPr>
              <a:t>update penalties </a:t>
            </a:r>
            <a:r>
              <a:rPr lang="el-GR" sz="2600" b="1" dirty="0">
                <a:solidFill>
                  <a:schemeClr val="accent2">
                    <a:lumMod val="75000"/>
                  </a:schemeClr>
                </a:solidFill>
                <a:latin typeface="Lekton" panose="02000000000000000000" pitchFamily="2" charset="0"/>
              </a:rPr>
              <a:t>λ</a:t>
            </a:r>
          </a:p>
          <a:p>
            <a:pPr>
              <a:spcBef>
                <a:spcPts val="600"/>
              </a:spcBef>
            </a:pPr>
            <a:r>
              <a:rPr lang="en-US" sz="2600" b="1" dirty="0">
                <a:latin typeface="Lekton" panose="02000000000000000000" pitchFamily="2" charset="0"/>
              </a:rPr>
              <a:t>9 </a:t>
            </a:r>
            <a:r>
              <a:rPr lang="en-US" sz="2600" b="1" dirty="0">
                <a:solidFill>
                  <a:srgbClr val="002060"/>
                </a:solidFill>
                <a:latin typeface="Lekton" panose="02000000000000000000" pitchFamily="2" charset="0"/>
              </a:rPr>
              <a:t>until</a:t>
            </a:r>
            <a:r>
              <a:rPr lang="en-US" sz="2600" b="1" dirty="0">
                <a:latin typeface="Lekton" panose="02000000000000000000" pitchFamily="2" charset="0"/>
              </a:rPr>
              <a:t> </a:t>
            </a:r>
            <a:r>
              <a:rPr lang="en-US" sz="2600" b="1" dirty="0" err="1">
                <a:latin typeface="Lekton" panose="02000000000000000000" pitchFamily="2" charset="0"/>
              </a:rPr>
              <a:t>end_condition</a:t>
            </a:r>
            <a:endParaRPr lang="en-US" sz="2600" b="1" dirty="0">
              <a:latin typeface="Lekton" panose="02000000000000000000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4EC54A-D9D5-55A0-9CEC-9A08C2E2B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Lagrangian</a:t>
            </a:r>
            <a:r>
              <a:rPr lang="en-US" dirty="0"/>
              <a:t>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6FEA91-7EA0-13AA-804E-441BABCAEA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86FF9-DC2C-51C1-3A95-650062E88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4152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5E3A18-B239-5975-1FC9-E9DF82354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293" y="1526958"/>
            <a:ext cx="8285789" cy="490634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rgbClr val="C00000"/>
                </a:solidFill>
              </a:rPr>
              <a:t>Subgradient</a:t>
            </a:r>
            <a:r>
              <a:rPr lang="en-US" sz="2600" dirty="0"/>
              <a:t> algorithm for penalty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rgbClr val="C00000"/>
                </a:solidFill>
              </a:rPr>
              <a:t>Polyak</a:t>
            </a:r>
            <a:r>
              <a:rPr lang="en-US" sz="2600" dirty="0">
                <a:solidFill>
                  <a:srgbClr val="C00000"/>
                </a:solidFill>
              </a:rPr>
              <a:t> rule </a:t>
            </a:r>
            <a:r>
              <a:rPr lang="en-US" sz="2600" dirty="0"/>
              <a:t>for alpha decrease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C00000"/>
                </a:solidFill>
              </a:rPr>
              <a:t>Restart</a:t>
            </a:r>
            <a:r>
              <a:rPr lang="en-US" sz="2600" dirty="0"/>
              <a:t> when </a:t>
            </a:r>
            <a:r>
              <a:rPr lang="en-US" sz="2600" dirty="0">
                <a:sym typeface="Symbol" panose="05050102010706020507" pitchFamily="18" charset="2"/>
              </a:rPr>
              <a:t> &lt; </a:t>
            </a:r>
            <a:r>
              <a:rPr lang="en-US" sz="2600" baseline="-25000" dirty="0">
                <a:sym typeface="Symbol" panose="05050102010706020507" pitchFamily="18" charset="2"/>
              </a:rPr>
              <a:t>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C00000"/>
                </a:solidFill>
              </a:rPr>
              <a:t>Fixing heuristic</a:t>
            </a:r>
            <a:r>
              <a:rPr lang="en-US" sz="2600" dirty="0"/>
              <a:t>: take the incumbent subproblem solution at each iteration, possibly infeasible because it does not satisfy all relaxed constraints, and add variables in order of increasing cost until it becomes feasible.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B47932-EB0D-FC78-A369-4785ED419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LagrHeuristic</a:t>
            </a:r>
            <a:r>
              <a:rPr lang="en-US" dirty="0"/>
              <a:t> details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52CEB9-3063-E5D8-B235-8156F43E81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621B36-5FA6-9F3F-F7C1-BD927C8889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1092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007D1F-70A4-9EEE-821A-1228FBEE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functions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D25D0A-E54A-A8DC-16EC-401B83745B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5F85E0-4461-848E-30C0-945822161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10</a:t>
            </a:fld>
            <a:endParaRPr lang="it-IT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9F25CB-0DBE-4941-468A-C654E6D3D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12" y="1517989"/>
            <a:ext cx="2778996" cy="22146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51CD8F1-94E2-836E-53D1-614CD07F7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398" y="1517989"/>
            <a:ext cx="2854060" cy="2274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4867872-8883-518B-F0EA-9422327D2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612" y="4311657"/>
            <a:ext cx="2778996" cy="221467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90764DD-C71E-A431-4670-06533D71D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4399" y="4306084"/>
            <a:ext cx="2854060" cy="2274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CFCFF87-8AEE-43EC-DADE-5B27BE8319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9006" y="1517989"/>
            <a:ext cx="2785989" cy="222025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64ED992-E98C-15E4-BCE2-ECD769B7F0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9006" y="4306084"/>
            <a:ext cx="2785989" cy="22202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6F3E3E5-768F-FDC3-8791-C5B9DD841F16}"/>
                  </a:ext>
                </a:extLst>
              </p:cNvPr>
              <p:cNvSpPr txBox="1"/>
              <p:nvPr/>
            </p:nvSpPr>
            <p:spPr>
              <a:xfrm>
                <a:off x="555782" y="969123"/>
                <a:ext cx="2111524" cy="604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 anchorCtr="0"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=∑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den>
                      </m:f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6F3E3E5-768F-FDC3-8791-C5B9DD841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782" y="969123"/>
                <a:ext cx="2111524" cy="60403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DF2A517-0D8E-91A4-5530-37C898567F50}"/>
                  </a:ext>
                </a:extLst>
              </p:cNvPr>
              <p:cNvSpPr txBox="1"/>
              <p:nvPr/>
            </p:nvSpPr>
            <p:spPr>
              <a:xfrm>
                <a:off x="3554629" y="969123"/>
                <a:ext cx="2111524" cy="604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 anchorCtr="0"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=∑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DF2A517-0D8E-91A4-5530-37C898567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629" y="969123"/>
                <a:ext cx="2111524" cy="60403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4B8B227-F428-4FE7-E99B-C51F22D8325F}"/>
                  </a:ext>
                </a:extLst>
              </p:cNvPr>
              <p:cNvSpPr txBox="1"/>
              <p:nvPr/>
            </p:nvSpPr>
            <p:spPr>
              <a:xfrm>
                <a:off x="6507401" y="969119"/>
                <a:ext cx="2111524" cy="604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 anchorCtr="0"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𝑄𝑅𝑀𝑆𝐸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=∑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4B8B227-F428-4FE7-E99B-C51F22D83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401" y="969119"/>
                <a:ext cx="2111524" cy="60403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FB5ED2B-FD68-BC1F-A935-6B0B30F8F6DD}"/>
                  </a:ext>
                </a:extLst>
              </p:cNvPr>
              <p:cNvSpPr txBox="1"/>
              <p:nvPr/>
            </p:nvSpPr>
            <p:spPr>
              <a:xfrm>
                <a:off x="6507395" y="3779002"/>
                <a:ext cx="2111524" cy="604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 anchorCtr="0"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=∑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FB5ED2B-FD68-BC1F-A935-6B0B30F8F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395" y="3779002"/>
                <a:ext cx="2111524" cy="60403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301F450-FA65-439F-309D-34C2C51A0F01}"/>
                  </a:ext>
                </a:extLst>
              </p:cNvPr>
              <p:cNvSpPr txBox="1"/>
              <p:nvPr/>
            </p:nvSpPr>
            <p:spPr>
              <a:xfrm>
                <a:off x="555782" y="3786916"/>
                <a:ext cx="2111524" cy="604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 anchorCtr="0"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301F450-FA65-439F-309D-34C2C51A0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782" y="3786916"/>
                <a:ext cx="2111524" cy="60403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B12951-FE07-622B-E01B-A08E25847C51}"/>
                  </a:ext>
                </a:extLst>
              </p:cNvPr>
              <p:cNvSpPr txBox="1"/>
              <p:nvPr/>
            </p:nvSpPr>
            <p:spPr>
              <a:xfrm>
                <a:off x="3554629" y="3786916"/>
                <a:ext cx="2111524" cy="604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 anchorCtr="0">
                <a:normAutofit fontScale="4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𝑆𝐸𝑅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B12951-FE07-622B-E01B-A08E25847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629" y="3786916"/>
                <a:ext cx="2111524" cy="60403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7501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7276B0-CD78-3DBA-4C98-46F8DFFF3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07" y="1067380"/>
            <a:ext cx="8546175" cy="5259392"/>
          </a:xfrm>
        </p:spPr>
        <p:txBody>
          <a:bodyPr>
            <a:normAutofit/>
          </a:bodyPr>
          <a:lstStyle/>
          <a:p>
            <a:r>
              <a:rPr lang="en-US" sz="2400" dirty="0"/>
              <a:t>The series were produced in the context of the SMARTLAGOON project, an </a:t>
            </a:r>
            <a:r>
              <a:rPr lang="en-US" sz="2400" dirty="0">
                <a:solidFill>
                  <a:srgbClr val="C00000"/>
                </a:solidFill>
              </a:rPr>
              <a:t>EU H2020 project</a:t>
            </a:r>
            <a:r>
              <a:rPr lang="en-US" sz="2400" dirty="0"/>
              <a:t>, whose objective is real-time monitoring, analysis, and </a:t>
            </a:r>
            <a:r>
              <a:rPr lang="en-US" sz="2400" dirty="0">
                <a:solidFill>
                  <a:srgbClr val="C00000"/>
                </a:solidFill>
              </a:rPr>
              <a:t>prediction</a:t>
            </a:r>
            <a:r>
              <a:rPr lang="en-US" sz="2400" dirty="0"/>
              <a:t> of the socio-environmental evolution of the vulnerable area Mar Menor, which is the </a:t>
            </a:r>
            <a:r>
              <a:rPr lang="en-US" sz="2400" dirty="0">
                <a:solidFill>
                  <a:srgbClr val="C00000"/>
                </a:solidFill>
              </a:rPr>
              <a:t>largest saltwater coastal lagoon </a:t>
            </a:r>
            <a:r>
              <a:rPr lang="en-US" sz="2400" dirty="0"/>
              <a:t>in Europe.  </a:t>
            </a:r>
          </a:p>
          <a:p>
            <a:r>
              <a:rPr lang="en-US" sz="2400" dirty="0"/>
              <a:t>Within the framework 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of the project, </a:t>
            </a:r>
            <a:r>
              <a:rPr lang="en-US" sz="2400" dirty="0">
                <a:solidFill>
                  <a:srgbClr val="C00000"/>
                </a:solidFill>
              </a:rPr>
              <a:t>smart </a:t>
            </a:r>
          </a:p>
          <a:p>
            <a:pPr>
              <a:spcBef>
                <a:spcPts val="0"/>
              </a:spcBef>
            </a:pPr>
            <a:r>
              <a:rPr lang="en-US" sz="2400" dirty="0">
                <a:solidFill>
                  <a:srgbClr val="C00000"/>
                </a:solidFill>
              </a:rPr>
              <a:t>buoys</a:t>
            </a:r>
            <a:r>
              <a:rPr lang="en-US" sz="2400" dirty="0"/>
              <a:t> were deployed in 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the lagoon and their 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sensors generated series 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on 12 attributes.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0C0E9B-D36C-B632-F30F-598450341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real world application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616244-7742-369F-A035-EC28D4661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ACFC7C-1091-640A-BA9E-F91A0B486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11</a:t>
            </a:fld>
            <a:endParaRPr lang="it-IT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0522FB-C635-3FEA-7AD0-BF1FB8906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196" y="3393664"/>
            <a:ext cx="5166803" cy="346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440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BF42E2-88E9-CF37-0415-596CF6751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07" y="1037285"/>
            <a:ext cx="8546175" cy="5551606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sz="2600" dirty="0"/>
              <a:t>A set of </a:t>
            </a:r>
            <a:r>
              <a:rPr lang="en-US" sz="2600" dirty="0">
                <a:solidFill>
                  <a:srgbClr val="C00000"/>
                </a:solidFill>
              </a:rPr>
              <a:t>IoT series </a:t>
            </a:r>
            <a:r>
              <a:rPr lang="en-US" sz="2600" dirty="0"/>
              <a:t>on different physical variables August 2022 to April 2023 at different sampling frequency (daily or every 60 mins).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2600" dirty="0"/>
              <a:t>Three other benchmark sets from the </a:t>
            </a:r>
            <a:r>
              <a:rPr lang="en-US" sz="2600" dirty="0">
                <a:solidFill>
                  <a:srgbClr val="C00000"/>
                </a:solidFill>
              </a:rPr>
              <a:t>M competitions</a:t>
            </a:r>
            <a:r>
              <a:rPr lang="en-US" sz="2600" i="1" baseline="30000" dirty="0">
                <a:solidFill>
                  <a:srgbClr val="C00000"/>
                </a:solidFill>
              </a:rPr>
              <a:t>1</a:t>
            </a:r>
            <a:r>
              <a:rPr lang="en-US" sz="2600" dirty="0">
                <a:solidFill>
                  <a:srgbClr val="C00000"/>
                </a:solidFill>
              </a:rPr>
              <a:t> </a:t>
            </a:r>
            <a:r>
              <a:rPr lang="en-US" sz="2600" dirty="0"/>
              <a:t>on time series forecasting: 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M3 (micro, industry, macro, finance, demographic, other)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M4 (micro, industry, macro, finance, demographic, other)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M6 (daily adjusted close prices of the M6 assets)</a:t>
            </a:r>
          </a:p>
          <a:p>
            <a:pPr>
              <a:lnSpc>
                <a:spcPct val="120000"/>
              </a:lnSpc>
            </a:pPr>
            <a:r>
              <a:rPr lang="en-US" sz="2600" dirty="0">
                <a:solidFill>
                  <a:srgbClr val="C00000"/>
                </a:solidFill>
              </a:rPr>
              <a:t>Comparison</a:t>
            </a:r>
            <a:r>
              <a:rPr lang="en-US" sz="2600" dirty="0"/>
              <a:t> against codes in </a:t>
            </a:r>
            <a:r>
              <a:rPr lang="en-US" sz="2600" b="1" i="1" dirty="0"/>
              <a:t>ruptures</a:t>
            </a:r>
            <a:r>
              <a:rPr lang="en-US" sz="2600" b="1" i="1" baseline="30000" dirty="0"/>
              <a:t>2</a:t>
            </a:r>
            <a:r>
              <a:rPr lang="en-US" sz="2600" i="1" baseline="30000" dirty="0"/>
              <a:t> </a:t>
            </a:r>
            <a:r>
              <a:rPr lang="en-US" sz="2600" dirty="0"/>
              <a:t>(Truong et al., 2020): </a:t>
            </a:r>
            <a:r>
              <a:rPr lang="en-US" sz="2600" b="1" i="1" dirty="0"/>
              <a:t>DYNP</a:t>
            </a:r>
            <a:r>
              <a:rPr lang="en-US" sz="2600" dirty="0"/>
              <a:t> (needs the number of breaks in input), </a:t>
            </a:r>
            <a:r>
              <a:rPr lang="en-US" sz="2600" b="1" i="1" dirty="0"/>
              <a:t>PELT</a:t>
            </a:r>
            <a:r>
              <a:rPr lang="en-US" sz="2600" dirty="0"/>
              <a:t> (</a:t>
            </a:r>
            <a:r>
              <a:rPr lang="en-US" sz="2600" i="1" dirty="0"/>
              <a:t>Killick et al., 2012</a:t>
            </a:r>
            <a:r>
              <a:rPr lang="en-US" sz="2600" dirty="0"/>
              <a:t>), </a:t>
            </a:r>
            <a:r>
              <a:rPr lang="en-US" sz="2600" b="1" i="1" dirty="0"/>
              <a:t>BINSEG</a:t>
            </a:r>
            <a:r>
              <a:rPr lang="en-US" sz="2600" dirty="0"/>
              <a:t> (</a:t>
            </a:r>
            <a:r>
              <a:rPr lang="en-US" sz="2600" i="1" dirty="0"/>
              <a:t>Keogh, 2001</a:t>
            </a:r>
            <a:r>
              <a:rPr lang="en-US" sz="2600" dirty="0"/>
              <a:t>)</a:t>
            </a:r>
            <a:r>
              <a:rPr lang="da-DK" sz="2600" dirty="0"/>
              <a:t>. 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2600" dirty="0">
                <a:solidFill>
                  <a:srgbClr val="C00000"/>
                </a:solidFill>
              </a:rPr>
              <a:t>Results</a:t>
            </a:r>
            <a:r>
              <a:rPr lang="en-US" sz="2600" dirty="0"/>
              <a:t> are percentage over (below for LB) the best solution we found over the many runs we made.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2600" dirty="0">
                <a:solidFill>
                  <a:srgbClr val="C00000"/>
                </a:solidFill>
              </a:rPr>
              <a:t>Code</a:t>
            </a:r>
            <a:r>
              <a:rPr lang="en-US" sz="2600" dirty="0"/>
              <a:t> in C++, solver CPLEX 22.11, platform desktop Windows 11 using a single core. </a:t>
            </a:r>
            <a:r>
              <a:rPr lang="en-US" sz="2600" dirty="0" err="1"/>
              <a:t>Lagrangian</a:t>
            </a:r>
            <a:r>
              <a:rPr lang="en-US" sz="2600" dirty="0"/>
              <a:t> run for 180 seconds.</a:t>
            </a:r>
          </a:p>
          <a:p>
            <a:pPr>
              <a:lnSpc>
                <a:spcPct val="120000"/>
              </a:lnSpc>
            </a:pPr>
            <a:r>
              <a:rPr lang="en-US" sz="2200" i="1" baseline="30000" dirty="0"/>
              <a:t>1</a:t>
            </a:r>
            <a:r>
              <a:rPr lang="en-US" sz="1600" dirty="0"/>
              <a:t> https://en.wikipedia.org/wiki/Makridakis_Competitions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i="1" baseline="30000" dirty="0"/>
              <a:t>2</a:t>
            </a:r>
            <a:r>
              <a:rPr lang="en-US" sz="1600" dirty="0"/>
              <a:t> https://centre-borelli.github.io/ruptures-docs/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076A18-B4A4-A350-FFBF-1B9602B78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Testsets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AD1E5F-152B-B376-E87E-EDB6374A1A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0E8CF-948D-D45B-4090-98FC2F2300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79786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7C9162-6126-3FFD-9A40-74294955D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Results</a:t>
            </a:r>
            <a:r>
              <a:rPr lang="it-IT" dirty="0"/>
              <a:t>, IoT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84BED6-FE81-DA2B-6A14-D63934108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BC033-2596-EF75-426C-D313E5D35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13</a:t>
            </a:fld>
            <a:endParaRPr lang="it-IT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07702249-5F8D-32F5-98B1-4A0E7CF144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8535825"/>
              </p:ext>
            </p:extLst>
          </p:nvPr>
        </p:nvGraphicFramePr>
        <p:xfrm>
          <a:off x="278766" y="1305107"/>
          <a:ext cx="8697069" cy="49304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9680">
                  <a:extLst>
                    <a:ext uri="{9D8B030D-6E8A-4147-A177-3AD203B41FA5}">
                      <a16:colId xmlns:a16="http://schemas.microsoft.com/office/drawing/2014/main" val="773781325"/>
                    </a:ext>
                  </a:extLst>
                </a:gridCol>
                <a:gridCol w="713606">
                  <a:extLst>
                    <a:ext uri="{9D8B030D-6E8A-4147-A177-3AD203B41FA5}">
                      <a16:colId xmlns:a16="http://schemas.microsoft.com/office/drawing/2014/main" val="4178588157"/>
                    </a:ext>
                  </a:extLst>
                </a:gridCol>
                <a:gridCol w="386536">
                  <a:extLst>
                    <a:ext uri="{9D8B030D-6E8A-4147-A177-3AD203B41FA5}">
                      <a16:colId xmlns:a16="http://schemas.microsoft.com/office/drawing/2014/main" val="1990140612"/>
                    </a:ext>
                  </a:extLst>
                </a:gridCol>
                <a:gridCol w="713606">
                  <a:extLst>
                    <a:ext uri="{9D8B030D-6E8A-4147-A177-3AD203B41FA5}">
                      <a16:colId xmlns:a16="http://schemas.microsoft.com/office/drawing/2014/main" val="3353787883"/>
                    </a:ext>
                  </a:extLst>
                </a:gridCol>
                <a:gridCol w="713606">
                  <a:extLst>
                    <a:ext uri="{9D8B030D-6E8A-4147-A177-3AD203B41FA5}">
                      <a16:colId xmlns:a16="http://schemas.microsoft.com/office/drawing/2014/main" val="1540741562"/>
                    </a:ext>
                  </a:extLst>
                </a:gridCol>
                <a:gridCol w="623759">
                  <a:extLst>
                    <a:ext uri="{9D8B030D-6E8A-4147-A177-3AD203B41FA5}">
                      <a16:colId xmlns:a16="http://schemas.microsoft.com/office/drawing/2014/main" val="2991645405"/>
                    </a:ext>
                  </a:extLst>
                </a:gridCol>
                <a:gridCol w="952120">
                  <a:extLst>
                    <a:ext uri="{9D8B030D-6E8A-4147-A177-3AD203B41FA5}">
                      <a16:colId xmlns:a16="http://schemas.microsoft.com/office/drawing/2014/main" val="2617429"/>
                    </a:ext>
                  </a:extLst>
                </a:gridCol>
                <a:gridCol w="386536">
                  <a:extLst>
                    <a:ext uri="{9D8B030D-6E8A-4147-A177-3AD203B41FA5}">
                      <a16:colId xmlns:a16="http://schemas.microsoft.com/office/drawing/2014/main" val="3685076492"/>
                    </a:ext>
                  </a:extLst>
                </a:gridCol>
                <a:gridCol w="728472">
                  <a:extLst>
                    <a:ext uri="{9D8B030D-6E8A-4147-A177-3AD203B41FA5}">
                      <a16:colId xmlns:a16="http://schemas.microsoft.com/office/drawing/2014/main" val="1362805138"/>
                    </a:ext>
                  </a:extLst>
                </a:gridCol>
                <a:gridCol w="579805">
                  <a:extLst>
                    <a:ext uri="{9D8B030D-6E8A-4147-A177-3AD203B41FA5}">
                      <a16:colId xmlns:a16="http://schemas.microsoft.com/office/drawing/2014/main" val="514230294"/>
                    </a:ext>
                  </a:extLst>
                </a:gridCol>
                <a:gridCol w="728472">
                  <a:extLst>
                    <a:ext uri="{9D8B030D-6E8A-4147-A177-3AD203B41FA5}">
                      <a16:colId xmlns:a16="http://schemas.microsoft.com/office/drawing/2014/main" val="3697391703"/>
                    </a:ext>
                  </a:extLst>
                </a:gridCol>
                <a:gridCol w="460871">
                  <a:extLst>
                    <a:ext uri="{9D8B030D-6E8A-4147-A177-3AD203B41FA5}">
                      <a16:colId xmlns:a16="http://schemas.microsoft.com/office/drawing/2014/main" val="313762501"/>
                    </a:ext>
                  </a:extLst>
                </a:gridCol>
              </a:tblGrid>
              <a:tr h="408079"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u="none" strike="noStrike" dirty="0">
                          <a:effectLst/>
                        </a:rPr>
                        <a:t>MIP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b"/>
                </a:tc>
                <a:tc gridSpan="3"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u="none" strike="noStrike" dirty="0" err="1">
                          <a:effectLst/>
                        </a:rPr>
                        <a:t>Lagrangian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b"/>
                </a:tc>
                <a:tc gridSpan="2"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u="none" strike="noStrike" dirty="0">
                          <a:effectLst/>
                        </a:rPr>
                        <a:t>PELT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b"/>
                </a:tc>
                <a:tc gridSpan="2"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u="none" strike="noStrike" dirty="0">
                          <a:effectLst/>
                        </a:rPr>
                        <a:t>BINSEG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b"/>
                </a:tc>
                <a:tc gridSpan="2"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u="none" strike="noStrike" dirty="0">
                          <a:effectLst/>
                        </a:rPr>
                        <a:t>DYNP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53655628"/>
                  </a:ext>
                </a:extLst>
              </a:tr>
              <a:tr h="373641">
                <a:tc>
                  <a:txBody>
                    <a:bodyPr/>
                    <a:lstStyle/>
                    <a:p>
                      <a:pPr algn="l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i="1" u="none" strike="noStrike" dirty="0">
                          <a:effectLst/>
                        </a:rPr>
                        <a:t>cost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i="1" u="none" strike="noStrike" dirty="0" err="1">
                          <a:effectLst/>
                        </a:rPr>
                        <a:t>tcpu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i="1" u="none" strike="noStrike" dirty="0" err="1">
                          <a:effectLst/>
                        </a:rPr>
                        <a:t>zlb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i="1" u="none" strike="noStrike" dirty="0" err="1">
                          <a:effectLst/>
                        </a:rPr>
                        <a:t>zub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i="1" u="none" strike="noStrike" dirty="0" err="1">
                          <a:effectLst/>
                        </a:rPr>
                        <a:t>t.zub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i="1" u="none" strike="noStrike" dirty="0">
                          <a:effectLst/>
                        </a:rPr>
                        <a:t>cost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i="1" u="none" strike="noStrike" dirty="0" err="1">
                          <a:effectLst/>
                        </a:rPr>
                        <a:t>tcpu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i="1" u="none" strike="noStrike" dirty="0">
                          <a:effectLst/>
                        </a:rPr>
                        <a:t>cost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i="1" u="none" strike="noStrike" dirty="0" err="1">
                          <a:effectLst/>
                        </a:rPr>
                        <a:t>tcpu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i="1" u="none" strike="noStrike" dirty="0">
                          <a:effectLst/>
                        </a:rPr>
                        <a:t>cost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i="1" u="none" strike="noStrike" dirty="0" err="1">
                          <a:effectLst/>
                        </a:rPr>
                        <a:t>tcpu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145669"/>
                  </a:ext>
                </a:extLst>
              </a:tr>
              <a:tr h="373641">
                <a:tc>
                  <a:txBody>
                    <a:bodyPr/>
                    <a:lstStyle/>
                    <a:p>
                      <a:pPr algn="l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i="1" u="none" strike="noStrike" dirty="0" err="1">
                          <a:effectLst/>
                        </a:rPr>
                        <a:t>IBatt_Min</a:t>
                      </a:r>
                      <a:r>
                        <a:rPr lang="en-US" sz="1600" i="1" u="none" strike="noStrike" dirty="0">
                          <a:effectLst/>
                        </a:rPr>
                        <a:t> 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u="sng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-12.29%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>
                          <a:effectLst/>
                        </a:rPr>
                        <a:t>21.27%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155.08%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113.72%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101.31%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3423821"/>
                  </a:ext>
                </a:extLst>
              </a:tr>
              <a:tr h="373641">
                <a:tc>
                  <a:txBody>
                    <a:bodyPr/>
                    <a:lstStyle/>
                    <a:p>
                      <a:pPr algn="l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i="1" u="none" strike="noStrike" dirty="0" err="1">
                          <a:effectLst/>
                        </a:rPr>
                        <a:t>PTemp_C_Avg</a:t>
                      </a:r>
                      <a:r>
                        <a:rPr lang="en-US" sz="1600" i="1" u="none" strike="noStrike" dirty="0">
                          <a:effectLst/>
                        </a:rPr>
                        <a:t> 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18.01%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-3.55%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>
                          <a:effectLst/>
                        </a:rPr>
                        <a:t>5.95%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42.67%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36.04%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4.88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106449"/>
                  </a:ext>
                </a:extLst>
              </a:tr>
              <a:tr h="373641">
                <a:tc>
                  <a:txBody>
                    <a:bodyPr/>
                    <a:lstStyle/>
                    <a:p>
                      <a:pPr algn="l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i="1" u="none" strike="noStrike" dirty="0" err="1">
                          <a:effectLst/>
                        </a:rPr>
                        <a:t>PTemp_C_Max</a:t>
                      </a:r>
                      <a:r>
                        <a:rPr lang="en-US" sz="1600" i="1" u="none" strike="noStrike" dirty="0">
                          <a:effectLst/>
                        </a:rPr>
                        <a:t> 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-1.31%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18.16%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16.98%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2.65%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04113"/>
                  </a:ext>
                </a:extLst>
              </a:tr>
              <a:tr h="373641">
                <a:tc>
                  <a:txBody>
                    <a:bodyPr/>
                    <a:lstStyle/>
                    <a:p>
                      <a:pPr algn="l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i="1" u="none" strike="noStrike">
                          <a:effectLst/>
                        </a:rPr>
                        <a:t>SDI_Temp_1m </a:t>
                      </a:r>
                      <a:endParaRPr lang="en-US" sz="160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18.50%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357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-59.66%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5.93%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19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273.81%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273.81%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607253"/>
                  </a:ext>
                </a:extLst>
              </a:tr>
              <a:tr h="373641">
                <a:tc>
                  <a:txBody>
                    <a:bodyPr/>
                    <a:lstStyle/>
                    <a:p>
                      <a:pPr algn="l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i="1" u="none" strike="noStrike" dirty="0">
                          <a:effectLst/>
                        </a:rPr>
                        <a:t>ThermTemp1_Avg 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15.09%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-48.96%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4.45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920.51%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920.51%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13.05%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369888"/>
                  </a:ext>
                </a:extLst>
              </a:tr>
              <a:tr h="373641">
                <a:tc>
                  <a:txBody>
                    <a:bodyPr/>
                    <a:lstStyle/>
                    <a:p>
                      <a:pPr algn="l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i="1" u="none" strike="noStrike">
                          <a:effectLst/>
                        </a:rPr>
                        <a:t>V_in_chg_Avg </a:t>
                      </a:r>
                      <a:endParaRPr lang="en-US" sz="160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-12.75%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>
                          <a:effectLst/>
                        </a:rPr>
                        <a:t>8.88%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84.19%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84.19%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33.43%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496561"/>
                  </a:ext>
                </a:extLst>
              </a:tr>
              <a:tr h="373641">
                <a:tc>
                  <a:txBody>
                    <a:bodyPr/>
                    <a:lstStyle/>
                    <a:p>
                      <a:pPr algn="l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i="1" u="none" strike="noStrike" dirty="0" err="1">
                          <a:effectLst/>
                        </a:rPr>
                        <a:t>Vapor_Press_Avg</a:t>
                      </a:r>
                      <a:r>
                        <a:rPr lang="en-US" sz="1600" i="1" u="none" strike="noStrike" dirty="0">
                          <a:effectLst/>
                        </a:rPr>
                        <a:t> 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41.97%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-4.17%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141.06%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141.06%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20.10%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005606"/>
                  </a:ext>
                </a:extLst>
              </a:tr>
              <a:tr h="412309">
                <a:tc>
                  <a:txBody>
                    <a:bodyPr/>
                    <a:lstStyle/>
                    <a:p>
                      <a:pPr algn="l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i="1" u="none" strike="noStrike" dirty="0">
                          <a:effectLst/>
                        </a:rPr>
                        <a:t>Vapor_Press_Avg_2 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362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-14.48%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46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45.23%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45.23%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0.27%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925346"/>
                  </a:ext>
                </a:extLst>
              </a:tr>
              <a:tr h="373641">
                <a:tc>
                  <a:txBody>
                    <a:bodyPr/>
                    <a:lstStyle/>
                    <a:p>
                      <a:pPr algn="l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i="1" u="none" strike="noStrike" dirty="0" err="1">
                          <a:effectLst/>
                        </a:rPr>
                        <a:t>WS_ms_Avg</a:t>
                      </a:r>
                      <a:r>
                        <a:rPr lang="en-US" sz="1600" i="1" u="none" strike="noStrike" dirty="0">
                          <a:effectLst/>
                        </a:rPr>
                        <a:t> 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358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u="sng" strike="noStrike" dirty="0">
                          <a:solidFill>
                            <a:srgbClr val="C00000"/>
                          </a:solidFill>
                          <a:effectLst/>
                        </a:rPr>
                        <a:t>0.00</a:t>
                      </a:r>
                      <a:r>
                        <a:rPr lang="en-US" sz="16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u="sng" strike="noStrike" kern="1200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14.51%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796571"/>
                  </a:ext>
                </a:extLst>
              </a:tr>
              <a:tr h="373641">
                <a:tc>
                  <a:txBody>
                    <a:bodyPr/>
                    <a:lstStyle/>
                    <a:p>
                      <a:pPr algn="l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i="1" u="none" strike="noStrike" dirty="0">
                          <a:effectLst/>
                        </a:rPr>
                        <a:t>WTemp_C1_Avg 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10.10%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349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-59.44%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>
                          <a:effectLst/>
                        </a:rPr>
                        <a:t>19.63%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55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299.05%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299.05%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52546"/>
                  </a:ext>
                </a:extLst>
              </a:tr>
              <a:tr h="373641">
                <a:tc>
                  <a:txBody>
                    <a:bodyPr/>
                    <a:lstStyle/>
                    <a:p>
                      <a:pPr algn="l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i="1" u="none" strike="noStrike" dirty="0">
                          <a:effectLst/>
                        </a:rPr>
                        <a:t>WTemp_C2_Avg 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1.03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-28.84%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6.63%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87.30%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123.16%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61.77%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387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0863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B2777F3-C053-2737-16BE-6735343696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1546834"/>
              </p:ext>
            </p:extLst>
          </p:nvPr>
        </p:nvGraphicFramePr>
        <p:xfrm>
          <a:off x="478876" y="1310587"/>
          <a:ext cx="8181648" cy="44700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77126">
                  <a:extLst>
                    <a:ext uri="{9D8B030D-6E8A-4147-A177-3AD203B41FA5}">
                      <a16:colId xmlns:a16="http://schemas.microsoft.com/office/drawing/2014/main" val="114981102"/>
                    </a:ext>
                  </a:extLst>
                </a:gridCol>
                <a:gridCol w="687309">
                  <a:extLst>
                    <a:ext uri="{9D8B030D-6E8A-4147-A177-3AD203B41FA5}">
                      <a16:colId xmlns:a16="http://schemas.microsoft.com/office/drawing/2014/main" val="963960691"/>
                    </a:ext>
                  </a:extLst>
                </a:gridCol>
                <a:gridCol w="432374">
                  <a:extLst>
                    <a:ext uri="{9D8B030D-6E8A-4147-A177-3AD203B41FA5}">
                      <a16:colId xmlns:a16="http://schemas.microsoft.com/office/drawing/2014/main" val="1238777008"/>
                    </a:ext>
                  </a:extLst>
                </a:gridCol>
                <a:gridCol w="794069">
                  <a:extLst>
                    <a:ext uri="{9D8B030D-6E8A-4147-A177-3AD203B41FA5}">
                      <a16:colId xmlns:a16="http://schemas.microsoft.com/office/drawing/2014/main" val="879074341"/>
                    </a:ext>
                  </a:extLst>
                </a:gridCol>
                <a:gridCol w="731858">
                  <a:extLst>
                    <a:ext uri="{9D8B030D-6E8A-4147-A177-3AD203B41FA5}">
                      <a16:colId xmlns:a16="http://schemas.microsoft.com/office/drawing/2014/main" val="889483529"/>
                    </a:ext>
                  </a:extLst>
                </a:gridCol>
                <a:gridCol w="506592">
                  <a:extLst>
                    <a:ext uri="{9D8B030D-6E8A-4147-A177-3AD203B41FA5}">
                      <a16:colId xmlns:a16="http://schemas.microsoft.com/office/drawing/2014/main" val="2470528816"/>
                    </a:ext>
                  </a:extLst>
                </a:gridCol>
                <a:gridCol w="839645">
                  <a:extLst>
                    <a:ext uri="{9D8B030D-6E8A-4147-A177-3AD203B41FA5}">
                      <a16:colId xmlns:a16="http://schemas.microsoft.com/office/drawing/2014/main" val="1144743973"/>
                    </a:ext>
                  </a:extLst>
                </a:gridCol>
                <a:gridCol w="554941">
                  <a:extLst>
                    <a:ext uri="{9D8B030D-6E8A-4147-A177-3AD203B41FA5}">
                      <a16:colId xmlns:a16="http://schemas.microsoft.com/office/drawing/2014/main" val="2734595676"/>
                    </a:ext>
                  </a:extLst>
                </a:gridCol>
                <a:gridCol w="795220">
                  <a:extLst>
                    <a:ext uri="{9D8B030D-6E8A-4147-A177-3AD203B41FA5}">
                      <a16:colId xmlns:a16="http://schemas.microsoft.com/office/drawing/2014/main" val="4027117567"/>
                    </a:ext>
                  </a:extLst>
                </a:gridCol>
                <a:gridCol w="594635">
                  <a:extLst>
                    <a:ext uri="{9D8B030D-6E8A-4147-A177-3AD203B41FA5}">
                      <a16:colId xmlns:a16="http://schemas.microsoft.com/office/drawing/2014/main" val="671792471"/>
                    </a:ext>
                  </a:extLst>
                </a:gridCol>
                <a:gridCol w="795220">
                  <a:extLst>
                    <a:ext uri="{9D8B030D-6E8A-4147-A177-3AD203B41FA5}">
                      <a16:colId xmlns:a16="http://schemas.microsoft.com/office/drawing/2014/main" val="4015606536"/>
                    </a:ext>
                  </a:extLst>
                </a:gridCol>
                <a:gridCol w="472659">
                  <a:extLst>
                    <a:ext uri="{9D8B030D-6E8A-4147-A177-3AD203B41FA5}">
                      <a16:colId xmlns:a16="http://schemas.microsoft.com/office/drawing/2014/main" val="2205332133"/>
                    </a:ext>
                  </a:extLst>
                </a:gridCol>
              </a:tblGrid>
              <a:tr h="372508"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MIP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 err="1">
                          <a:effectLst/>
                        </a:rPr>
                        <a:t>Lagrangian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PELT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BINSEG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DYNP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67567620"/>
                  </a:ext>
                </a:extLst>
              </a:tr>
              <a:tr h="372508"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cost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tcpu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zlb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zub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t.zub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cost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tcpu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cost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tcpu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cost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tcpu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2273393"/>
                  </a:ext>
                </a:extLst>
              </a:tr>
              <a:tr h="372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N1879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-2.07%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17.89%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2.80%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6.33%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93273552"/>
                  </a:ext>
                </a:extLst>
              </a:tr>
              <a:tr h="372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N1881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1.48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-6.55%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1.49%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19.84%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6.73%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7.43%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30015881"/>
                  </a:ext>
                </a:extLst>
              </a:tr>
              <a:tr h="372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N1882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2.56%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-3.13%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36.10%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38.40%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24.26%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3273939"/>
                  </a:ext>
                </a:extLst>
              </a:tr>
              <a:tr h="372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N1883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-24.51%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1.54%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84.93%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89.84%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42.75%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33832686"/>
                  </a:ext>
                </a:extLst>
              </a:tr>
              <a:tr h="372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N1884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31.42%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-41.57%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11.82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46.27%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44.99%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28.46%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49705200"/>
                  </a:ext>
                </a:extLst>
              </a:tr>
              <a:tr h="372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N2830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20.05%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-1.65%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60.29%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87.55%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63.44%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52447885"/>
                  </a:ext>
                </a:extLst>
              </a:tr>
              <a:tr h="372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N2831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36.20%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-21.46%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29.47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112.33%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65.80%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122.90%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9355932"/>
                  </a:ext>
                </a:extLst>
              </a:tr>
              <a:tr h="372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N2832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27.47%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0.00%</a:t>
                      </a:r>
                      <a:endParaRPr lang="en-US" sz="1600" b="1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1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89.42%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45.24%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57.79%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04295361"/>
                  </a:ext>
                </a:extLst>
              </a:tr>
              <a:tr h="372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N2833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22.88%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-9.70%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49.37%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70.68%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75.08%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45060113"/>
                  </a:ext>
                </a:extLst>
              </a:tr>
              <a:tr h="372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N2834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81.03%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-4.84%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16.86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194.79%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194.79%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113.19%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507873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BED57414-DCE3-B7CD-F277-9F9E22A8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Results</a:t>
            </a:r>
            <a:r>
              <a:rPr lang="it-IT" dirty="0"/>
              <a:t> M3, </a:t>
            </a:r>
            <a:r>
              <a:rPr lang="it-IT" dirty="0" err="1"/>
              <a:t>various</a:t>
            </a:r>
            <a:r>
              <a:rPr lang="it-IT" dirty="0"/>
              <a:t> domains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10F48-5265-81CD-B0C4-06282499E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B0136-409F-3EF1-E2CC-5ACB665EE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18050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91D3D6A-ACAF-1EDF-A625-049013671B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9268040"/>
              </p:ext>
            </p:extLst>
          </p:nvPr>
        </p:nvGraphicFramePr>
        <p:xfrm>
          <a:off x="462455" y="1148210"/>
          <a:ext cx="8345214" cy="50739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86013">
                  <a:extLst>
                    <a:ext uri="{9D8B030D-6E8A-4147-A177-3AD203B41FA5}">
                      <a16:colId xmlns:a16="http://schemas.microsoft.com/office/drawing/2014/main" val="1695072606"/>
                    </a:ext>
                  </a:extLst>
                </a:gridCol>
                <a:gridCol w="719526">
                  <a:extLst>
                    <a:ext uri="{9D8B030D-6E8A-4147-A177-3AD203B41FA5}">
                      <a16:colId xmlns:a16="http://schemas.microsoft.com/office/drawing/2014/main" val="2215984915"/>
                    </a:ext>
                  </a:extLst>
                </a:gridCol>
                <a:gridCol w="462311">
                  <a:extLst>
                    <a:ext uri="{9D8B030D-6E8A-4147-A177-3AD203B41FA5}">
                      <a16:colId xmlns:a16="http://schemas.microsoft.com/office/drawing/2014/main" val="4033412864"/>
                    </a:ext>
                  </a:extLst>
                </a:gridCol>
                <a:gridCol w="804126">
                  <a:extLst>
                    <a:ext uri="{9D8B030D-6E8A-4147-A177-3AD203B41FA5}">
                      <a16:colId xmlns:a16="http://schemas.microsoft.com/office/drawing/2014/main" val="3100828834"/>
                    </a:ext>
                  </a:extLst>
                </a:gridCol>
                <a:gridCol w="734896">
                  <a:extLst>
                    <a:ext uri="{9D8B030D-6E8A-4147-A177-3AD203B41FA5}">
                      <a16:colId xmlns:a16="http://schemas.microsoft.com/office/drawing/2014/main" val="3696149253"/>
                    </a:ext>
                  </a:extLst>
                </a:gridCol>
                <a:gridCol w="502277">
                  <a:extLst>
                    <a:ext uri="{9D8B030D-6E8A-4147-A177-3AD203B41FA5}">
                      <a16:colId xmlns:a16="http://schemas.microsoft.com/office/drawing/2014/main" val="2811333886"/>
                    </a:ext>
                  </a:extLst>
                </a:gridCol>
                <a:gridCol w="965661">
                  <a:extLst>
                    <a:ext uri="{9D8B030D-6E8A-4147-A177-3AD203B41FA5}">
                      <a16:colId xmlns:a16="http://schemas.microsoft.com/office/drawing/2014/main" val="754503241"/>
                    </a:ext>
                  </a:extLst>
                </a:gridCol>
                <a:gridCol w="473315">
                  <a:extLst>
                    <a:ext uri="{9D8B030D-6E8A-4147-A177-3AD203B41FA5}">
                      <a16:colId xmlns:a16="http://schemas.microsoft.com/office/drawing/2014/main" val="2601628350"/>
                    </a:ext>
                  </a:extLst>
                </a:gridCol>
                <a:gridCol w="965661">
                  <a:extLst>
                    <a:ext uri="{9D8B030D-6E8A-4147-A177-3AD203B41FA5}">
                      <a16:colId xmlns:a16="http://schemas.microsoft.com/office/drawing/2014/main" val="2617084224"/>
                    </a:ext>
                  </a:extLst>
                </a:gridCol>
                <a:gridCol w="425539">
                  <a:extLst>
                    <a:ext uri="{9D8B030D-6E8A-4147-A177-3AD203B41FA5}">
                      <a16:colId xmlns:a16="http://schemas.microsoft.com/office/drawing/2014/main" val="3893054206"/>
                    </a:ext>
                  </a:extLst>
                </a:gridCol>
                <a:gridCol w="965661">
                  <a:extLst>
                    <a:ext uri="{9D8B030D-6E8A-4147-A177-3AD203B41FA5}">
                      <a16:colId xmlns:a16="http://schemas.microsoft.com/office/drawing/2014/main" val="2318535568"/>
                    </a:ext>
                  </a:extLst>
                </a:gridCol>
                <a:gridCol w="440228">
                  <a:extLst>
                    <a:ext uri="{9D8B030D-6E8A-4147-A177-3AD203B41FA5}">
                      <a16:colId xmlns:a16="http://schemas.microsoft.com/office/drawing/2014/main" val="542039812"/>
                    </a:ext>
                  </a:extLst>
                </a:gridCol>
              </a:tblGrid>
              <a:tr h="422826"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MIP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 err="1">
                          <a:effectLst/>
                        </a:rPr>
                        <a:t>Lagrangian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PELT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BINSEG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DYNP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94454689"/>
                  </a:ext>
                </a:extLst>
              </a:tr>
              <a:tr h="422826"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cost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tcpu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zlb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zub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t.zub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cost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tcpu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cost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tcpu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cost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tcpu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045051"/>
                  </a:ext>
                </a:extLst>
              </a:tr>
              <a:tr h="4228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Q2002 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6.78%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-1.88%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0.12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58.12%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41.62%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32.72%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35825357"/>
                  </a:ext>
                </a:extLst>
              </a:tr>
              <a:tr h="4228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Q5109 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26.69%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92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-72.90%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7.89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125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916.13%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861.14%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868.30%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3115292"/>
                  </a:ext>
                </a:extLst>
              </a:tr>
              <a:tr h="4228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Q8030 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-99.79%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23.45%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5559.62%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3797.48%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5126.12%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52837260"/>
                  </a:ext>
                </a:extLst>
              </a:tr>
              <a:tr h="4228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Q14640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29029914"/>
                  </a:ext>
                </a:extLst>
              </a:tr>
              <a:tr h="4228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Q15444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0.05%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-0.94%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9.69%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9.69%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11.96%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20661909"/>
                  </a:ext>
                </a:extLst>
              </a:tr>
              <a:tr h="4228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Q18148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52.65%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27.41%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31.18%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96336304"/>
                  </a:ext>
                </a:extLst>
              </a:tr>
              <a:tr h="4228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Q18496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-0.02%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1.11%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26.76%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33.97%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18.13%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41614523"/>
                  </a:ext>
                </a:extLst>
              </a:tr>
              <a:tr h="4228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Q19604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4.68%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-99.02%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2.87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261.96%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73.64%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72.84%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72679638"/>
                  </a:ext>
                </a:extLst>
              </a:tr>
              <a:tr h="4228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Q19637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6.28%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-5.64%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212.55%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181.90%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173.02%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46208591"/>
                  </a:ext>
                </a:extLst>
              </a:tr>
              <a:tr h="4228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Q22221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76.41%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52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-7.76%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34.43%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44.66%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3.92%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147314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78D4C66-B74B-C33A-1313-B9483B532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Results</a:t>
            </a:r>
            <a:r>
              <a:rPr lang="it-IT" dirty="0"/>
              <a:t> M4, </a:t>
            </a:r>
            <a:r>
              <a:rPr lang="it-IT" dirty="0" err="1"/>
              <a:t>various</a:t>
            </a:r>
            <a:r>
              <a:rPr lang="it-IT" dirty="0"/>
              <a:t> domains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D2412-C2FF-0F80-D8B1-B2437516FA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B8ECAD-72A5-CC1F-2A01-28895E718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00071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F5F150E-4398-5083-5677-F137FA9416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7059121"/>
              </p:ext>
            </p:extLst>
          </p:nvPr>
        </p:nvGraphicFramePr>
        <p:xfrm>
          <a:off x="352753" y="1055385"/>
          <a:ext cx="8528487" cy="507214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52885">
                  <a:extLst>
                    <a:ext uri="{9D8B030D-6E8A-4147-A177-3AD203B41FA5}">
                      <a16:colId xmlns:a16="http://schemas.microsoft.com/office/drawing/2014/main" val="1494569161"/>
                    </a:ext>
                  </a:extLst>
                </a:gridCol>
                <a:gridCol w="882357">
                  <a:extLst>
                    <a:ext uri="{9D8B030D-6E8A-4147-A177-3AD203B41FA5}">
                      <a16:colId xmlns:a16="http://schemas.microsoft.com/office/drawing/2014/main" val="3889839439"/>
                    </a:ext>
                  </a:extLst>
                </a:gridCol>
                <a:gridCol w="479752">
                  <a:extLst>
                    <a:ext uri="{9D8B030D-6E8A-4147-A177-3AD203B41FA5}">
                      <a16:colId xmlns:a16="http://schemas.microsoft.com/office/drawing/2014/main" val="2027456172"/>
                    </a:ext>
                  </a:extLst>
                </a:gridCol>
                <a:gridCol w="834463">
                  <a:extLst>
                    <a:ext uri="{9D8B030D-6E8A-4147-A177-3AD203B41FA5}">
                      <a16:colId xmlns:a16="http://schemas.microsoft.com/office/drawing/2014/main" val="43818802"/>
                    </a:ext>
                  </a:extLst>
                </a:gridCol>
                <a:gridCol w="762623">
                  <a:extLst>
                    <a:ext uri="{9D8B030D-6E8A-4147-A177-3AD203B41FA5}">
                      <a16:colId xmlns:a16="http://schemas.microsoft.com/office/drawing/2014/main" val="3267137622"/>
                    </a:ext>
                  </a:extLst>
                </a:gridCol>
                <a:gridCol w="478807">
                  <a:extLst>
                    <a:ext uri="{9D8B030D-6E8A-4147-A177-3AD203B41FA5}">
                      <a16:colId xmlns:a16="http://schemas.microsoft.com/office/drawing/2014/main" val="3775276196"/>
                    </a:ext>
                  </a:extLst>
                </a:gridCol>
                <a:gridCol w="1002093">
                  <a:extLst>
                    <a:ext uri="{9D8B030D-6E8A-4147-A177-3AD203B41FA5}">
                      <a16:colId xmlns:a16="http://schemas.microsoft.com/office/drawing/2014/main" val="2862771990"/>
                    </a:ext>
                  </a:extLst>
                </a:gridCol>
                <a:gridCol w="479752">
                  <a:extLst>
                    <a:ext uri="{9D8B030D-6E8A-4147-A177-3AD203B41FA5}">
                      <a16:colId xmlns:a16="http://schemas.microsoft.com/office/drawing/2014/main" val="3889640754"/>
                    </a:ext>
                  </a:extLst>
                </a:gridCol>
                <a:gridCol w="1002093">
                  <a:extLst>
                    <a:ext uri="{9D8B030D-6E8A-4147-A177-3AD203B41FA5}">
                      <a16:colId xmlns:a16="http://schemas.microsoft.com/office/drawing/2014/main" val="3398521550"/>
                    </a:ext>
                  </a:extLst>
                </a:gridCol>
                <a:gridCol w="574730">
                  <a:extLst>
                    <a:ext uri="{9D8B030D-6E8A-4147-A177-3AD203B41FA5}">
                      <a16:colId xmlns:a16="http://schemas.microsoft.com/office/drawing/2014/main" val="3524660862"/>
                    </a:ext>
                  </a:extLst>
                </a:gridCol>
                <a:gridCol w="722096">
                  <a:extLst>
                    <a:ext uri="{9D8B030D-6E8A-4147-A177-3AD203B41FA5}">
                      <a16:colId xmlns:a16="http://schemas.microsoft.com/office/drawing/2014/main" val="1577310174"/>
                    </a:ext>
                  </a:extLst>
                </a:gridCol>
                <a:gridCol w="456836">
                  <a:extLst>
                    <a:ext uri="{9D8B030D-6E8A-4147-A177-3AD203B41FA5}">
                      <a16:colId xmlns:a16="http://schemas.microsoft.com/office/drawing/2014/main" val="3611849096"/>
                    </a:ext>
                  </a:extLst>
                </a:gridCol>
              </a:tblGrid>
              <a:tr h="338143"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MIP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 err="1">
                          <a:effectLst/>
                        </a:rPr>
                        <a:t>Lagrangian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PELT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BINSEG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DYNP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74256297"/>
                  </a:ext>
                </a:extLst>
              </a:tr>
              <a:tr h="33814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cost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tcpu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zlb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zub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t.zub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cost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tcpu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cost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tcpu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cost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tcpu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861207"/>
                  </a:ext>
                </a:extLst>
              </a:tr>
              <a:tr h="3381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ABBV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38.10%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0.00</a:t>
                      </a:r>
                      <a:r>
                        <a:rPr lang="en-US" sz="16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%</a:t>
                      </a:r>
                      <a:endParaRPr lang="en-US" sz="1600" b="1" i="1" u="none" strike="noStrike" dirty="0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%</a:t>
                      </a:r>
                      <a:endParaRPr lang="en-US" sz="1600" b="1" i="1" u="none" strike="noStrike" dirty="0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303.76%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428.81%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22.89%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60038556"/>
                  </a:ext>
                </a:extLst>
              </a:tr>
              <a:tr h="3381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BTCUSD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20.32%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-44.77%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3.53%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42.84%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8.07%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3234620"/>
                  </a:ext>
                </a:extLst>
              </a:tr>
              <a:tr h="3381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EURCHF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1.00%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-9.42%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0.03%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823.56%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823.56%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29155215"/>
                  </a:ext>
                </a:extLst>
              </a:tr>
              <a:tr h="3381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EURUSD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-6.82%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0.45%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428.05%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428.05%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21.07%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86885494"/>
                  </a:ext>
                </a:extLst>
              </a:tr>
              <a:tr h="3381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EWG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13.16%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0.00</a:t>
                      </a:r>
                      <a:r>
                        <a:rPr lang="en-US" sz="16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%</a:t>
                      </a:r>
                      <a:endParaRPr lang="en-US" sz="1600" b="1" i="1" u="none" strike="noStrike" dirty="0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%</a:t>
                      </a:r>
                      <a:endParaRPr lang="en-US" sz="1600" b="1" i="1" u="none" strike="noStrike" dirty="0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1114.94%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1114.94%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7.58%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89324844"/>
                  </a:ext>
                </a:extLst>
              </a:tr>
              <a:tr h="3381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EWQ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-0.27%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1.47%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678.02%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678.02%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3.29%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93938706"/>
                  </a:ext>
                </a:extLst>
              </a:tr>
              <a:tr h="3381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EWZ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14.43%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-1.13%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3.44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336.95%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336.95%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21.71%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61182237"/>
                  </a:ext>
                </a:extLst>
              </a:tr>
              <a:tr h="3381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GBPUSD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0.00</a:t>
                      </a:r>
                      <a:r>
                        <a:rPr lang="en-US" sz="16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%</a:t>
                      </a:r>
                      <a:endParaRPr lang="en-US" sz="1600" b="1" i="1" u="none" strike="noStrike" dirty="0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%</a:t>
                      </a:r>
                      <a:endParaRPr lang="en-US" sz="1600" b="1" i="1" u="none" strike="noStrike" dirty="0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488.35%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488.35%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6.95%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36228642"/>
                  </a:ext>
                </a:extLst>
              </a:tr>
              <a:tr h="3381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PYPL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-2.33%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0.78%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235.19%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235.19%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40.25%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62938494"/>
                  </a:ext>
                </a:extLst>
              </a:tr>
              <a:tr h="3381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RBLX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8.71%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-11.77%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5.93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93.30%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211.80%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21.83%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22078187"/>
                  </a:ext>
                </a:extLst>
              </a:tr>
              <a:tr h="3381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ROST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7.12%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-3.76%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103.87%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319.71%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14.26%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03987783"/>
                  </a:ext>
                </a:extLst>
              </a:tr>
              <a:tr h="3381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SLV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107.86%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-6.81%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424.57%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424.57%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14.12%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3915681"/>
                  </a:ext>
                </a:extLst>
              </a:tr>
              <a:tr h="3381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USDJPY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26.61%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-10.13%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27.17%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469.71%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469.71%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sng" strike="noStrike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600" u="none" strike="noStrike" dirty="0">
                          <a:effectLst/>
                        </a:rPr>
                        <a:t>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8849988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6B27316-33F0-BA2F-E736-3E38F206E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 err="1"/>
              <a:t>Results</a:t>
            </a:r>
            <a:r>
              <a:rPr lang="it-IT" dirty="0"/>
              <a:t> M6, </a:t>
            </a:r>
            <a:r>
              <a:rPr lang="it-IT" dirty="0" err="1"/>
              <a:t>financial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3467A-4F03-C12E-408A-A38B515CA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DE7F49-7FC1-0254-13F1-763951E97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02793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FDBDB36-1275-F2E9-08B3-F455FF7E46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485" y="1112561"/>
            <a:ext cx="3835568" cy="305669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E77AFAF-317E-1CED-DB49-D6E227498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IoT, environmental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D7A8E-E518-DA77-2589-71E791B72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D7BD37-4BF1-E9E9-149C-DD4868E829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17</a:t>
            </a:fld>
            <a:endParaRPr lang="it-IT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B246D0-6E37-5D8B-D870-284C3513B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983" y="3052625"/>
            <a:ext cx="4142908" cy="330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017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4360C52-1CF0-25C6-0658-5325BDE345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450" y="2003232"/>
            <a:ext cx="8547100" cy="3528226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2D58F8A-9268-6259-78AC-F34D980FD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IoT, </a:t>
            </a:r>
            <a:r>
              <a:rPr lang="it-IT" dirty="0" err="1"/>
              <a:t>environmental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051C9-0192-B65B-617C-73E834810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2124EA-B9D9-C153-DA2B-6FB0E5E1C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17209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D46940F-C05A-E0CD-2E58-CAE5099DF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7478" y="1288038"/>
            <a:ext cx="6729043" cy="5029636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22A413F-B80D-3086-6990-5D5FE8FE7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M6, bitcoin exchange rate vs USD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16D30-0ACA-53ED-5474-5B7ACEFA76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4863E-09D4-AA72-6471-7CFF16949C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74337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5ADC7E-8D78-BB4D-2F65-2C4670783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COVID infection, Italy 2022-</a:t>
            </a:r>
            <a:r>
              <a:rPr lang="en-US" dirty="0">
                <a:latin typeface="Arial Rounded MT Bold" panose="020F0704030504030204" pitchFamily="34" charset="0"/>
              </a:rPr>
              <a:t>&gt;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2E1C1-A5A5-693C-17A7-74C6797843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A7785-22D9-B95D-FC75-65F2620AF9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20</a:t>
            </a:fld>
            <a:endParaRPr lang="it-IT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8FD59B-755F-E675-F1B1-3B7957E30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44" y="1185206"/>
            <a:ext cx="5847619" cy="4390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188003-C7AB-0F33-1E08-BC2DAD665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43" y="1185206"/>
            <a:ext cx="5847619" cy="43904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276EA7-35C0-CB02-2176-C669ADED0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542" y="1185206"/>
            <a:ext cx="5847619" cy="43904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5FCF65-D2A2-EF00-9A9D-6DCDCCFC11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541" y="1185206"/>
            <a:ext cx="5847619" cy="43904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7DA6440-0B79-D9B8-C5D8-9107962FEC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540" y="1185206"/>
            <a:ext cx="5847619" cy="43904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2BF5AA0-19A5-BF27-9EFA-7F4AC71707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540" y="1185206"/>
            <a:ext cx="5847619" cy="43904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F583F7-B193-C1AA-D971-2DD0E7BAD7F8}"/>
              </a:ext>
            </a:extLst>
          </p:cNvPr>
          <p:cNvSpPr txBox="1"/>
          <p:nvPr/>
        </p:nvSpPr>
        <p:spPr>
          <a:xfrm>
            <a:off x="1041540" y="5914417"/>
            <a:ext cx="6431959" cy="666167"/>
          </a:xfrm>
          <a:prstGeom prst="rect">
            <a:avLst/>
          </a:prstGeom>
          <a:noFill/>
          <a:ln>
            <a:noFill/>
          </a:ln>
        </p:spPr>
        <p:txBody>
          <a:bodyPr wrap="none" rtlCol="0" anchor="t" anchorCtr="0">
            <a:noAutofit/>
          </a:bodyPr>
          <a:lstStyle/>
          <a:p>
            <a:r>
              <a:rPr lang="en-US" sz="2400" dirty="0"/>
              <a:t>Disease spread modelled by negative binomials</a:t>
            </a:r>
          </a:p>
        </p:txBody>
      </p:sp>
    </p:spTree>
    <p:extLst>
      <p:ext uri="{BB962C8B-B14F-4D97-AF65-F5344CB8AC3E}">
        <p14:creationId xmlns:p14="http://schemas.microsoft.com/office/powerpoint/2010/main" val="2716174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Quadretti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ustom 1">
      <a:majorFont>
        <a:latin typeface="Arial Rounded MT Bold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satMod val="150000"/>
              </a:schemeClr>
            </a:gs>
            <a:gs pos="60000">
              <a:schemeClr val="phClr">
                <a:shade val="20000"/>
                <a:satMod val="25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/>
            </a:duotone>
          </a:blip>
          <a:stretch/>
        </a:blip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t" anchorCtr="0">
        <a:noAutofit/>
      </a:bodyPr>
      <a:lstStyle>
        <a:defPPr>
          <a:defRPr sz="2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meQuadretti" id="{19AB7872-5255-42EA-897B-4062C768F031}" vid="{57F8082C-57DB-4447-A402-D3E99C17B6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ThemeQuadretti</Template>
  <TotalTime>702</TotalTime>
  <Words>2061</Words>
  <Application>Microsoft Office PowerPoint</Application>
  <PresentationFormat>On-screen Show (4:3)</PresentationFormat>
  <Paragraphs>717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AAchalk</vt:lpstr>
      <vt:lpstr>Aptos Narrow</vt:lpstr>
      <vt:lpstr>Arial</vt:lpstr>
      <vt:lpstr>Arial Rounded MT Bold</vt:lpstr>
      <vt:lpstr>Calibri Light</vt:lpstr>
      <vt:lpstr>Cambria</vt:lpstr>
      <vt:lpstr>Cambria Math</vt:lpstr>
      <vt:lpstr>Lekton</vt:lpstr>
      <vt:lpstr>ManiezzoSlides</vt:lpstr>
      <vt:lpstr>Symbol</vt:lpstr>
      <vt:lpstr>Wingdings</vt:lpstr>
      <vt:lpstr>ThemeQuadretti</vt:lpstr>
      <vt:lpstr>Extended set covering for time series segmentation</vt:lpstr>
      <vt:lpstr>Fintech, trading</vt:lpstr>
      <vt:lpstr>Time series segmentation</vt:lpstr>
      <vt:lpstr>Piecewise linear regression</vt:lpstr>
      <vt:lpstr>The SPP model</vt:lpstr>
      <vt:lpstr>The SCP model</vt:lpstr>
      <vt:lpstr>The extended SCP model</vt:lpstr>
      <vt:lpstr>The Lagrangian model</vt:lpstr>
      <vt:lpstr>LagrHeuristic details</vt:lpstr>
      <vt:lpstr>Cost functions</vt:lpstr>
      <vt:lpstr>A real world application</vt:lpstr>
      <vt:lpstr>Testsets</vt:lpstr>
      <vt:lpstr>Results, IoT</vt:lpstr>
      <vt:lpstr>Results M3, various domains</vt:lpstr>
      <vt:lpstr>Results M4, various domains</vt:lpstr>
      <vt:lpstr>Results M6, financial</vt:lpstr>
      <vt:lpstr>IoT, environmental</vt:lpstr>
      <vt:lpstr>IoT, environmental</vt:lpstr>
      <vt:lpstr>M6, bitcoin exchange rate vs USD</vt:lpstr>
      <vt:lpstr>COVID infection, Italy 2022-&gt;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Vittorio Maniezzo</dc:creator>
  <cp:lastModifiedBy>Vittorio Maniezzo</cp:lastModifiedBy>
  <cp:revision>135</cp:revision>
  <dcterms:created xsi:type="dcterms:W3CDTF">2024-02-06T11:14:54Z</dcterms:created>
  <dcterms:modified xsi:type="dcterms:W3CDTF">2024-06-05T13:58:26Z</dcterms:modified>
</cp:coreProperties>
</file>