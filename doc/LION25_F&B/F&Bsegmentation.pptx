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78" r:id="rId3"/>
    <p:sldId id="280" r:id="rId4"/>
    <p:sldId id="281" r:id="rId5"/>
    <p:sldId id="282" r:id="rId6"/>
    <p:sldId id="283" r:id="rId7"/>
    <p:sldId id="265" r:id="rId8"/>
    <p:sldId id="286" r:id="rId9"/>
    <p:sldId id="279" r:id="rId10"/>
    <p:sldId id="270" r:id="rId11"/>
    <p:sldId id="284" r:id="rId12"/>
    <p:sldId id="285" r:id="rId13"/>
    <p:sldId id="262" r:id="rId14"/>
    <p:sldId id="259" r:id="rId15"/>
    <p:sldId id="261" r:id="rId16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9" autoAdjust="0"/>
    <p:restoredTop sz="94660"/>
  </p:normalViewPr>
  <p:slideViewPr>
    <p:cSldViewPr snapToGrid="0">
      <p:cViewPr varScale="1">
        <p:scale>
          <a:sx n="94" d="100"/>
          <a:sy n="94" d="100"/>
        </p:scale>
        <p:origin x="768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36847" y="3657124"/>
            <a:ext cx="7074291" cy="99107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rgbClr val="002060"/>
                </a:solidFill>
                <a:latin typeface="AAchalk" pitchFamily="2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3" name="Title 1"/>
          <p:cNvSpPr>
            <a:spLocks noGrp="1"/>
          </p:cNvSpPr>
          <p:nvPr>
            <p:ph type="ctrTitle"/>
          </p:nvPr>
        </p:nvSpPr>
        <p:spPr>
          <a:xfrm>
            <a:off x="1032863" y="1905004"/>
            <a:ext cx="7078274" cy="1625599"/>
          </a:xfrm>
        </p:spPr>
        <p:txBody>
          <a:bodyPr>
            <a:normAutofit/>
          </a:bodyPr>
          <a:lstStyle>
            <a:lvl1pPr algn="ctr">
              <a:lnSpc>
                <a:spcPct val="90000"/>
              </a:lnSpc>
              <a:defRPr sz="4800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3205846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4" name="linea"/>
          <p:cNvGrpSpPr/>
          <p:nvPr/>
        </p:nvGrpSpPr>
        <p:grpSpPr bwMode="invGray">
          <a:xfrm>
            <a:off x="315162" y="840518"/>
            <a:ext cx="7929246" cy="64008"/>
            <a:chOff x="1522413" y="1514475"/>
            <a:chExt cx="10569575" cy="64008"/>
          </a:xfrm>
          <a:solidFill>
            <a:schemeClr val="accent2">
              <a:lumMod val="75000"/>
            </a:schemeClr>
          </a:solidFill>
        </p:grpSpPr>
        <p:sp>
          <p:nvSpPr>
            <p:cNvPr id="5" name="Figura a mano libera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" name="Figura a mano libera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8" name="Figura a mano libera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9" name="Figura a mano libera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0" name="Figura a mano libera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1" name="Figura a mano libera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2" name="Figura a mano libera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3" name="Figura a mano libera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4" name="Figura a mano libera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5" name="Figura a mano libera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6" name="Figura a mano libera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7" name="Figura a mano libera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8" name="Figura a mano libera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9" name="Figura a mano libera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0" name="Figura a mano libera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1" name="Figura a mano libera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2" name="Figura a mano libera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3" name="Figura a mano libera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4" name="Figura a mano libera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5" name="Figura a mano libera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6" name="Figura a mano libera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7" name="Figura a mano libera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8" name="Figura a mano libera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9" name="Figura a mano libera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0" name="Figura a mano libera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1" name="Figura a mano libera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2" name="Figura a mano libera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3" name="Figura a mano libera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4" name="Figura a mano libera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5" name="Figura a mano libera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6" name="Figura a mano libera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7" name="Figura a mano libera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8" name="Figura a mano libera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9" name="Figura a mano libera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0" name="Figura a mano libera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1" name="Figura a mano libera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2" name="Figura a mano libera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3" name="Figura a mano libera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4" name="Figura a mano libera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5" name="Figura a mano libera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6" name="Figura a mano libera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7" name="Figura a mano libera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8" name="Figura a mano libera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9" name="Figura a mano libera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0" name="Figura a mano libera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1" name="Figura a mano libera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2" name="Figura a mano libera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3" name="Figura a mano libera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4" name="Figura a mano libera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5" name="Figura a mano libera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6" name="Figura a mano libera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7" name="Figura a mano libera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8" name="Figura a mano libera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9" name="Figura a mano libera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0" name="Figura a mano libera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1" name="Figura a mano libera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2" name="Figura a mano libera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3" name="Figura a mano libera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4" name="Figura a mano libera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5" name="Figura a mano libera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6" name="Figura a mano libera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7" name="Figura a mano libera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8" name="Figura a mano libera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9" name="Figura a mano libera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0" name="Figura a mano libera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1" name="Figura a mano libera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2" name="Figura a mano libera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3" name="Figura a mano libera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4" name="Figura a mano libera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5" name="Figura a mano libera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6" name="Figura a mano libera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7" name="Figura a mano libera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8" name="Figura a mano libera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9" name="Figura a mano libera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</p:grpSp>
      <p:sp>
        <p:nvSpPr>
          <p:cNvPr id="80" name="Footer Placeholder 4">
            <a:extLst>
              <a:ext uri="{FF2B5EF4-FFF2-40B4-BE49-F238E27FC236}">
                <a16:creationId xmlns:a16="http://schemas.microsoft.com/office/drawing/2014/main" id="{E4BE8164-996A-474C-978A-F0A76F8C91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85" y="6580584"/>
            <a:ext cx="310264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solidFill>
                  <a:schemeClr val="tx1"/>
                </a:solidFill>
                <a:latin typeface="ManiezzoSlides" pitchFamily="2" charset="0"/>
                <a:ea typeface="Microsoft YaHei" panose="020B0503020204020204" pitchFamily="34" charset="-122"/>
              </a:defRPr>
            </a:lvl1pPr>
          </a:lstStyle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81" name="Slide Number Placeholder 5">
            <a:extLst>
              <a:ext uri="{FF2B5EF4-FFF2-40B4-BE49-F238E27FC236}">
                <a16:creationId xmlns:a16="http://schemas.microsoft.com/office/drawing/2014/main" id="{39CA8FFC-AF78-45E6-98A9-C8B0B8648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56706" y="6588890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61530991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‹#›</a:t>
            </a:fld>
            <a:endParaRPr lang="it-IT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6" name="linea"/>
          <p:cNvGrpSpPr/>
          <p:nvPr/>
        </p:nvGrpSpPr>
        <p:grpSpPr bwMode="invGray">
          <a:xfrm>
            <a:off x="315162" y="840518"/>
            <a:ext cx="7929246" cy="64008"/>
            <a:chOff x="1522413" y="1514475"/>
            <a:chExt cx="10569575" cy="64008"/>
          </a:xfrm>
          <a:solidFill>
            <a:schemeClr val="accent2">
              <a:lumMod val="75000"/>
            </a:schemeClr>
          </a:solidFill>
        </p:grpSpPr>
        <p:sp>
          <p:nvSpPr>
            <p:cNvPr id="7" name="Figura a mano libera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8" name="Figura a mano libera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9" name="Figura a mano libera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0" name="Figura a mano libera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1" name="Figura a mano libera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2" name="Figura a mano libera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3" name="Figura a mano libera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4" name="Figura a mano libera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5" name="Figura a mano libera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6" name="Figura a mano libera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7" name="Figura a mano libera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8" name="Figura a mano libera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9" name="Figura a mano libera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0" name="Figura a mano libera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1" name="Figura a mano libera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2" name="Figura a mano libera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3" name="Figura a mano libera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4" name="Figura a mano libera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5" name="Figura a mano libera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6" name="Figura a mano libera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7" name="Figura a mano libera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8" name="Figura a mano libera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9" name="Figura a mano libera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0" name="Figura a mano libera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1" name="Figura a mano libera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2" name="Figura a mano libera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3" name="Figura a mano libera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4" name="Figura a mano libera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5" name="Figura a mano libera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6" name="Figura a mano libera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7" name="Figura a mano libera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8" name="Figura a mano libera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9" name="Figura a mano libera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0" name="Figura a mano libera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1" name="Figura a mano libera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2" name="Figura a mano libera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3" name="Figura a mano libera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4" name="Figura a mano libera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5" name="Figura a mano libera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6" name="Figura a mano libera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7" name="Figura a mano libera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8" name="Figura a mano libera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9" name="Figura a mano libera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0" name="Figura a mano libera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1" name="Figura a mano libera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2" name="Figura a mano libera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3" name="Figura a mano libera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4" name="Figura a mano libera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5" name="Figura a mano libera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6" name="Figura a mano libera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7" name="Figura a mano libera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8" name="Figura a mano libera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9" name="Figura a mano libera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0" name="Figura a mano libera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1" name="Figura a mano libera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2" name="Figura a mano libera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3" name="Figura a mano libera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4" name="Figura a mano libera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5" name="Figura a mano libera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6" name="Figura a mano libera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7" name="Figura a mano libera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8" name="Figura a mano libera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9" name="Figura a mano libera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0" name="Figura a mano libera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1" name="Figura a mano libera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2" name="Figura a mano libera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3" name="Figura a mano libera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4" name="Figura a mano libera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5" name="Figura a mano libera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6" name="Figura a mano libera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7" name="Figura a mano libera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8" name="Figura a mano libera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9" name="Figura a mano libera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80" name="Figura a mano libera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</p:grpSp>
      <p:sp>
        <p:nvSpPr>
          <p:cNvPr id="81" name="Footer Placeholder 4">
            <a:extLst>
              <a:ext uri="{FF2B5EF4-FFF2-40B4-BE49-F238E27FC236}">
                <a16:creationId xmlns:a16="http://schemas.microsoft.com/office/drawing/2014/main" id="{3E84B2B8-6A6C-4172-8F92-776075D81A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85" y="6580584"/>
            <a:ext cx="310264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solidFill>
                  <a:schemeClr val="tx1"/>
                </a:solidFill>
                <a:latin typeface="ManiezzoSlides" pitchFamily="2" charset="0"/>
                <a:ea typeface="Microsoft YaHei" panose="020B0503020204020204" pitchFamily="34" charset="-122"/>
              </a:defRPr>
            </a:lvl1pPr>
          </a:lstStyle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59287632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‹#›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C9A75-8A08-4035-85FB-5EA0B5BB5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85" y="6580584"/>
            <a:ext cx="310264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solidFill>
                  <a:schemeClr val="tx1"/>
                </a:solidFill>
                <a:latin typeface="ManiezzoSlides" pitchFamily="2" charset="0"/>
                <a:ea typeface="Microsoft YaHei" panose="020B0503020204020204" pitchFamily="34" charset="-122"/>
              </a:defRPr>
            </a:lvl1pPr>
          </a:lstStyle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20908868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>
          <a:xfrm>
            <a:off x="107504" y="6597352"/>
            <a:ext cx="3096344" cy="26064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 dirty="0"/>
              <a:t>Vittorio Maniezzo - </a:t>
            </a:r>
            <a:r>
              <a:rPr lang="it-IT" dirty="0" err="1"/>
              <a:t>University</a:t>
            </a:r>
            <a:r>
              <a:rPr lang="it-IT" dirty="0"/>
              <a:t> of Bologna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95C6C1-66D2-4A7C-8B60-02391940B58A}" type="slidenum">
              <a:rPr lang="it-IT" smtClean="0"/>
              <a:pPr>
                <a:defRPr/>
              </a:pPr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93656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3"/>
          <p:cNvGrpSpPr>
            <a:grpSpLocks/>
          </p:cNvGrpSpPr>
          <p:nvPr/>
        </p:nvGrpSpPr>
        <p:grpSpPr bwMode="ltGray">
          <a:xfrm>
            <a:off x="72070" y="37277"/>
            <a:ext cx="9071930" cy="6856413"/>
            <a:chOff x="0" y="0"/>
            <a:chExt cx="5759" cy="4319"/>
          </a:xfrm>
        </p:grpSpPr>
        <p:sp>
          <p:nvSpPr>
            <p:cNvPr id="13" name="Line 4"/>
            <p:cNvSpPr>
              <a:spLocks noChangeShapeType="1"/>
            </p:cNvSpPr>
            <p:nvPr/>
          </p:nvSpPr>
          <p:spPr bwMode="ltGray">
            <a:xfrm>
              <a:off x="0" y="144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4" name="Line 5"/>
            <p:cNvSpPr>
              <a:spLocks noChangeShapeType="1"/>
            </p:cNvSpPr>
            <p:nvPr/>
          </p:nvSpPr>
          <p:spPr bwMode="ltGray">
            <a:xfrm>
              <a:off x="0" y="336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5" name="Line 6"/>
            <p:cNvSpPr>
              <a:spLocks noChangeShapeType="1"/>
            </p:cNvSpPr>
            <p:nvPr/>
          </p:nvSpPr>
          <p:spPr bwMode="ltGray">
            <a:xfrm>
              <a:off x="0" y="528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6" name="Line 7"/>
            <p:cNvSpPr>
              <a:spLocks noChangeShapeType="1"/>
            </p:cNvSpPr>
            <p:nvPr/>
          </p:nvSpPr>
          <p:spPr bwMode="ltGray">
            <a:xfrm>
              <a:off x="0" y="720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7" name="Line 8"/>
            <p:cNvSpPr>
              <a:spLocks noChangeShapeType="1"/>
            </p:cNvSpPr>
            <p:nvPr/>
          </p:nvSpPr>
          <p:spPr bwMode="ltGray">
            <a:xfrm>
              <a:off x="0" y="912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8" name="Line 9"/>
            <p:cNvSpPr>
              <a:spLocks noChangeShapeType="1"/>
            </p:cNvSpPr>
            <p:nvPr/>
          </p:nvSpPr>
          <p:spPr bwMode="ltGray">
            <a:xfrm>
              <a:off x="0" y="1104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9" name="Line 10"/>
            <p:cNvSpPr>
              <a:spLocks noChangeShapeType="1"/>
            </p:cNvSpPr>
            <p:nvPr/>
          </p:nvSpPr>
          <p:spPr bwMode="ltGray">
            <a:xfrm>
              <a:off x="0" y="1296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0" name="Line 11"/>
            <p:cNvSpPr>
              <a:spLocks noChangeShapeType="1"/>
            </p:cNvSpPr>
            <p:nvPr/>
          </p:nvSpPr>
          <p:spPr bwMode="ltGray">
            <a:xfrm>
              <a:off x="0" y="1488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1" name="Line 12"/>
            <p:cNvSpPr>
              <a:spLocks noChangeShapeType="1"/>
            </p:cNvSpPr>
            <p:nvPr/>
          </p:nvSpPr>
          <p:spPr bwMode="ltGray">
            <a:xfrm>
              <a:off x="0" y="1680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2" name="Line 13"/>
            <p:cNvSpPr>
              <a:spLocks noChangeShapeType="1"/>
            </p:cNvSpPr>
            <p:nvPr/>
          </p:nvSpPr>
          <p:spPr bwMode="ltGray">
            <a:xfrm>
              <a:off x="0" y="1872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3" name="Line 14"/>
            <p:cNvSpPr>
              <a:spLocks noChangeShapeType="1"/>
            </p:cNvSpPr>
            <p:nvPr/>
          </p:nvSpPr>
          <p:spPr bwMode="ltGray">
            <a:xfrm>
              <a:off x="0" y="2064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4" name="Line 15"/>
            <p:cNvSpPr>
              <a:spLocks noChangeShapeType="1"/>
            </p:cNvSpPr>
            <p:nvPr/>
          </p:nvSpPr>
          <p:spPr bwMode="ltGray">
            <a:xfrm>
              <a:off x="0" y="2256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5" name="Line 16"/>
            <p:cNvSpPr>
              <a:spLocks noChangeShapeType="1"/>
            </p:cNvSpPr>
            <p:nvPr/>
          </p:nvSpPr>
          <p:spPr bwMode="ltGray">
            <a:xfrm>
              <a:off x="0" y="2448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6" name="Line 17"/>
            <p:cNvSpPr>
              <a:spLocks noChangeShapeType="1"/>
            </p:cNvSpPr>
            <p:nvPr/>
          </p:nvSpPr>
          <p:spPr bwMode="ltGray">
            <a:xfrm>
              <a:off x="0" y="2640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7" name="Line 18"/>
            <p:cNvSpPr>
              <a:spLocks noChangeShapeType="1"/>
            </p:cNvSpPr>
            <p:nvPr/>
          </p:nvSpPr>
          <p:spPr bwMode="ltGray">
            <a:xfrm>
              <a:off x="0" y="2832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8" name="Line 19"/>
            <p:cNvSpPr>
              <a:spLocks noChangeShapeType="1"/>
            </p:cNvSpPr>
            <p:nvPr/>
          </p:nvSpPr>
          <p:spPr bwMode="ltGray">
            <a:xfrm>
              <a:off x="0" y="3024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9" name="Line 20"/>
            <p:cNvSpPr>
              <a:spLocks noChangeShapeType="1"/>
            </p:cNvSpPr>
            <p:nvPr/>
          </p:nvSpPr>
          <p:spPr bwMode="ltGray">
            <a:xfrm>
              <a:off x="0" y="3216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0" name="Line 21"/>
            <p:cNvSpPr>
              <a:spLocks noChangeShapeType="1"/>
            </p:cNvSpPr>
            <p:nvPr/>
          </p:nvSpPr>
          <p:spPr bwMode="ltGray">
            <a:xfrm>
              <a:off x="0" y="3408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1" name="Line 22"/>
            <p:cNvSpPr>
              <a:spLocks noChangeShapeType="1"/>
            </p:cNvSpPr>
            <p:nvPr/>
          </p:nvSpPr>
          <p:spPr bwMode="ltGray">
            <a:xfrm>
              <a:off x="0" y="3600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2" name="Line 23"/>
            <p:cNvSpPr>
              <a:spLocks noChangeShapeType="1"/>
            </p:cNvSpPr>
            <p:nvPr/>
          </p:nvSpPr>
          <p:spPr bwMode="ltGray">
            <a:xfrm>
              <a:off x="0" y="3792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3" name="Line 24"/>
            <p:cNvSpPr>
              <a:spLocks noChangeShapeType="1"/>
            </p:cNvSpPr>
            <p:nvPr/>
          </p:nvSpPr>
          <p:spPr bwMode="ltGray">
            <a:xfrm>
              <a:off x="0" y="3984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4" name="Line 25"/>
            <p:cNvSpPr>
              <a:spLocks noChangeShapeType="1"/>
            </p:cNvSpPr>
            <p:nvPr/>
          </p:nvSpPr>
          <p:spPr bwMode="ltGray">
            <a:xfrm>
              <a:off x="0" y="4176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" name="Line 26"/>
            <p:cNvSpPr>
              <a:spLocks noChangeShapeType="1"/>
            </p:cNvSpPr>
            <p:nvPr/>
          </p:nvSpPr>
          <p:spPr bwMode="ltGray">
            <a:xfrm>
              <a:off x="14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6" name="Line 27"/>
            <p:cNvSpPr>
              <a:spLocks noChangeShapeType="1"/>
            </p:cNvSpPr>
            <p:nvPr/>
          </p:nvSpPr>
          <p:spPr bwMode="ltGray">
            <a:xfrm>
              <a:off x="33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7" name="Line 28"/>
            <p:cNvSpPr>
              <a:spLocks noChangeShapeType="1"/>
            </p:cNvSpPr>
            <p:nvPr/>
          </p:nvSpPr>
          <p:spPr bwMode="ltGray">
            <a:xfrm>
              <a:off x="52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8" name="Line 29"/>
            <p:cNvSpPr>
              <a:spLocks noChangeShapeType="1"/>
            </p:cNvSpPr>
            <p:nvPr/>
          </p:nvSpPr>
          <p:spPr bwMode="ltGray">
            <a:xfrm>
              <a:off x="72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9" name="Line 30"/>
            <p:cNvSpPr>
              <a:spLocks noChangeShapeType="1"/>
            </p:cNvSpPr>
            <p:nvPr/>
          </p:nvSpPr>
          <p:spPr bwMode="ltGray">
            <a:xfrm>
              <a:off x="91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0" name="Line 31"/>
            <p:cNvSpPr>
              <a:spLocks noChangeShapeType="1"/>
            </p:cNvSpPr>
            <p:nvPr/>
          </p:nvSpPr>
          <p:spPr bwMode="ltGray">
            <a:xfrm>
              <a:off x="110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1" name="Line 32"/>
            <p:cNvSpPr>
              <a:spLocks noChangeShapeType="1"/>
            </p:cNvSpPr>
            <p:nvPr/>
          </p:nvSpPr>
          <p:spPr bwMode="ltGray">
            <a:xfrm>
              <a:off x="129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2" name="Line 33"/>
            <p:cNvSpPr>
              <a:spLocks noChangeShapeType="1"/>
            </p:cNvSpPr>
            <p:nvPr/>
          </p:nvSpPr>
          <p:spPr bwMode="ltGray">
            <a:xfrm>
              <a:off x="148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3" name="Line 34"/>
            <p:cNvSpPr>
              <a:spLocks noChangeShapeType="1"/>
            </p:cNvSpPr>
            <p:nvPr/>
          </p:nvSpPr>
          <p:spPr bwMode="ltGray">
            <a:xfrm>
              <a:off x="168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4" name="Line 35"/>
            <p:cNvSpPr>
              <a:spLocks noChangeShapeType="1"/>
            </p:cNvSpPr>
            <p:nvPr/>
          </p:nvSpPr>
          <p:spPr bwMode="ltGray">
            <a:xfrm>
              <a:off x="187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5" name="Line 36"/>
            <p:cNvSpPr>
              <a:spLocks noChangeShapeType="1"/>
            </p:cNvSpPr>
            <p:nvPr/>
          </p:nvSpPr>
          <p:spPr bwMode="ltGray">
            <a:xfrm>
              <a:off x="206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6" name="Line 37"/>
            <p:cNvSpPr>
              <a:spLocks noChangeShapeType="1"/>
            </p:cNvSpPr>
            <p:nvPr/>
          </p:nvSpPr>
          <p:spPr bwMode="ltGray">
            <a:xfrm>
              <a:off x="225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7" name="Line 38"/>
            <p:cNvSpPr>
              <a:spLocks noChangeShapeType="1"/>
            </p:cNvSpPr>
            <p:nvPr/>
          </p:nvSpPr>
          <p:spPr bwMode="ltGray">
            <a:xfrm>
              <a:off x="244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8" name="Line 39"/>
            <p:cNvSpPr>
              <a:spLocks noChangeShapeType="1"/>
            </p:cNvSpPr>
            <p:nvPr/>
          </p:nvSpPr>
          <p:spPr bwMode="ltGray">
            <a:xfrm>
              <a:off x="264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9" name="Line 40"/>
            <p:cNvSpPr>
              <a:spLocks noChangeShapeType="1"/>
            </p:cNvSpPr>
            <p:nvPr/>
          </p:nvSpPr>
          <p:spPr bwMode="ltGray">
            <a:xfrm>
              <a:off x="283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0" name="Line 41"/>
            <p:cNvSpPr>
              <a:spLocks noChangeShapeType="1"/>
            </p:cNvSpPr>
            <p:nvPr/>
          </p:nvSpPr>
          <p:spPr bwMode="ltGray">
            <a:xfrm>
              <a:off x="302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1" name="Line 42"/>
            <p:cNvSpPr>
              <a:spLocks noChangeShapeType="1"/>
            </p:cNvSpPr>
            <p:nvPr/>
          </p:nvSpPr>
          <p:spPr bwMode="ltGray">
            <a:xfrm>
              <a:off x="321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2" name="Line 43"/>
            <p:cNvSpPr>
              <a:spLocks noChangeShapeType="1"/>
            </p:cNvSpPr>
            <p:nvPr/>
          </p:nvSpPr>
          <p:spPr bwMode="ltGray">
            <a:xfrm>
              <a:off x="340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3" name="Line 44"/>
            <p:cNvSpPr>
              <a:spLocks noChangeShapeType="1"/>
            </p:cNvSpPr>
            <p:nvPr/>
          </p:nvSpPr>
          <p:spPr bwMode="ltGray">
            <a:xfrm>
              <a:off x="360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4" name="Line 45"/>
            <p:cNvSpPr>
              <a:spLocks noChangeShapeType="1"/>
            </p:cNvSpPr>
            <p:nvPr/>
          </p:nvSpPr>
          <p:spPr bwMode="ltGray">
            <a:xfrm>
              <a:off x="379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5" name="Line 46"/>
            <p:cNvSpPr>
              <a:spLocks noChangeShapeType="1"/>
            </p:cNvSpPr>
            <p:nvPr/>
          </p:nvSpPr>
          <p:spPr bwMode="ltGray">
            <a:xfrm>
              <a:off x="398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6" name="Line 47"/>
            <p:cNvSpPr>
              <a:spLocks noChangeShapeType="1"/>
            </p:cNvSpPr>
            <p:nvPr/>
          </p:nvSpPr>
          <p:spPr bwMode="ltGray">
            <a:xfrm>
              <a:off x="417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7" name="Line 48"/>
            <p:cNvSpPr>
              <a:spLocks noChangeShapeType="1"/>
            </p:cNvSpPr>
            <p:nvPr/>
          </p:nvSpPr>
          <p:spPr bwMode="ltGray">
            <a:xfrm>
              <a:off x="436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8" name="Line 49"/>
            <p:cNvSpPr>
              <a:spLocks noChangeShapeType="1"/>
            </p:cNvSpPr>
            <p:nvPr/>
          </p:nvSpPr>
          <p:spPr bwMode="ltGray">
            <a:xfrm>
              <a:off x="456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9" name="Line 50"/>
            <p:cNvSpPr>
              <a:spLocks noChangeShapeType="1"/>
            </p:cNvSpPr>
            <p:nvPr/>
          </p:nvSpPr>
          <p:spPr bwMode="ltGray">
            <a:xfrm>
              <a:off x="475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0" name="Line 51"/>
            <p:cNvSpPr>
              <a:spLocks noChangeShapeType="1"/>
            </p:cNvSpPr>
            <p:nvPr/>
          </p:nvSpPr>
          <p:spPr bwMode="ltGray">
            <a:xfrm>
              <a:off x="494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1" name="Line 52"/>
            <p:cNvSpPr>
              <a:spLocks noChangeShapeType="1"/>
            </p:cNvSpPr>
            <p:nvPr/>
          </p:nvSpPr>
          <p:spPr bwMode="ltGray">
            <a:xfrm>
              <a:off x="513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2" name="Line 53"/>
            <p:cNvSpPr>
              <a:spLocks noChangeShapeType="1"/>
            </p:cNvSpPr>
            <p:nvPr/>
          </p:nvSpPr>
          <p:spPr bwMode="ltGray">
            <a:xfrm>
              <a:off x="532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3" name="Line 54"/>
            <p:cNvSpPr>
              <a:spLocks noChangeShapeType="1"/>
            </p:cNvSpPr>
            <p:nvPr/>
          </p:nvSpPr>
          <p:spPr bwMode="ltGray">
            <a:xfrm>
              <a:off x="552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4" name="Line 55"/>
            <p:cNvSpPr>
              <a:spLocks noChangeShapeType="1"/>
            </p:cNvSpPr>
            <p:nvPr/>
          </p:nvSpPr>
          <p:spPr bwMode="ltGray">
            <a:xfrm>
              <a:off x="571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185" y="6580584"/>
            <a:ext cx="310264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solidFill>
                  <a:schemeClr val="tx1"/>
                </a:solidFill>
                <a:latin typeface="ManiezzoSlides" pitchFamily="2" charset="0"/>
                <a:ea typeface="Microsoft YaHei" panose="020B0503020204020204" pitchFamily="34" charset="-122"/>
              </a:defRPr>
            </a:lvl1pPr>
          </a:lstStyle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56706" y="6588890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‹#›</a:t>
            </a:fld>
            <a:endParaRPr lang="it-IT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8907" y="1173916"/>
            <a:ext cx="8546175" cy="52593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8767" y="37278"/>
            <a:ext cx="8791195" cy="7667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081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002060"/>
          </a:solidFill>
          <a:latin typeface="AAchalk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800"/>
        </a:spcBef>
        <a:buClrTx/>
        <a:buFont typeface="Arial" panose="020B0604020202020204" pitchFamily="34" charset="0"/>
        <a:buNone/>
        <a:defRPr sz="2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48640" indent="-246888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0392" indent="-246888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152144" indent="-246888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453896" indent="-246888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755648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accent5"/>
        </a:buClr>
        <a:buFont typeface="Wingdings" panose="05000000000000000000" pitchFamily="2" charset="2"/>
        <a:buChar char="§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accent5"/>
        </a:buClr>
        <a:buFont typeface="Wingdings" panose="05000000000000000000" pitchFamily="2" charset="2"/>
        <a:buChar char="§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359152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accent5"/>
        </a:buClr>
        <a:buFont typeface="Wingdings" panose="05000000000000000000" pitchFamily="2" charset="2"/>
        <a:buChar char="§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660904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accent5"/>
        </a:buClr>
        <a:buFont typeface="Wingdings" panose="05000000000000000000" pitchFamily="2" charset="2"/>
        <a:buChar char="§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9AEB7D-37B2-2B36-9DAD-91ED247EAC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418" y="1365397"/>
            <a:ext cx="8014741" cy="2644694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4400" dirty="0"/>
              <a:t>Fore-and-Back for Changepoint Detection</a:t>
            </a:r>
            <a:endParaRPr lang="it-IT" sz="4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298ADB6-C24C-444C-3A3E-15DED536373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781039" y="5564083"/>
            <a:ext cx="3322029" cy="1202477"/>
          </a:xfrm>
        </p:spPr>
        <p:txBody>
          <a:bodyPr>
            <a:noAutofit/>
          </a:bodyPr>
          <a:lstStyle/>
          <a:p>
            <a:pPr algn="r" eaLnBrk="1" hangingPunct="1"/>
            <a:r>
              <a:rPr lang="it-IT" altLang="en-US" b="1" dirty="0">
                <a:latin typeface="ManiezzoSlides" pitchFamily="2" charset="0"/>
              </a:rPr>
              <a:t>Vittorio Maniezzo</a:t>
            </a:r>
          </a:p>
          <a:p>
            <a:pPr algn="r" eaLnBrk="1" hangingPunct="1"/>
            <a:r>
              <a:rPr lang="it-IT" altLang="en-US" b="1" dirty="0">
                <a:latin typeface="ManiezzoSlides" pitchFamily="2" charset="0"/>
              </a:rPr>
              <a:t>University of Bologna</a:t>
            </a:r>
          </a:p>
          <a:p>
            <a:pPr algn="r" eaLnBrk="1" hangingPunct="1"/>
            <a:r>
              <a:rPr lang="it-IT" altLang="en-US" b="1" dirty="0">
                <a:latin typeface="ManiezzoSlides" pitchFamily="2" charset="0"/>
              </a:rPr>
              <a:t>vittorio.maniezzo@unibo.it</a:t>
            </a:r>
          </a:p>
        </p:txBody>
      </p:sp>
      <p:grpSp>
        <p:nvGrpSpPr>
          <p:cNvPr id="4" name="linea">
            <a:extLst>
              <a:ext uri="{FF2B5EF4-FFF2-40B4-BE49-F238E27FC236}">
                <a16:creationId xmlns:a16="http://schemas.microsoft.com/office/drawing/2014/main" id="{145D9C24-497C-441E-A3D3-331D06145CEE}"/>
              </a:ext>
            </a:extLst>
          </p:cNvPr>
          <p:cNvGrpSpPr/>
          <p:nvPr/>
        </p:nvGrpSpPr>
        <p:grpSpPr bwMode="invGray">
          <a:xfrm>
            <a:off x="396442" y="4010091"/>
            <a:ext cx="7929246" cy="64008"/>
            <a:chOff x="1522413" y="1514475"/>
            <a:chExt cx="10569575" cy="64008"/>
          </a:xfrm>
          <a:solidFill>
            <a:schemeClr val="accent2">
              <a:lumMod val="75000"/>
            </a:schemeClr>
          </a:solidFill>
        </p:grpSpPr>
        <p:sp>
          <p:nvSpPr>
            <p:cNvPr id="5" name="Figura a mano libera 10">
              <a:extLst>
                <a:ext uri="{FF2B5EF4-FFF2-40B4-BE49-F238E27FC236}">
                  <a16:creationId xmlns:a16="http://schemas.microsoft.com/office/drawing/2014/main" id="{D322C151-15B2-4E6A-8094-123F558A996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" name="Figura a mano libera 11">
              <a:extLst>
                <a:ext uri="{FF2B5EF4-FFF2-40B4-BE49-F238E27FC236}">
                  <a16:creationId xmlns:a16="http://schemas.microsoft.com/office/drawing/2014/main" id="{864BCB5A-138C-4EED-A084-89B52A615D4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8" name="Figura a mano libera 12">
              <a:extLst>
                <a:ext uri="{FF2B5EF4-FFF2-40B4-BE49-F238E27FC236}">
                  <a16:creationId xmlns:a16="http://schemas.microsoft.com/office/drawing/2014/main" id="{FB2A8E7A-2A36-477F-9E96-ED0C634B29E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9" name="Figura a mano libera 15">
              <a:extLst>
                <a:ext uri="{FF2B5EF4-FFF2-40B4-BE49-F238E27FC236}">
                  <a16:creationId xmlns:a16="http://schemas.microsoft.com/office/drawing/2014/main" id="{C74CFF84-CFB4-41A8-8F02-59438256EAE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0" name="Figura a mano libera 16">
              <a:extLst>
                <a:ext uri="{FF2B5EF4-FFF2-40B4-BE49-F238E27FC236}">
                  <a16:creationId xmlns:a16="http://schemas.microsoft.com/office/drawing/2014/main" id="{A3152A92-80EA-4CDC-817E-50A54EFD3B0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1" name="Figura a mano libera 17">
              <a:extLst>
                <a:ext uri="{FF2B5EF4-FFF2-40B4-BE49-F238E27FC236}">
                  <a16:creationId xmlns:a16="http://schemas.microsoft.com/office/drawing/2014/main" id="{88F34E46-1712-4E73-94E1-F182E06A68AD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2" name="Figura a mano libera 18">
              <a:extLst>
                <a:ext uri="{FF2B5EF4-FFF2-40B4-BE49-F238E27FC236}">
                  <a16:creationId xmlns:a16="http://schemas.microsoft.com/office/drawing/2014/main" id="{F264C382-1F30-4D8E-91C6-1960D13A506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3" name="Figura a mano libera 19">
              <a:extLst>
                <a:ext uri="{FF2B5EF4-FFF2-40B4-BE49-F238E27FC236}">
                  <a16:creationId xmlns:a16="http://schemas.microsoft.com/office/drawing/2014/main" id="{25224C1B-2C6A-4F58-9835-5B6B0CD1CC3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4" name="Figura a mano libera 20">
              <a:extLst>
                <a:ext uri="{FF2B5EF4-FFF2-40B4-BE49-F238E27FC236}">
                  <a16:creationId xmlns:a16="http://schemas.microsoft.com/office/drawing/2014/main" id="{99F95225-B0B8-4637-A794-8E8501A384B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5" name="Figura a mano libera 21">
              <a:extLst>
                <a:ext uri="{FF2B5EF4-FFF2-40B4-BE49-F238E27FC236}">
                  <a16:creationId xmlns:a16="http://schemas.microsoft.com/office/drawing/2014/main" id="{6A8B5657-BCD0-40CB-B9EA-EC999E03901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6" name="Figura a mano libera 22">
              <a:extLst>
                <a:ext uri="{FF2B5EF4-FFF2-40B4-BE49-F238E27FC236}">
                  <a16:creationId xmlns:a16="http://schemas.microsoft.com/office/drawing/2014/main" id="{545CA83B-7C9E-455F-95E4-35B7A056215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7" name="Figura a mano libera 23">
              <a:extLst>
                <a:ext uri="{FF2B5EF4-FFF2-40B4-BE49-F238E27FC236}">
                  <a16:creationId xmlns:a16="http://schemas.microsoft.com/office/drawing/2014/main" id="{86FD7A18-3334-4362-960C-2A6FC5F67E7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8" name="Figura a mano libera 24">
              <a:extLst>
                <a:ext uri="{FF2B5EF4-FFF2-40B4-BE49-F238E27FC236}">
                  <a16:creationId xmlns:a16="http://schemas.microsoft.com/office/drawing/2014/main" id="{86B8D299-9339-4702-A83B-038392EA13D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9" name="Figura a mano libera 25">
              <a:extLst>
                <a:ext uri="{FF2B5EF4-FFF2-40B4-BE49-F238E27FC236}">
                  <a16:creationId xmlns:a16="http://schemas.microsoft.com/office/drawing/2014/main" id="{C05CDB97-4132-4059-8025-49A497CA92C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0" name="Figura a mano libera 26">
              <a:extLst>
                <a:ext uri="{FF2B5EF4-FFF2-40B4-BE49-F238E27FC236}">
                  <a16:creationId xmlns:a16="http://schemas.microsoft.com/office/drawing/2014/main" id="{1C100573-D882-4799-9BCF-5579DA8C826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1" name="Figura a mano libera 27">
              <a:extLst>
                <a:ext uri="{FF2B5EF4-FFF2-40B4-BE49-F238E27FC236}">
                  <a16:creationId xmlns:a16="http://schemas.microsoft.com/office/drawing/2014/main" id="{9F0FA0E2-2814-4DFA-B560-B92C2A0A467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2" name="Figura a mano libera 28">
              <a:extLst>
                <a:ext uri="{FF2B5EF4-FFF2-40B4-BE49-F238E27FC236}">
                  <a16:creationId xmlns:a16="http://schemas.microsoft.com/office/drawing/2014/main" id="{70B3B9A2-5543-4C1E-907D-7000782965D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3" name="Figura a mano libera 29">
              <a:extLst>
                <a:ext uri="{FF2B5EF4-FFF2-40B4-BE49-F238E27FC236}">
                  <a16:creationId xmlns:a16="http://schemas.microsoft.com/office/drawing/2014/main" id="{C795110E-FBDF-4C11-8FEC-7C8C79C3BE3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4" name="Figura a mano libera 30">
              <a:extLst>
                <a:ext uri="{FF2B5EF4-FFF2-40B4-BE49-F238E27FC236}">
                  <a16:creationId xmlns:a16="http://schemas.microsoft.com/office/drawing/2014/main" id="{C45300A0-C35F-4942-B14A-C4F8CE85F207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5" name="Figura a mano libera 31">
              <a:extLst>
                <a:ext uri="{FF2B5EF4-FFF2-40B4-BE49-F238E27FC236}">
                  <a16:creationId xmlns:a16="http://schemas.microsoft.com/office/drawing/2014/main" id="{427CC614-001E-4826-A460-64DB7D6A43A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6" name="Figura a mano libera 32">
              <a:extLst>
                <a:ext uri="{FF2B5EF4-FFF2-40B4-BE49-F238E27FC236}">
                  <a16:creationId xmlns:a16="http://schemas.microsoft.com/office/drawing/2014/main" id="{3CF50919-5802-4F73-A5FA-2F384C55EBF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7" name="Figura a mano libera 33">
              <a:extLst>
                <a:ext uri="{FF2B5EF4-FFF2-40B4-BE49-F238E27FC236}">
                  <a16:creationId xmlns:a16="http://schemas.microsoft.com/office/drawing/2014/main" id="{8881EC7A-6B0E-4240-B7DF-77E53A42028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8" name="Figura a mano libera 34">
              <a:extLst>
                <a:ext uri="{FF2B5EF4-FFF2-40B4-BE49-F238E27FC236}">
                  <a16:creationId xmlns:a16="http://schemas.microsoft.com/office/drawing/2014/main" id="{93ABCD5D-F355-4501-AED1-25C89C0E6F0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9" name="Figura a mano libera 35">
              <a:extLst>
                <a:ext uri="{FF2B5EF4-FFF2-40B4-BE49-F238E27FC236}">
                  <a16:creationId xmlns:a16="http://schemas.microsoft.com/office/drawing/2014/main" id="{BBDCC998-4230-4F20-A2E5-37A005478F5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0" name="Figura a mano libera 36">
              <a:extLst>
                <a:ext uri="{FF2B5EF4-FFF2-40B4-BE49-F238E27FC236}">
                  <a16:creationId xmlns:a16="http://schemas.microsoft.com/office/drawing/2014/main" id="{92055003-E365-4C48-93BD-F68C52CA3F4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1" name="Figura a mano libera 37">
              <a:extLst>
                <a:ext uri="{FF2B5EF4-FFF2-40B4-BE49-F238E27FC236}">
                  <a16:creationId xmlns:a16="http://schemas.microsoft.com/office/drawing/2014/main" id="{864C159D-529A-4F18-A058-26F591C4E7C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2" name="Figura a mano libera 38">
              <a:extLst>
                <a:ext uri="{FF2B5EF4-FFF2-40B4-BE49-F238E27FC236}">
                  <a16:creationId xmlns:a16="http://schemas.microsoft.com/office/drawing/2014/main" id="{33D095F8-861D-466C-AE50-D8A2AAF2962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3" name="Figura a mano libera 39">
              <a:extLst>
                <a:ext uri="{FF2B5EF4-FFF2-40B4-BE49-F238E27FC236}">
                  <a16:creationId xmlns:a16="http://schemas.microsoft.com/office/drawing/2014/main" id="{1693B8CA-5F2C-4D68-B258-F2060C0AA67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4" name="Figura a mano libera 40">
              <a:extLst>
                <a:ext uri="{FF2B5EF4-FFF2-40B4-BE49-F238E27FC236}">
                  <a16:creationId xmlns:a16="http://schemas.microsoft.com/office/drawing/2014/main" id="{CF4CB899-72F1-471A-8827-C76CB3020AB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5" name="Figura a mano libera 41">
              <a:extLst>
                <a:ext uri="{FF2B5EF4-FFF2-40B4-BE49-F238E27FC236}">
                  <a16:creationId xmlns:a16="http://schemas.microsoft.com/office/drawing/2014/main" id="{ABB2800F-1B33-4062-A71E-4B610D89773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6" name="Figura a mano libera 42">
              <a:extLst>
                <a:ext uri="{FF2B5EF4-FFF2-40B4-BE49-F238E27FC236}">
                  <a16:creationId xmlns:a16="http://schemas.microsoft.com/office/drawing/2014/main" id="{6FFF9AA6-E7FC-4312-AD92-8C6E8AB5FAA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7" name="Figura a mano libera 43">
              <a:extLst>
                <a:ext uri="{FF2B5EF4-FFF2-40B4-BE49-F238E27FC236}">
                  <a16:creationId xmlns:a16="http://schemas.microsoft.com/office/drawing/2014/main" id="{7654282E-411D-47A4-BEDD-F1D36963D61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8" name="Figura a mano libera 44">
              <a:extLst>
                <a:ext uri="{FF2B5EF4-FFF2-40B4-BE49-F238E27FC236}">
                  <a16:creationId xmlns:a16="http://schemas.microsoft.com/office/drawing/2014/main" id="{BB64D69C-CAE2-4922-A4AF-662CF5AB179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9" name="Figura a mano libera 45">
              <a:extLst>
                <a:ext uri="{FF2B5EF4-FFF2-40B4-BE49-F238E27FC236}">
                  <a16:creationId xmlns:a16="http://schemas.microsoft.com/office/drawing/2014/main" id="{2ED80A6D-4378-441A-B270-796047A1C38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0" name="Figura a mano libera 46">
              <a:extLst>
                <a:ext uri="{FF2B5EF4-FFF2-40B4-BE49-F238E27FC236}">
                  <a16:creationId xmlns:a16="http://schemas.microsoft.com/office/drawing/2014/main" id="{0A86051E-8AAA-439F-B366-AEE843A3C1C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1" name="Figura a mano libera 47">
              <a:extLst>
                <a:ext uri="{FF2B5EF4-FFF2-40B4-BE49-F238E27FC236}">
                  <a16:creationId xmlns:a16="http://schemas.microsoft.com/office/drawing/2014/main" id="{6571B322-E3F3-42C3-AF20-854FF13493BD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2" name="Figura a mano libera 48">
              <a:extLst>
                <a:ext uri="{FF2B5EF4-FFF2-40B4-BE49-F238E27FC236}">
                  <a16:creationId xmlns:a16="http://schemas.microsoft.com/office/drawing/2014/main" id="{C9C5DBCF-AD15-4C4B-8582-BCD483745B3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3" name="Figura a mano libera 49">
              <a:extLst>
                <a:ext uri="{FF2B5EF4-FFF2-40B4-BE49-F238E27FC236}">
                  <a16:creationId xmlns:a16="http://schemas.microsoft.com/office/drawing/2014/main" id="{B023E1B3-F129-43D8-8F04-43AFFDEC2A6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4" name="Figura a mano libera 50">
              <a:extLst>
                <a:ext uri="{FF2B5EF4-FFF2-40B4-BE49-F238E27FC236}">
                  <a16:creationId xmlns:a16="http://schemas.microsoft.com/office/drawing/2014/main" id="{A44BE531-DC1E-4791-8B3F-FF2586CC777D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5" name="Figura a mano libera 51">
              <a:extLst>
                <a:ext uri="{FF2B5EF4-FFF2-40B4-BE49-F238E27FC236}">
                  <a16:creationId xmlns:a16="http://schemas.microsoft.com/office/drawing/2014/main" id="{030105FD-9954-400B-90B6-3871CC4198C3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6" name="Figura a mano libera 52">
              <a:extLst>
                <a:ext uri="{FF2B5EF4-FFF2-40B4-BE49-F238E27FC236}">
                  <a16:creationId xmlns:a16="http://schemas.microsoft.com/office/drawing/2014/main" id="{7B8EB148-CE8F-4E9D-B4EC-7333FD91002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7" name="Figura a mano libera 53">
              <a:extLst>
                <a:ext uri="{FF2B5EF4-FFF2-40B4-BE49-F238E27FC236}">
                  <a16:creationId xmlns:a16="http://schemas.microsoft.com/office/drawing/2014/main" id="{AC05E91E-9EFF-47D7-A34E-F698DD9BCD1D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8" name="Figura a mano libera 54">
              <a:extLst>
                <a:ext uri="{FF2B5EF4-FFF2-40B4-BE49-F238E27FC236}">
                  <a16:creationId xmlns:a16="http://schemas.microsoft.com/office/drawing/2014/main" id="{96F1C184-5F65-4577-B1DD-2B765CD6F1CD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9" name="Figura a mano libera 55">
              <a:extLst>
                <a:ext uri="{FF2B5EF4-FFF2-40B4-BE49-F238E27FC236}">
                  <a16:creationId xmlns:a16="http://schemas.microsoft.com/office/drawing/2014/main" id="{4D5BFD5E-869B-4D2A-8398-725D90A20983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0" name="Figura a mano libera 56">
              <a:extLst>
                <a:ext uri="{FF2B5EF4-FFF2-40B4-BE49-F238E27FC236}">
                  <a16:creationId xmlns:a16="http://schemas.microsoft.com/office/drawing/2014/main" id="{AAD56FE7-6ADD-4C7B-BE6D-7A50412884C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1" name="Figura a mano libera 57">
              <a:extLst>
                <a:ext uri="{FF2B5EF4-FFF2-40B4-BE49-F238E27FC236}">
                  <a16:creationId xmlns:a16="http://schemas.microsoft.com/office/drawing/2014/main" id="{73FACDAE-D56F-4FE6-B31D-DC3A79D6D87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2" name="Figura a mano libera 58">
              <a:extLst>
                <a:ext uri="{FF2B5EF4-FFF2-40B4-BE49-F238E27FC236}">
                  <a16:creationId xmlns:a16="http://schemas.microsoft.com/office/drawing/2014/main" id="{D94284AE-85BE-444E-B622-FF37C8A914F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3" name="Figura a mano libera 59">
              <a:extLst>
                <a:ext uri="{FF2B5EF4-FFF2-40B4-BE49-F238E27FC236}">
                  <a16:creationId xmlns:a16="http://schemas.microsoft.com/office/drawing/2014/main" id="{98AAEA7A-F3F7-40C4-A2D6-4F82B7636AE3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4" name="Figura a mano libera 60">
              <a:extLst>
                <a:ext uri="{FF2B5EF4-FFF2-40B4-BE49-F238E27FC236}">
                  <a16:creationId xmlns:a16="http://schemas.microsoft.com/office/drawing/2014/main" id="{AF51A35D-2FBA-4046-98B3-E208CF4C32F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5" name="Figura a mano libera 61">
              <a:extLst>
                <a:ext uri="{FF2B5EF4-FFF2-40B4-BE49-F238E27FC236}">
                  <a16:creationId xmlns:a16="http://schemas.microsoft.com/office/drawing/2014/main" id="{FFBEF6AF-DFC2-43C9-9F26-2A510F6F2A3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6" name="Figura a mano libera 62">
              <a:extLst>
                <a:ext uri="{FF2B5EF4-FFF2-40B4-BE49-F238E27FC236}">
                  <a16:creationId xmlns:a16="http://schemas.microsoft.com/office/drawing/2014/main" id="{8D649C56-0573-4634-AA61-E940650D8B99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7" name="Figura a mano libera 63">
              <a:extLst>
                <a:ext uri="{FF2B5EF4-FFF2-40B4-BE49-F238E27FC236}">
                  <a16:creationId xmlns:a16="http://schemas.microsoft.com/office/drawing/2014/main" id="{6C083D07-F662-4B88-A7AD-D2A3001A7A0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8" name="Figura a mano libera 64">
              <a:extLst>
                <a:ext uri="{FF2B5EF4-FFF2-40B4-BE49-F238E27FC236}">
                  <a16:creationId xmlns:a16="http://schemas.microsoft.com/office/drawing/2014/main" id="{52719EEC-4A5A-4B27-AF60-54D11F4CC9C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9" name="Figura a mano libera 65">
              <a:extLst>
                <a:ext uri="{FF2B5EF4-FFF2-40B4-BE49-F238E27FC236}">
                  <a16:creationId xmlns:a16="http://schemas.microsoft.com/office/drawing/2014/main" id="{497702AA-B85C-43F5-8191-1EE8B9EB392D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0" name="Figura a mano libera 66">
              <a:extLst>
                <a:ext uri="{FF2B5EF4-FFF2-40B4-BE49-F238E27FC236}">
                  <a16:creationId xmlns:a16="http://schemas.microsoft.com/office/drawing/2014/main" id="{DC6FAF18-E30C-4311-80B3-BA1CB010124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1" name="Figura a mano libera 67">
              <a:extLst>
                <a:ext uri="{FF2B5EF4-FFF2-40B4-BE49-F238E27FC236}">
                  <a16:creationId xmlns:a16="http://schemas.microsoft.com/office/drawing/2014/main" id="{9B06496D-42D9-4B23-AA94-0DF6F47EAB75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2" name="Figura a mano libera 68">
              <a:extLst>
                <a:ext uri="{FF2B5EF4-FFF2-40B4-BE49-F238E27FC236}">
                  <a16:creationId xmlns:a16="http://schemas.microsoft.com/office/drawing/2014/main" id="{4E23B2FC-7FDB-492C-97FE-8D6CC5FCD28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3" name="Figura a mano libera 69">
              <a:extLst>
                <a:ext uri="{FF2B5EF4-FFF2-40B4-BE49-F238E27FC236}">
                  <a16:creationId xmlns:a16="http://schemas.microsoft.com/office/drawing/2014/main" id="{9DEDC81D-E949-4266-9944-35BFA0DB6957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4" name="Figura a mano libera 70">
              <a:extLst>
                <a:ext uri="{FF2B5EF4-FFF2-40B4-BE49-F238E27FC236}">
                  <a16:creationId xmlns:a16="http://schemas.microsoft.com/office/drawing/2014/main" id="{0FE9C02B-9BE5-4C0A-AB91-626F2E7C379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5" name="Figura a mano libera 71">
              <a:extLst>
                <a:ext uri="{FF2B5EF4-FFF2-40B4-BE49-F238E27FC236}">
                  <a16:creationId xmlns:a16="http://schemas.microsoft.com/office/drawing/2014/main" id="{106CEB60-669D-4F08-B9A7-2E4D35D8EAF8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6" name="Figura a mano libera 72">
              <a:extLst>
                <a:ext uri="{FF2B5EF4-FFF2-40B4-BE49-F238E27FC236}">
                  <a16:creationId xmlns:a16="http://schemas.microsoft.com/office/drawing/2014/main" id="{B8238780-CAD2-4991-B1A3-F3AF2ECA47C3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7" name="Figura a mano libera 73">
              <a:extLst>
                <a:ext uri="{FF2B5EF4-FFF2-40B4-BE49-F238E27FC236}">
                  <a16:creationId xmlns:a16="http://schemas.microsoft.com/office/drawing/2014/main" id="{DF31B18A-1226-49FC-B8F3-A71F6F7B5D2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8" name="Figura a mano libera 74">
              <a:extLst>
                <a:ext uri="{FF2B5EF4-FFF2-40B4-BE49-F238E27FC236}">
                  <a16:creationId xmlns:a16="http://schemas.microsoft.com/office/drawing/2014/main" id="{FDF82FA3-3896-4FCB-981C-E596BA9FE1F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9" name="Figura a mano libera 75">
              <a:extLst>
                <a:ext uri="{FF2B5EF4-FFF2-40B4-BE49-F238E27FC236}">
                  <a16:creationId xmlns:a16="http://schemas.microsoft.com/office/drawing/2014/main" id="{97343E89-E6C3-4C21-BBA6-3CE199E9530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0" name="Figura a mano libera 76">
              <a:extLst>
                <a:ext uri="{FF2B5EF4-FFF2-40B4-BE49-F238E27FC236}">
                  <a16:creationId xmlns:a16="http://schemas.microsoft.com/office/drawing/2014/main" id="{5E10BDFB-3013-4973-BB77-F7EB4C9D81E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1" name="Figura a mano libera 77">
              <a:extLst>
                <a:ext uri="{FF2B5EF4-FFF2-40B4-BE49-F238E27FC236}">
                  <a16:creationId xmlns:a16="http://schemas.microsoft.com/office/drawing/2014/main" id="{654753FC-11FF-4DFC-8341-C03E5B7D08C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2" name="Figura a mano libera 78">
              <a:extLst>
                <a:ext uri="{FF2B5EF4-FFF2-40B4-BE49-F238E27FC236}">
                  <a16:creationId xmlns:a16="http://schemas.microsoft.com/office/drawing/2014/main" id="{5B3789F8-AD2E-4DB4-A477-90E2D90CB74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3" name="Figura a mano libera 79">
              <a:extLst>
                <a:ext uri="{FF2B5EF4-FFF2-40B4-BE49-F238E27FC236}">
                  <a16:creationId xmlns:a16="http://schemas.microsoft.com/office/drawing/2014/main" id="{D9D37BE8-9EA6-41C6-BABD-6A1865E68E8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4" name="Figura a mano libera 80">
              <a:extLst>
                <a:ext uri="{FF2B5EF4-FFF2-40B4-BE49-F238E27FC236}">
                  <a16:creationId xmlns:a16="http://schemas.microsoft.com/office/drawing/2014/main" id="{97368B78-3BC7-4D1C-8BE1-803E4A1D6327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5" name="Figura a mano libera 81">
              <a:extLst>
                <a:ext uri="{FF2B5EF4-FFF2-40B4-BE49-F238E27FC236}">
                  <a16:creationId xmlns:a16="http://schemas.microsoft.com/office/drawing/2014/main" id="{CD5DEB82-90EE-4B03-9557-B57E844C1C8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6" name="Figura a mano libera 82">
              <a:extLst>
                <a:ext uri="{FF2B5EF4-FFF2-40B4-BE49-F238E27FC236}">
                  <a16:creationId xmlns:a16="http://schemas.microsoft.com/office/drawing/2014/main" id="{9CAA0EB0-2610-4A85-ABBA-BA80571DF297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7" name="Figura a mano libera 83">
              <a:extLst>
                <a:ext uri="{FF2B5EF4-FFF2-40B4-BE49-F238E27FC236}">
                  <a16:creationId xmlns:a16="http://schemas.microsoft.com/office/drawing/2014/main" id="{955C439C-F3A0-4AF9-BD5D-73ABEB989A0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8" name="Figura a mano libera 84">
              <a:extLst>
                <a:ext uri="{FF2B5EF4-FFF2-40B4-BE49-F238E27FC236}">
                  <a16:creationId xmlns:a16="http://schemas.microsoft.com/office/drawing/2014/main" id="{E7DDF141-6537-4E0D-BF78-43F86805699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9" name="Figura a mano libera 85">
              <a:extLst>
                <a:ext uri="{FF2B5EF4-FFF2-40B4-BE49-F238E27FC236}">
                  <a16:creationId xmlns:a16="http://schemas.microsoft.com/office/drawing/2014/main" id="{789A3C03-E670-4FC6-AC2C-871A522A8528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9857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9D94A-411D-49D2-93C8-DE6206F8F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2</a:t>
            </a:fld>
            <a:endParaRPr lang="it-IT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CBA538B-C756-4EC0-87B0-9AFA748B6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LION-1, </a:t>
            </a:r>
            <a:r>
              <a:rPr lang="en-US" dirty="0" err="1"/>
              <a:t>Andalo</a:t>
            </a:r>
            <a:r>
              <a:rPr lang="en-US" dirty="0"/>
              <a:t>, 2007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C2DD2E-5050-4900-AD8A-9C6A3FB84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29C4B8-72AD-4EDD-B2C5-00E8B3B1E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480" y="1015365"/>
            <a:ext cx="7061200" cy="551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816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9C0EB8-C386-D1C7-1D4C-FA04D466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3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8C4D4D-77B9-328C-739B-8748FC666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intuition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86DD5D-54EE-282D-56F2-466927E6EE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5CDE3B9-C618-DE42-31B9-38BD02419823}"/>
              </a:ext>
            </a:extLst>
          </p:cNvPr>
          <p:cNvCxnSpPr/>
          <p:nvPr/>
        </p:nvCxnSpPr>
        <p:spPr>
          <a:xfrm flipV="1">
            <a:off x="1406766" y="1274881"/>
            <a:ext cx="0" cy="457200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54DD902-9380-E0C6-39A7-6C480157E9E7}"/>
              </a:ext>
            </a:extLst>
          </p:cNvPr>
          <p:cNvCxnSpPr>
            <a:cxnSpLocks/>
          </p:cNvCxnSpPr>
          <p:nvPr/>
        </p:nvCxnSpPr>
        <p:spPr>
          <a:xfrm flipV="1">
            <a:off x="1406766" y="5776543"/>
            <a:ext cx="6433039" cy="73269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Free-form: Shape 8">
            <a:extLst>
              <a:ext uri="{FF2B5EF4-FFF2-40B4-BE49-F238E27FC236}">
                <a16:creationId xmlns:a16="http://schemas.microsoft.com/office/drawing/2014/main" id="{2C96862C-1702-9C6C-53C2-F6CC900E94E2}"/>
              </a:ext>
            </a:extLst>
          </p:cNvPr>
          <p:cNvSpPr/>
          <p:nvPr/>
        </p:nvSpPr>
        <p:spPr>
          <a:xfrm>
            <a:off x="1389182" y="1644158"/>
            <a:ext cx="5785338" cy="4193931"/>
          </a:xfrm>
          <a:custGeom>
            <a:avLst/>
            <a:gdLst>
              <a:gd name="connsiteX0" fmla="*/ 0 w 5785338"/>
              <a:gd name="connsiteY0" fmla="*/ 4193931 h 4193931"/>
              <a:gd name="connsiteX1" fmla="*/ 1890346 w 5785338"/>
              <a:gd name="connsiteY1" fmla="*/ 4018085 h 4193931"/>
              <a:gd name="connsiteX2" fmla="*/ 4106007 w 5785338"/>
              <a:gd name="connsiteY2" fmla="*/ 3165231 h 4193931"/>
              <a:gd name="connsiteX3" fmla="*/ 5785338 w 5785338"/>
              <a:gd name="connsiteY3" fmla="*/ 0 h 4193931"/>
              <a:gd name="connsiteX4" fmla="*/ 5785338 w 5785338"/>
              <a:gd name="connsiteY4" fmla="*/ 0 h 4193931"/>
              <a:gd name="connsiteX0" fmla="*/ 0 w 5785338"/>
              <a:gd name="connsiteY0" fmla="*/ 4193931 h 4194013"/>
              <a:gd name="connsiteX1" fmla="*/ 1943100 w 5785338"/>
              <a:gd name="connsiteY1" fmla="*/ 4044462 h 4194013"/>
              <a:gd name="connsiteX2" fmla="*/ 4106007 w 5785338"/>
              <a:gd name="connsiteY2" fmla="*/ 3165231 h 4194013"/>
              <a:gd name="connsiteX3" fmla="*/ 5785338 w 5785338"/>
              <a:gd name="connsiteY3" fmla="*/ 0 h 4194013"/>
              <a:gd name="connsiteX4" fmla="*/ 5785338 w 5785338"/>
              <a:gd name="connsiteY4" fmla="*/ 0 h 4194013"/>
              <a:gd name="connsiteX0" fmla="*/ 0 w 5785338"/>
              <a:gd name="connsiteY0" fmla="*/ 4193931 h 4193931"/>
              <a:gd name="connsiteX1" fmla="*/ 1943100 w 5785338"/>
              <a:gd name="connsiteY1" fmla="*/ 4044462 h 4193931"/>
              <a:gd name="connsiteX2" fmla="*/ 4106007 w 5785338"/>
              <a:gd name="connsiteY2" fmla="*/ 3165231 h 4193931"/>
              <a:gd name="connsiteX3" fmla="*/ 5785338 w 5785338"/>
              <a:gd name="connsiteY3" fmla="*/ 0 h 4193931"/>
              <a:gd name="connsiteX4" fmla="*/ 5785338 w 5785338"/>
              <a:gd name="connsiteY4" fmla="*/ 0 h 4193931"/>
              <a:gd name="connsiteX0" fmla="*/ 0 w 5785338"/>
              <a:gd name="connsiteY0" fmla="*/ 4193931 h 4195896"/>
              <a:gd name="connsiteX1" fmla="*/ 1943100 w 5785338"/>
              <a:gd name="connsiteY1" fmla="*/ 4044462 h 4195896"/>
              <a:gd name="connsiteX2" fmla="*/ 4088423 w 5785338"/>
              <a:gd name="connsiteY2" fmla="*/ 3077308 h 4195896"/>
              <a:gd name="connsiteX3" fmla="*/ 5785338 w 5785338"/>
              <a:gd name="connsiteY3" fmla="*/ 0 h 4195896"/>
              <a:gd name="connsiteX4" fmla="*/ 5785338 w 5785338"/>
              <a:gd name="connsiteY4" fmla="*/ 0 h 4195896"/>
              <a:gd name="connsiteX0" fmla="*/ 0 w 5785338"/>
              <a:gd name="connsiteY0" fmla="*/ 4193931 h 4193931"/>
              <a:gd name="connsiteX1" fmla="*/ 1943100 w 5785338"/>
              <a:gd name="connsiteY1" fmla="*/ 4044462 h 4193931"/>
              <a:gd name="connsiteX2" fmla="*/ 4088423 w 5785338"/>
              <a:gd name="connsiteY2" fmla="*/ 3077308 h 4193931"/>
              <a:gd name="connsiteX3" fmla="*/ 5785338 w 5785338"/>
              <a:gd name="connsiteY3" fmla="*/ 0 h 4193931"/>
              <a:gd name="connsiteX4" fmla="*/ 5785338 w 5785338"/>
              <a:gd name="connsiteY4" fmla="*/ 0 h 4193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5338" h="4193931">
                <a:moveTo>
                  <a:pt x="0" y="4193931"/>
                </a:moveTo>
                <a:cubicBezTo>
                  <a:pt x="603006" y="4191733"/>
                  <a:pt x="1288073" y="4195397"/>
                  <a:pt x="1943100" y="4044462"/>
                </a:cubicBezTo>
                <a:cubicBezTo>
                  <a:pt x="2598127" y="3893527"/>
                  <a:pt x="3448050" y="3751385"/>
                  <a:pt x="4088423" y="3077308"/>
                </a:cubicBezTo>
                <a:cubicBezTo>
                  <a:pt x="4728796" y="2403231"/>
                  <a:pt x="5785338" y="0"/>
                  <a:pt x="5785338" y="0"/>
                </a:cubicBezTo>
                <a:lnTo>
                  <a:pt x="5785338" y="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-form: Shape 9">
            <a:extLst>
              <a:ext uri="{FF2B5EF4-FFF2-40B4-BE49-F238E27FC236}">
                <a16:creationId xmlns:a16="http://schemas.microsoft.com/office/drawing/2014/main" id="{CFDF18E2-B28D-5F36-E1F4-FFC497EE74E9}"/>
              </a:ext>
            </a:extLst>
          </p:cNvPr>
          <p:cNvSpPr/>
          <p:nvPr/>
        </p:nvSpPr>
        <p:spPr>
          <a:xfrm flipH="1">
            <a:off x="1418490" y="1603129"/>
            <a:ext cx="5785338" cy="4193931"/>
          </a:xfrm>
          <a:custGeom>
            <a:avLst/>
            <a:gdLst>
              <a:gd name="connsiteX0" fmla="*/ 0 w 5785338"/>
              <a:gd name="connsiteY0" fmla="*/ 4193931 h 4193931"/>
              <a:gd name="connsiteX1" fmla="*/ 1890346 w 5785338"/>
              <a:gd name="connsiteY1" fmla="*/ 4018085 h 4193931"/>
              <a:gd name="connsiteX2" fmla="*/ 4106007 w 5785338"/>
              <a:gd name="connsiteY2" fmla="*/ 3165231 h 4193931"/>
              <a:gd name="connsiteX3" fmla="*/ 5785338 w 5785338"/>
              <a:gd name="connsiteY3" fmla="*/ 0 h 4193931"/>
              <a:gd name="connsiteX4" fmla="*/ 5785338 w 5785338"/>
              <a:gd name="connsiteY4" fmla="*/ 0 h 4193931"/>
              <a:gd name="connsiteX0" fmla="*/ 0 w 5785338"/>
              <a:gd name="connsiteY0" fmla="*/ 4193931 h 4194013"/>
              <a:gd name="connsiteX1" fmla="*/ 1943100 w 5785338"/>
              <a:gd name="connsiteY1" fmla="*/ 4044462 h 4194013"/>
              <a:gd name="connsiteX2" fmla="*/ 4106007 w 5785338"/>
              <a:gd name="connsiteY2" fmla="*/ 3165231 h 4194013"/>
              <a:gd name="connsiteX3" fmla="*/ 5785338 w 5785338"/>
              <a:gd name="connsiteY3" fmla="*/ 0 h 4194013"/>
              <a:gd name="connsiteX4" fmla="*/ 5785338 w 5785338"/>
              <a:gd name="connsiteY4" fmla="*/ 0 h 4194013"/>
              <a:gd name="connsiteX0" fmla="*/ 0 w 5785338"/>
              <a:gd name="connsiteY0" fmla="*/ 4193931 h 4193931"/>
              <a:gd name="connsiteX1" fmla="*/ 1943100 w 5785338"/>
              <a:gd name="connsiteY1" fmla="*/ 4044462 h 4193931"/>
              <a:gd name="connsiteX2" fmla="*/ 4106007 w 5785338"/>
              <a:gd name="connsiteY2" fmla="*/ 3165231 h 4193931"/>
              <a:gd name="connsiteX3" fmla="*/ 5785338 w 5785338"/>
              <a:gd name="connsiteY3" fmla="*/ 0 h 4193931"/>
              <a:gd name="connsiteX4" fmla="*/ 5785338 w 5785338"/>
              <a:gd name="connsiteY4" fmla="*/ 0 h 4193931"/>
              <a:gd name="connsiteX0" fmla="*/ 0 w 5785338"/>
              <a:gd name="connsiteY0" fmla="*/ 4193931 h 4195896"/>
              <a:gd name="connsiteX1" fmla="*/ 1943100 w 5785338"/>
              <a:gd name="connsiteY1" fmla="*/ 4044462 h 4195896"/>
              <a:gd name="connsiteX2" fmla="*/ 4088423 w 5785338"/>
              <a:gd name="connsiteY2" fmla="*/ 3077308 h 4195896"/>
              <a:gd name="connsiteX3" fmla="*/ 5785338 w 5785338"/>
              <a:gd name="connsiteY3" fmla="*/ 0 h 4195896"/>
              <a:gd name="connsiteX4" fmla="*/ 5785338 w 5785338"/>
              <a:gd name="connsiteY4" fmla="*/ 0 h 4195896"/>
              <a:gd name="connsiteX0" fmla="*/ 0 w 5785338"/>
              <a:gd name="connsiteY0" fmla="*/ 4193931 h 4193931"/>
              <a:gd name="connsiteX1" fmla="*/ 1943100 w 5785338"/>
              <a:gd name="connsiteY1" fmla="*/ 4044462 h 4193931"/>
              <a:gd name="connsiteX2" fmla="*/ 4088423 w 5785338"/>
              <a:gd name="connsiteY2" fmla="*/ 3077308 h 4193931"/>
              <a:gd name="connsiteX3" fmla="*/ 5785338 w 5785338"/>
              <a:gd name="connsiteY3" fmla="*/ 0 h 4193931"/>
              <a:gd name="connsiteX4" fmla="*/ 5785338 w 5785338"/>
              <a:gd name="connsiteY4" fmla="*/ 0 h 4193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5338" h="4193931">
                <a:moveTo>
                  <a:pt x="0" y="4193931"/>
                </a:moveTo>
                <a:cubicBezTo>
                  <a:pt x="603006" y="4191733"/>
                  <a:pt x="1288073" y="4195397"/>
                  <a:pt x="1943100" y="4044462"/>
                </a:cubicBezTo>
                <a:cubicBezTo>
                  <a:pt x="2598127" y="3893527"/>
                  <a:pt x="3448050" y="3751385"/>
                  <a:pt x="4088423" y="3077308"/>
                </a:cubicBezTo>
                <a:cubicBezTo>
                  <a:pt x="4728796" y="2403231"/>
                  <a:pt x="5785338" y="0"/>
                  <a:pt x="5785338" y="0"/>
                </a:cubicBezTo>
                <a:lnTo>
                  <a:pt x="5785338" y="0"/>
                </a:ln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6533B69-3A2A-040F-E242-90B5462E0E23}"/>
              </a:ext>
            </a:extLst>
          </p:cNvPr>
          <p:cNvCxnSpPr>
            <a:cxnSpLocks/>
          </p:cNvCxnSpPr>
          <p:nvPr/>
        </p:nvCxnSpPr>
        <p:spPr>
          <a:xfrm>
            <a:off x="4363911" y="5398474"/>
            <a:ext cx="0" cy="439615"/>
          </a:xfrm>
          <a:prstGeom prst="line">
            <a:avLst/>
          </a:prstGeom>
          <a:ln w="762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45B568A-1936-F0A5-9566-02900FDC49F2}"/>
              </a:ext>
            </a:extLst>
          </p:cNvPr>
          <p:cNvSpPr txBox="1"/>
          <p:nvPr/>
        </p:nvSpPr>
        <p:spPr>
          <a:xfrm>
            <a:off x="1012600" y="1274881"/>
            <a:ext cx="316514" cy="422031"/>
          </a:xfrm>
          <a:prstGeom prst="rect">
            <a:avLst/>
          </a:prstGeom>
          <a:noFill/>
          <a:ln>
            <a:noFill/>
          </a:ln>
        </p:spPr>
        <p:txBody>
          <a:bodyPr wrap="none" rtlCol="0" anchor="t" anchorCtr="0">
            <a:noAutofit/>
          </a:bodyPr>
          <a:lstStyle/>
          <a:p>
            <a:r>
              <a:rPr lang="it-IT" sz="2400" i="1" dirty="0">
                <a:latin typeface="Cambria" panose="02040503050406030204" pitchFamily="18" charset="0"/>
                <a:ea typeface="Cambria" panose="02040503050406030204" pitchFamily="18" charset="0"/>
              </a:rPr>
              <a:t>z</a:t>
            </a:r>
            <a:endParaRPr lang="en-US" sz="2400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F46041-57C9-0F87-A154-1894E5DEB478}"/>
              </a:ext>
            </a:extLst>
          </p:cNvPr>
          <p:cNvSpPr txBox="1"/>
          <p:nvPr/>
        </p:nvSpPr>
        <p:spPr>
          <a:xfrm>
            <a:off x="7452958" y="5762410"/>
            <a:ext cx="316514" cy="422031"/>
          </a:xfrm>
          <a:prstGeom prst="rect">
            <a:avLst/>
          </a:prstGeom>
          <a:noFill/>
          <a:ln>
            <a:noFill/>
          </a:ln>
        </p:spPr>
        <p:txBody>
          <a:bodyPr wrap="none" rtlCol="0" anchor="t" anchorCtr="0">
            <a:noAutofit/>
          </a:bodyPr>
          <a:lstStyle/>
          <a:p>
            <a:r>
              <a:rPr lang="it-IT" sz="2400" i="1" dirty="0"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  <a:endParaRPr lang="en-US" sz="2400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789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4088A1-2479-CD03-6F92-E03230BF7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it-IT" sz="2400" dirty="0" err="1"/>
              <a:t>Basically</a:t>
            </a:r>
            <a:r>
              <a:rPr lang="it-IT" sz="2400" dirty="0"/>
              <a:t>, an extension of </a:t>
            </a:r>
            <a:r>
              <a:rPr lang="it-IT" sz="2400" dirty="0" err="1"/>
              <a:t>Beam</a:t>
            </a:r>
            <a:r>
              <a:rPr lang="it-IT" sz="2400" dirty="0"/>
              <a:t> </a:t>
            </a:r>
            <a:r>
              <a:rPr lang="it-IT" sz="2400" dirty="0" err="1"/>
              <a:t>Search</a:t>
            </a:r>
            <a:r>
              <a:rPr lang="it-IT" sz="2400" dirty="0"/>
              <a:t> (BS).</a:t>
            </a:r>
          </a:p>
          <a:p>
            <a:r>
              <a:rPr lang="en-US" sz="2400" dirty="0"/>
              <a:t>BS: At each level of the search tree, generate all successors of the current states, but expand only the δ best (δ is the beam width).</a:t>
            </a:r>
          </a:p>
          <a:p>
            <a:r>
              <a:rPr lang="en-US" sz="2400" dirty="0"/>
              <a:t>F&amp;B extends BS by alternating expansions in opposite search directions and by learning from partial solutions generated in previous iterations. 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These learned partial results are then exploited as a look-ahead mechanism to complete partial solutions when the search proceeds in the opposite direction.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becomes an exact approach when unlimited computational power is allowed,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generates bounds on the cost required to complete partial solutions, even though it operates as a primal-only method.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EBA8AA0-8EBD-2DC2-B935-96AA49CCA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Fore-and-Back </a:t>
            </a:r>
            <a:r>
              <a:rPr lang="it-IT" dirty="0" err="1"/>
              <a:t>matheuristic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710B67-B75C-38CD-50C6-C5F2A591E0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D49220-1FD1-0086-0CF5-582E5DEE25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53356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593B87-B564-266C-01C5-EA5BB66F7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Pseudocode (sketch)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Foreach iteration t</a:t>
            </a: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	construct a forward tree F t if t is odd, a backward tree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if t is even. Each node at level h in these trees corresponds to a partial solution consisting of h solution components.</a:t>
            </a: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During the construction of a tree, each partial solution X is extended to a feasible complete solution by combining it with learned partial solutions produced in the previous iteration of the complementary tree. </a:t>
            </a: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 list, denoted by Lt h 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Fth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(Lt n-h 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Bth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), is associated with each level h of the tree built at iteration t. The list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containsδ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nodes generated but not yet expanded at level h. The list is defined ordering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Fh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Bh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 by increasing cost values and keeping in Lt h only its δ nodes having the smallest cost, which will be further expanded.</a:t>
            </a: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evaluate the completion cost of partial solutions stored at level h of the tree by means of the partial solutions stored in Lt−1 n−h in case of F, or, the completion of partial solutions in Lt n−h by means of solutions in Lt−1 h in case of B.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2CF5A7-FF5F-A9C2-B21D-643D42BF1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Fore-and-Back </a:t>
            </a:r>
            <a:r>
              <a:rPr lang="it-IT" dirty="0" err="1"/>
              <a:t>matheuristic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AECA01-5F6A-422B-2500-7F98DCB1AF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113180-0B08-630A-71C7-A62CF0D2CD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0929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7F0AB5-7A8A-42FE-5DDF-D044C40A0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Fore-and-Back </a:t>
            </a:r>
            <a:r>
              <a:rPr lang="it-IT" dirty="0" err="1"/>
              <a:t>matheuristic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BD3598-EFE8-4C2E-A348-DDE3ECCB57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8CDD58-00D0-7445-0027-081618BF23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6</a:t>
            </a:fld>
            <a:endParaRPr lang="it-IT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400036-9C0F-20B9-2C5D-5DD9AB747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278" y="4092395"/>
            <a:ext cx="4389500" cy="2370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ECB146-E4A7-0401-B543-D30CF3239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450" y="1459414"/>
            <a:ext cx="4305673" cy="251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923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249462-D8D2-7F95-D278-1AEAFB44F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07" y="1173916"/>
            <a:ext cx="8546175" cy="5414974"/>
          </a:xfrm>
        </p:spPr>
        <p:txBody>
          <a:bodyPr>
            <a:normAutofit/>
          </a:bodyPr>
          <a:lstStyle/>
          <a:p>
            <a:r>
              <a:rPr lang="en-US" sz="2600" dirty="0"/>
              <a:t>Time series segmentation asks to </a:t>
            </a:r>
            <a:r>
              <a:rPr lang="en-US" sz="2600" dirty="0">
                <a:solidFill>
                  <a:srgbClr val="C00000"/>
                </a:solidFill>
              </a:rPr>
              <a:t>partition a time series </a:t>
            </a:r>
            <a:r>
              <a:rPr lang="en-US" sz="2600" dirty="0"/>
              <a:t>into distinct, </a:t>
            </a:r>
            <a:r>
              <a:rPr lang="en-US" sz="2600" dirty="0">
                <a:solidFill>
                  <a:srgbClr val="C00000"/>
                </a:solidFill>
              </a:rPr>
              <a:t>non-overlapping time segments</a:t>
            </a:r>
            <a:r>
              <a:rPr lang="en-US" sz="2600" dirty="0"/>
              <a:t>, each characterized by homogeneous patterns or behaviors.</a:t>
            </a:r>
          </a:p>
          <a:p>
            <a:r>
              <a:rPr lang="en-US" sz="2600" dirty="0"/>
              <a:t>Segmenting a time series entails identifying </a:t>
            </a:r>
            <a:r>
              <a:rPr lang="en-US" sz="2600" dirty="0">
                <a:solidFill>
                  <a:srgbClr val="C00000"/>
                </a:solidFill>
              </a:rPr>
              <a:t>points of change </a:t>
            </a:r>
            <a:r>
              <a:rPr lang="en-US" sz="2600" dirty="0"/>
              <a:t>in the series: temporal shifts, transitions, or abrupt changes that </a:t>
            </a:r>
            <a:r>
              <a:rPr lang="en-US" sz="2600" dirty="0">
                <a:solidFill>
                  <a:srgbClr val="C00000"/>
                </a:solidFill>
              </a:rPr>
              <a:t>carry critical information</a:t>
            </a:r>
            <a:r>
              <a:rPr lang="en-US" sz="2600" dirty="0"/>
              <a:t>. </a:t>
            </a:r>
          </a:p>
          <a:p>
            <a:r>
              <a:rPr lang="en-US" sz="2600" dirty="0"/>
              <a:t>Change points </a:t>
            </a:r>
            <a:r>
              <a:rPr lang="en-US" sz="2600" dirty="0">
                <a:solidFill>
                  <a:srgbClr val="C00000"/>
                </a:solidFill>
              </a:rPr>
              <a:t>identify events </a:t>
            </a:r>
            <a:r>
              <a:rPr lang="en-US" sz="2600" dirty="0"/>
              <a:t>in a time series where the statistical properties of the data undergo a significant change, contributing to the understanding of: 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evolving trends, 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prediction of future behavior,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identification of anomalous events.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C14EFE-AEE1-0EEB-A0DD-1049E34DA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segmentation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F1007-7753-FF1A-BDF1-91E00845F9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D02E13-606C-AD6D-BBF6-31225FAA43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61618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6063C71-2CD8-4EE2-B54C-07292D2590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6341" y="1371600"/>
            <a:ext cx="6982044" cy="3446121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B2F9554-738A-47A2-8DC3-C6857E9CE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Sub-super-</a:t>
            </a:r>
            <a:r>
              <a:rPr lang="en-US" dirty="0" err="1"/>
              <a:t>addittivity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4D634E-A5FD-4995-AF03-29D603DE8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8DC865-9B9C-4024-953A-0EF3FC10D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8</a:t>
            </a:fld>
            <a:endParaRPr lang="it-IT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8182F2-26EC-45C7-9680-EFE38937D08E}"/>
              </a:ext>
            </a:extLst>
          </p:cNvPr>
          <p:cNvSpPr txBox="1"/>
          <p:nvPr/>
        </p:nvSpPr>
        <p:spPr>
          <a:xfrm>
            <a:off x="640080" y="5059680"/>
            <a:ext cx="7579360" cy="90424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t" anchorCtr="0">
            <a:noAutofit/>
          </a:bodyPr>
          <a:lstStyle/>
          <a:p>
            <a:r>
              <a:rPr lang="en-US" sz="2400" dirty="0"/>
              <a:t>Green can be better or worse.</a:t>
            </a:r>
          </a:p>
          <a:p>
            <a:r>
              <a:rPr lang="en-US" sz="2400" dirty="0"/>
              <a:t>It depends on how much you penalize the number of lines.</a:t>
            </a:r>
          </a:p>
        </p:txBody>
      </p:sp>
    </p:spTree>
    <p:extLst>
      <p:ext uri="{BB962C8B-B14F-4D97-AF65-F5344CB8AC3E}">
        <p14:creationId xmlns:p14="http://schemas.microsoft.com/office/powerpoint/2010/main" val="14871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8572550-1A32-4ECF-80D0-A5F57FE46D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0429" y="1173163"/>
            <a:ext cx="7363142" cy="5259387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64EDD7C-BE80-460A-8EF8-1FB229288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AIC vs. QRMSE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30A19-86CB-4A16-B228-A79EB95B73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EB9F60-2788-4DD1-8E2E-9DF1351644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83813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BF42E2-88E9-CF37-0415-596CF6751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07" y="1037285"/>
            <a:ext cx="8546175" cy="5551606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2600" dirty="0"/>
              <a:t>Three benchmark sets from the </a:t>
            </a:r>
            <a:r>
              <a:rPr lang="en-US" sz="2600" dirty="0">
                <a:solidFill>
                  <a:srgbClr val="C00000"/>
                </a:solidFill>
              </a:rPr>
              <a:t>M competitions</a:t>
            </a:r>
            <a:r>
              <a:rPr lang="en-US" sz="2600" i="1" baseline="30000" dirty="0">
                <a:solidFill>
                  <a:srgbClr val="C00000"/>
                </a:solidFill>
              </a:rPr>
              <a:t>1</a:t>
            </a:r>
            <a:r>
              <a:rPr lang="en-US" sz="2600" dirty="0">
                <a:solidFill>
                  <a:srgbClr val="C00000"/>
                </a:solidFill>
              </a:rPr>
              <a:t> </a:t>
            </a:r>
            <a:r>
              <a:rPr lang="en-US" sz="2600" dirty="0"/>
              <a:t>on time series forecasting: 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M3 (micro, industry, macro, finance, demographic, other)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M4 (micro, industry, macro, finance, demographic, other)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M6 (daily adjusted close prices of the M6 assets)</a:t>
            </a:r>
          </a:p>
          <a:p>
            <a:pPr>
              <a:lnSpc>
                <a:spcPct val="120000"/>
              </a:lnSpc>
            </a:pPr>
            <a:r>
              <a:rPr lang="en-US" sz="2600" dirty="0"/>
              <a:t>A set of </a:t>
            </a:r>
            <a:r>
              <a:rPr lang="en-US" sz="2600" dirty="0">
                <a:solidFill>
                  <a:srgbClr val="C00000"/>
                </a:solidFill>
              </a:rPr>
              <a:t>IoT series </a:t>
            </a:r>
            <a:r>
              <a:rPr lang="en-US" sz="2600" dirty="0"/>
              <a:t>on different physical variables August 2022 to April 2023 at different sampling frequency (daily or every 60 mins).</a:t>
            </a:r>
          </a:p>
          <a:p>
            <a:pPr>
              <a:lnSpc>
                <a:spcPct val="120000"/>
              </a:lnSpc>
            </a:pPr>
            <a:r>
              <a:rPr lang="en-US" sz="2600" dirty="0">
                <a:solidFill>
                  <a:srgbClr val="C00000"/>
                </a:solidFill>
              </a:rPr>
              <a:t>Comparison</a:t>
            </a:r>
            <a:r>
              <a:rPr lang="en-US" sz="2600" dirty="0"/>
              <a:t> against codes in </a:t>
            </a:r>
            <a:r>
              <a:rPr lang="en-US" sz="2600" b="1" i="1" dirty="0"/>
              <a:t>ruptures</a:t>
            </a:r>
            <a:r>
              <a:rPr lang="en-US" sz="2600" b="1" i="1" baseline="30000" dirty="0"/>
              <a:t>2</a:t>
            </a:r>
            <a:r>
              <a:rPr lang="en-US" sz="2600" i="1" baseline="30000" dirty="0"/>
              <a:t> </a:t>
            </a:r>
            <a:r>
              <a:rPr lang="en-US" sz="2600" dirty="0"/>
              <a:t>(Truong et al., 2020): </a:t>
            </a:r>
            <a:r>
              <a:rPr lang="en-US" sz="2600" b="1" i="1" dirty="0"/>
              <a:t>DYNP</a:t>
            </a:r>
            <a:r>
              <a:rPr lang="en-US" sz="2600" dirty="0"/>
              <a:t> (needs the number of breaks in input), </a:t>
            </a:r>
            <a:r>
              <a:rPr lang="en-US" sz="2600" b="1" i="1" dirty="0"/>
              <a:t>PELT</a:t>
            </a:r>
            <a:r>
              <a:rPr lang="en-US" sz="2600" dirty="0"/>
              <a:t> (</a:t>
            </a:r>
            <a:r>
              <a:rPr lang="en-US" sz="2600" i="1" dirty="0"/>
              <a:t>Killick et al., 2012</a:t>
            </a:r>
            <a:r>
              <a:rPr lang="en-US" sz="2600" dirty="0"/>
              <a:t>), </a:t>
            </a:r>
            <a:r>
              <a:rPr lang="en-US" sz="2600" b="1" i="1" dirty="0"/>
              <a:t>BINSEG</a:t>
            </a:r>
            <a:r>
              <a:rPr lang="en-US" sz="2600" dirty="0"/>
              <a:t> (</a:t>
            </a:r>
            <a:r>
              <a:rPr lang="en-US" sz="2600" i="1" dirty="0"/>
              <a:t>Keogh, 2001</a:t>
            </a:r>
            <a:r>
              <a:rPr lang="en-US" sz="2600" dirty="0"/>
              <a:t>)</a:t>
            </a:r>
            <a:r>
              <a:rPr lang="da-DK" sz="2600" dirty="0"/>
              <a:t>. 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2600" dirty="0">
                <a:solidFill>
                  <a:srgbClr val="C00000"/>
                </a:solidFill>
              </a:rPr>
              <a:t>Results</a:t>
            </a:r>
            <a:r>
              <a:rPr lang="en-US" sz="2600" dirty="0"/>
              <a:t> are percentage over (below for LB) the best solution we found over the many runs we made.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2600" dirty="0">
                <a:solidFill>
                  <a:srgbClr val="C00000"/>
                </a:solidFill>
              </a:rPr>
              <a:t>Code</a:t>
            </a:r>
            <a:r>
              <a:rPr lang="en-US" sz="2600" dirty="0"/>
              <a:t> in C++, solver CPLEX 22.11, platform desktop Windows 11 using a single core. </a:t>
            </a:r>
            <a:r>
              <a:rPr lang="en-US" sz="2600" dirty="0" err="1"/>
              <a:t>Lagrangian</a:t>
            </a:r>
            <a:r>
              <a:rPr lang="en-US" sz="2600" dirty="0"/>
              <a:t> run for 180 seconds.</a:t>
            </a:r>
          </a:p>
          <a:p>
            <a:pPr>
              <a:lnSpc>
                <a:spcPct val="120000"/>
              </a:lnSpc>
            </a:pPr>
            <a:r>
              <a:rPr lang="en-US" sz="2200" i="1" baseline="30000" dirty="0"/>
              <a:t>1</a:t>
            </a:r>
            <a:r>
              <a:rPr lang="en-US" sz="1600" dirty="0"/>
              <a:t> https://en.wikipedia.org/wiki/Makridakis_Competitions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i="1" baseline="30000" dirty="0"/>
              <a:t>2</a:t>
            </a:r>
            <a:r>
              <a:rPr lang="en-US" sz="1600" dirty="0"/>
              <a:t> https://centre-borelli.github.io/ruptures-docs/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076A18-B4A4-A350-FFBF-1B9602B78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Testsets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AD1E5F-152B-B376-E87E-EDB6374A1A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0E8CF-948D-D45B-4090-98FC2F2300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79786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30CB979-9492-8B86-72D1-13B6F7AD0B2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5993" y="971199"/>
          <a:ext cx="8090710" cy="577788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98316">
                  <a:extLst>
                    <a:ext uri="{9D8B030D-6E8A-4147-A177-3AD203B41FA5}">
                      <a16:colId xmlns:a16="http://schemas.microsoft.com/office/drawing/2014/main" val="1677443305"/>
                    </a:ext>
                  </a:extLst>
                </a:gridCol>
                <a:gridCol w="898316">
                  <a:extLst>
                    <a:ext uri="{9D8B030D-6E8A-4147-A177-3AD203B41FA5}">
                      <a16:colId xmlns:a16="http://schemas.microsoft.com/office/drawing/2014/main" val="2463057625"/>
                    </a:ext>
                  </a:extLst>
                </a:gridCol>
                <a:gridCol w="899154">
                  <a:extLst>
                    <a:ext uri="{9D8B030D-6E8A-4147-A177-3AD203B41FA5}">
                      <a16:colId xmlns:a16="http://schemas.microsoft.com/office/drawing/2014/main" val="2991941247"/>
                    </a:ext>
                  </a:extLst>
                </a:gridCol>
                <a:gridCol w="899154">
                  <a:extLst>
                    <a:ext uri="{9D8B030D-6E8A-4147-A177-3AD203B41FA5}">
                      <a16:colId xmlns:a16="http://schemas.microsoft.com/office/drawing/2014/main" val="4193560891"/>
                    </a:ext>
                  </a:extLst>
                </a:gridCol>
                <a:gridCol w="899154">
                  <a:extLst>
                    <a:ext uri="{9D8B030D-6E8A-4147-A177-3AD203B41FA5}">
                      <a16:colId xmlns:a16="http://schemas.microsoft.com/office/drawing/2014/main" val="2927222695"/>
                    </a:ext>
                  </a:extLst>
                </a:gridCol>
                <a:gridCol w="899154">
                  <a:extLst>
                    <a:ext uri="{9D8B030D-6E8A-4147-A177-3AD203B41FA5}">
                      <a16:colId xmlns:a16="http://schemas.microsoft.com/office/drawing/2014/main" val="2167118472"/>
                    </a:ext>
                  </a:extLst>
                </a:gridCol>
                <a:gridCol w="899154">
                  <a:extLst>
                    <a:ext uri="{9D8B030D-6E8A-4147-A177-3AD203B41FA5}">
                      <a16:colId xmlns:a16="http://schemas.microsoft.com/office/drawing/2014/main" val="2476655549"/>
                    </a:ext>
                  </a:extLst>
                </a:gridCol>
                <a:gridCol w="899154">
                  <a:extLst>
                    <a:ext uri="{9D8B030D-6E8A-4147-A177-3AD203B41FA5}">
                      <a16:colId xmlns:a16="http://schemas.microsoft.com/office/drawing/2014/main" val="1699640681"/>
                    </a:ext>
                  </a:extLst>
                </a:gridCol>
                <a:gridCol w="899154">
                  <a:extLst>
                    <a:ext uri="{9D8B030D-6E8A-4147-A177-3AD203B41FA5}">
                      <a16:colId xmlns:a16="http://schemas.microsoft.com/office/drawing/2014/main" val="3032813774"/>
                    </a:ext>
                  </a:extLst>
                </a:gridCol>
              </a:tblGrid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FnB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PELT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DYNP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3168236963"/>
                  </a:ext>
                </a:extLst>
              </a:tr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Name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category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segments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t.cpu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segments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t.cpu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segments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t.cpu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2913192995"/>
                  </a:ext>
                </a:extLst>
              </a:tr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M3/N1879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Industry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144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0.052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0.062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0.0156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115492775"/>
                  </a:ext>
                </a:extLst>
              </a:tr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M3/N1881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Industry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144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0.054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0.109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0.0156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914971346"/>
                  </a:ext>
                </a:extLst>
              </a:tr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M3/N1882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Industry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144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0.052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0.046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0.015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920924663"/>
                  </a:ext>
                </a:extLst>
              </a:tr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M3/N1883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Industry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144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0.042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15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0.046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0.015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220524865"/>
                  </a:ext>
                </a:extLst>
              </a:tr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M3/N1884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Industry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144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19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0.031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0.031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3607046474"/>
                  </a:ext>
                </a:extLst>
              </a:tr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M3/N1918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Industry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144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0.064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0.078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0.015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4147918796"/>
                  </a:ext>
                </a:extLst>
              </a:tr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 dirty="0">
                          <a:effectLst/>
                        </a:rPr>
                        <a:t>M3/N2830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Micro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104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0.024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0.031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669071908"/>
                  </a:ext>
                </a:extLst>
              </a:tr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 dirty="0">
                          <a:effectLst/>
                        </a:rPr>
                        <a:t>M3/N2831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Micro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104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0.022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10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0.031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0.015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727420417"/>
                  </a:ext>
                </a:extLst>
              </a:tr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 dirty="0">
                          <a:effectLst/>
                        </a:rPr>
                        <a:t>M3/N2832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Micro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104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0.024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0.062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623913290"/>
                  </a:ext>
                </a:extLst>
              </a:tr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 dirty="0">
                          <a:effectLst/>
                        </a:rPr>
                        <a:t>M3/N2833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Micro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104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0.022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0.046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0.015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2951628814"/>
                  </a:ext>
                </a:extLst>
              </a:tr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M3/N2834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Finance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0.026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9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0.046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2087752927"/>
                  </a:ext>
                </a:extLst>
              </a:tr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M4/Q14640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Industry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115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0.036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0.015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1921604756"/>
                  </a:ext>
                </a:extLst>
              </a:tr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M4/Q15444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Industry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126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0.05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0.031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0.015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3203586230"/>
                  </a:ext>
                </a:extLst>
              </a:tr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M4/Q18148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Industry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71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0.006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0.046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0.015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1489507263"/>
                  </a:ext>
                </a:extLst>
              </a:tr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M4/Q18496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Industry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126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0.038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0.046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2345290274"/>
                  </a:ext>
                </a:extLst>
              </a:tr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M4/Q19604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Industry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123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0.038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0.046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0.015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3478174587"/>
                  </a:ext>
                </a:extLst>
              </a:tr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M4/Q19637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Industry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123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0.044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0.031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0.015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2430105675"/>
                  </a:ext>
                </a:extLst>
              </a:tr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M4/Q2002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Macro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170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0.094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11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0.078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0.031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970681283"/>
                  </a:ext>
                </a:extLst>
              </a:tr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M4/Q22221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Finance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738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1.926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0.359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0.593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123331294"/>
                  </a:ext>
                </a:extLst>
              </a:tr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M4/Q5109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Macro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866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2.858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0.296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0.828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4264538592"/>
                  </a:ext>
                </a:extLst>
              </a:tr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 dirty="0">
                          <a:effectLst/>
                        </a:rPr>
                        <a:t>M4/Q7774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Micro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115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0.026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0.078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0.015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1389227737"/>
                  </a:ext>
                </a:extLst>
              </a:tr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 dirty="0">
                          <a:effectLst/>
                        </a:rPr>
                        <a:t>M4/Q8030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Micro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97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0.022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0.031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0.015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3042422778"/>
                  </a:ext>
                </a:extLst>
              </a:tr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M6/ABBV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Finance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0.196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19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0.109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0.062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4195209095"/>
                  </a:ext>
                </a:extLst>
              </a:tr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M6/BTCUSD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Finance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367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0.406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0.156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0.125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365592587"/>
                  </a:ext>
                </a:extLst>
              </a:tr>
              <a:tr h="8213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M6/EWG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Finance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0.176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15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0.109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0.046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1977252742"/>
                  </a:ext>
                </a:extLst>
              </a:tr>
              <a:tr h="8213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M6/EWQ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Finance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0.168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0.125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0.062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2550251558"/>
                  </a:ext>
                </a:extLst>
              </a:tr>
              <a:tr h="8213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M6/EWZ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Finance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0.182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0.125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0.046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1703199164"/>
                  </a:ext>
                </a:extLst>
              </a:tr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M6/GBPUSD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Finance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263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0.184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0.093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0.078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1757301408"/>
                  </a:ext>
                </a:extLst>
              </a:tr>
              <a:tr h="8213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M6/PYPL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Finance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0.162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19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0.109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0.062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3848229579"/>
                  </a:ext>
                </a:extLst>
              </a:tr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M6/RBLX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Finance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0.17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21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0.093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0.046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3872361436"/>
                  </a:ext>
                </a:extLst>
              </a:tr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M6/ROST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Finance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0.172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0.078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0.062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2207760055"/>
                  </a:ext>
                </a:extLst>
              </a:tr>
              <a:tr h="8213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M6/SLV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Finance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0.168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0.109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0.078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2380483340"/>
                  </a:ext>
                </a:extLst>
              </a:tr>
              <a:tr h="167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M6/USDJPY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Finance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263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8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0.182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22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0.109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8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0.062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18" marR="32518" marT="0" marB="0"/>
                </a:tc>
                <a:extLst>
                  <a:ext uri="{0D108BD9-81ED-4DB2-BD59-A6C34878D82A}">
                    <a16:rowId xmlns:a16="http://schemas.microsoft.com/office/drawing/2014/main" val="779688604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CAABF489-5606-2102-0D05-82878A8D7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AIC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38C33F-47C1-858F-B4EA-1274E39A8F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B611EB-94A4-9F5F-9115-A9FAEAC407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94508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007ACA5-0627-B366-9FA6-43FE749FE10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3000" y="874233"/>
          <a:ext cx="7016260" cy="5890914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76668">
                  <a:extLst>
                    <a:ext uri="{9D8B030D-6E8A-4147-A177-3AD203B41FA5}">
                      <a16:colId xmlns:a16="http://schemas.microsoft.com/office/drawing/2014/main" val="3617981151"/>
                    </a:ext>
                  </a:extLst>
                </a:gridCol>
                <a:gridCol w="876668">
                  <a:extLst>
                    <a:ext uri="{9D8B030D-6E8A-4147-A177-3AD203B41FA5}">
                      <a16:colId xmlns:a16="http://schemas.microsoft.com/office/drawing/2014/main" val="930541329"/>
                    </a:ext>
                  </a:extLst>
                </a:gridCol>
                <a:gridCol w="876668">
                  <a:extLst>
                    <a:ext uri="{9D8B030D-6E8A-4147-A177-3AD203B41FA5}">
                      <a16:colId xmlns:a16="http://schemas.microsoft.com/office/drawing/2014/main" val="2734970832"/>
                    </a:ext>
                  </a:extLst>
                </a:gridCol>
                <a:gridCol w="876668">
                  <a:extLst>
                    <a:ext uri="{9D8B030D-6E8A-4147-A177-3AD203B41FA5}">
                      <a16:colId xmlns:a16="http://schemas.microsoft.com/office/drawing/2014/main" val="827642594"/>
                    </a:ext>
                  </a:extLst>
                </a:gridCol>
                <a:gridCol w="877397">
                  <a:extLst>
                    <a:ext uri="{9D8B030D-6E8A-4147-A177-3AD203B41FA5}">
                      <a16:colId xmlns:a16="http://schemas.microsoft.com/office/drawing/2014/main" val="3705868661"/>
                    </a:ext>
                  </a:extLst>
                </a:gridCol>
                <a:gridCol w="877397">
                  <a:extLst>
                    <a:ext uri="{9D8B030D-6E8A-4147-A177-3AD203B41FA5}">
                      <a16:colId xmlns:a16="http://schemas.microsoft.com/office/drawing/2014/main" val="2502937259"/>
                    </a:ext>
                  </a:extLst>
                </a:gridCol>
                <a:gridCol w="877397">
                  <a:extLst>
                    <a:ext uri="{9D8B030D-6E8A-4147-A177-3AD203B41FA5}">
                      <a16:colId xmlns:a16="http://schemas.microsoft.com/office/drawing/2014/main" val="916218602"/>
                    </a:ext>
                  </a:extLst>
                </a:gridCol>
                <a:gridCol w="877397">
                  <a:extLst>
                    <a:ext uri="{9D8B030D-6E8A-4147-A177-3AD203B41FA5}">
                      <a16:colId xmlns:a16="http://schemas.microsoft.com/office/drawing/2014/main" val="3617633555"/>
                    </a:ext>
                  </a:extLst>
                </a:gridCol>
              </a:tblGrid>
              <a:tr h="822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Name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category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t.tot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t.opt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matches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fathomed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n.brk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1140320453"/>
                  </a:ext>
                </a:extLst>
              </a:tr>
              <a:tr h="167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M3/N1879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Industry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144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266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40446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3007580396"/>
                  </a:ext>
                </a:extLst>
              </a:tr>
              <a:tr h="167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M3/N1881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Industry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144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363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20441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3032642725"/>
                  </a:ext>
                </a:extLst>
              </a:tr>
              <a:tr h="167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M3/N1882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Industry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144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285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40027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3616932611"/>
                  </a:ext>
                </a:extLst>
              </a:tr>
              <a:tr h="167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M3/N1883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Industry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144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359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25539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2217469604"/>
                  </a:ext>
                </a:extLst>
              </a:tr>
              <a:tr h="167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M3/N1884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Industry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144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337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41697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1751442536"/>
                  </a:ext>
                </a:extLst>
              </a:tr>
              <a:tr h="167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M3/N1918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Industry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144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446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21688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1056459124"/>
                  </a:ext>
                </a:extLst>
              </a:tr>
              <a:tr h="167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 dirty="0">
                          <a:effectLst/>
                        </a:rPr>
                        <a:t>M3/N2830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Micro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104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219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12497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2275583916"/>
                  </a:ext>
                </a:extLst>
              </a:tr>
              <a:tr h="167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 dirty="0">
                          <a:effectLst/>
                        </a:rPr>
                        <a:t>M3/N2831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Micro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104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175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16713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652063682"/>
                  </a:ext>
                </a:extLst>
              </a:tr>
              <a:tr h="167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 dirty="0">
                          <a:effectLst/>
                        </a:rPr>
                        <a:t>M3/N2832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Micro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104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160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19533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646694150"/>
                  </a:ext>
                </a:extLst>
              </a:tr>
              <a:tr h="167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 dirty="0">
                          <a:effectLst/>
                        </a:rPr>
                        <a:t>M3/N2833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Micro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104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262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4184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322951373"/>
                  </a:ext>
                </a:extLst>
              </a:tr>
              <a:tr h="167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M3/N2834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Finance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248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8600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1828468721"/>
                  </a:ext>
                </a:extLst>
              </a:tr>
              <a:tr h="167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M4/Q14640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Industry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115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17037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3056258534"/>
                  </a:ext>
                </a:extLst>
              </a:tr>
              <a:tr h="167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M4/Q15444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Industry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126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105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11704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491262967"/>
                  </a:ext>
                </a:extLst>
              </a:tr>
              <a:tr h="167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M4/Q18148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Industry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71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92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2329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884506612"/>
                  </a:ext>
                </a:extLst>
              </a:tr>
              <a:tr h="167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M4/Q18496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Industry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126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17004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1371015146"/>
                  </a:ext>
                </a:extLst>
              </a:tr>
              <a:tr h="167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M4/Q19604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Industry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123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263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18127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3775192136"/>
                  </a:ext>
                </a:extLst>
              </a:tr>
              <a:tr h="167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M4/Q19637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Industry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123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334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21332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4186127881"/>
                  </a:ext>
                </a:extLst>
              </a:tr>
              <a:tr h="167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M4/Q2002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Macro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170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519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103936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2124003016"/>
                  </a:ext>
                </a:extLst>
              </a:tr>
              <a:tr h="167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M4/Q22221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Finance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738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7086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1811047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2461277074"/>
                  </a:ext>
                </a:extLst>
              </a:tr>
              <a:tr h="167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M4/Q5109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Macro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866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462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5586555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158823675"/>
                  </a:ext>
                </a:extLst>
              </a:tr>
              <a:tr h="167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 dirty="0">
                          <a:effectLst/>
                        </a:rPr>
                        <a:t>M4/Q7774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Micro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115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102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18649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311267344"/>
                  </a:ext>
                </a:extLst>
              </a:tr>
              <a:tr h="167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 dirty="0">
                          <a:effectLst/>
                        </a:rPr>
                        <a:t>M4/Q8030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Micro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97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183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6872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2844659993"/>
                  </a:ext>
                </a:extLst>
              </a:tr>
              <a:tr h="822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M6/ABBV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Finance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974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270239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4270932731"/>
                  </a:ext>
                </a:extLst>
              </a:tr>
              <a:tr h="167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M6/BTCUSD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Finance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367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1157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675562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2600346940"/>
                  </a:ext>
                </a:extLst>
              </a:tr>
              <a:tr h="167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M6/EURCHF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Finance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263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903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364509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2506607779"/>
                  </a:ext>
                </a:extLst>
              </a:tr>
              <a:tr h="167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M6/EURUSD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Finance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263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507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264444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707202034"/>
                  </a:ext>
                </a:extLst>
              </a:tr>
              <a:tr h="822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M6/EWG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Finance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719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185694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758180876"/>
                  </a:ext>
                </a:extLst>
              </a:tr>
              <a:tr h="822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M6/EWQ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Finance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816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185572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2835734809"/>
                  </a:ext>
                </a:extLst>
              </a:tr>
              <a:tr h="822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M6/EWZ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Finance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618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354703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735243886"/>
                  </a:ext>
                </a:extLst>
              </a:tr>
              <a:tr h="167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M6/GBPUSD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Finance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263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580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291430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2659227766"/>
                  </a:ext>
                </a:extLst>
              </a:tr>
              <a:tr h="822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M6/PYPL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Finance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760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214249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4230290063"/>
                  </a:ext>
                </a:extLst>
              </a:tr>
              <a:tr h="822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M6/RBLX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Finance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784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301279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3900614209"/>
                  </a:ext>
                </a:extLst>
              </a:tr>
              <a:tr h="822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M6/ROST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Finance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824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225076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40886577"/>
                  </a:ext>
                </a:extLst>
              </a:tr>
              <a:tr h="822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M6/SLV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Finance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253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686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132486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4083006959"/>
                  </a:ext>
                </a:extLst>
              </a:tr>
              <a:tr h="167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M6/USDJPY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Finance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263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0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0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687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263442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7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554" marR="32554" marT="0" marB="0"/>
                </a:tc>
                <a:extLst>
                  <a:ext uri="{0D108BD9-81ED-4DB2-BD59-A6C34878D82A}">
                    <a16:rowId xmlns:a16="http://schemas.microsoft.com/office/drawing/2014/main" val="2184440636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06DFCD8F-4E5F-E2B9-CA0B-8C5BEF5F4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QRMSE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990AD9-5311-D146-5E25-C4D3C969A5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EF62C-4E86-9813-0964-46661C3FC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96791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FDBDB36-1275-F2E9-08B3-F455FF7E46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8485" y="1112561"/>
            <a:ext cx="3835568" cy="305669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E77AFAF-317E-1CED-DB49-D6E227498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IoT, environmental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D7A8E-E518-DA77-2589-71E791B727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D7BD37-4BF1-E9E9-149C-DD4868E829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13</a:t>
            </a:fld>
            <a:endParaRPr lang="it-IT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B246D0-6E37-5D8B-D870-284C3513B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983" y="3052625"/>
            <a:ext cx="4142908" cy="330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017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4360C52-1CF0-25C6-0658-5325BDE345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450" y="2003232"/>
            <a:ext cx="8547100" cy="3528226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2D58F8A-9268-6259-78AC-F34D980FD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IoT, </a:t>
            </a:r>
            <a:r>
              <a:rPr lang="it-IT" dirty="0" err="1"/>
              <a:t>environmental</a:t>
            </a:r>
            <a:endParaRPr lang="it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051C9-0192-B65B-617C-73E834810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2124EA-B9D9-C153-DA2B-6FB0E5E1C6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17209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D46940F-C05A-E0CD-2E58-CAE5099DF5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7478" y="1288038"/>
            <a:ext cx="6729043" cy="5029636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22A413F-B80D-3086-6990-5D5FE8FE7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M6, bitcoin exchange rate vs USD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E16D30-0ACA-53ED-5474-5B7ACEFA76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4863E-09D4-AA72-6471-7CFF16949C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743378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Quadretti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ustom 1">
      <a:majorFont>
        <a:latin typeface="Arial Rounded MT Bold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90000"/>
                <a:satMod val="150000"/>
              </a:schemeClr>
            </a:gs>
            <a:gs pos="60000">
              <a:schemeClr val="phClr">
                <a:shade val="20000"/>
                <a:satMod val="25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/>
            </a:duotone>
          </a:blip>
          <a:stretch/>
        </a:blip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t" anchorCtr="0">
        <a:noAutofit/>
      </a:bodyPr>
      <a:lstStyle>
        <a:defPPr>
          <a:defRPr sz="2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emeQuadretti" id="{19AB7872-5255-42EA-897B-4062C768F031}" vid="{57F8082C-57DB-4447-A402-D3E99C17B6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ThemeQuadretti</Template>
  <TotalTime>1717</TotalTime>
  <Words>1525</Words>
  <Application>Microsoft Office PowerPoint</Application>
  <PresentationFormat>On-screen Show (4:3)</PresentationFormat>
  <Paragraphs>675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AAchalk</vt:lpstr>
      <vt:lpstr>Aptos</vt:lpstr>
      <vt:lpstr>Arial</vt:lpstr>
      <vt:lpstr>Calibri Light</vt:lpstr>
      <vt:lpstr>Cambria</vt:lpstr>
      <vt:lpstr>ManiezzoSlides</vt:lpstr>
      <vt:lpstr>Wingdings</vt:lpstr>
      <vt:lpstr>ThemeQuadretti</vt:lpstr>
      <vt:lpstr>Fore-and-Back for Changepoint Detection</vt:lpstr>
      <vt:lpstr>LION-1, Andalo, 2007 </vt:lpstr>
      <vt:lpstr>The intuition</vt:lpstr>
      <vt:lpstr>Fore-and-Back matheuristic</vt:lpstr>
      <vt:lpstr>Fore-and-Back matheuristic</vt:lpstr>
      <vt:lpstr>Fore-and-Back matheuristic</vt:lpstr>
      <vt:lpstr>Time series segmentation</vt:lpstr>
      <vt:lpstr>Sub-super-addittivity</vt:lpstr>
      <vt:lpstr>AIC vs. QRMSE</vt:lpstr>
      <vt:lpstr>Testsets</vt:lpstr>
      <vt:lpstr>AIC</vt:lpstr>
      <vt:lpstr>QRMSE</vt:lpstr>
      <vt:lpstr>IoT, environmental</vt:lpstr>
      <vt:lpstr>IoT, environmental</vt:lpstr>
      <vt:lpstr>M6, bitcoin exchange rate vs USD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Vittorio Maniezzo</dc:creator>
  <cp:lastModifiedBy>Vittorio Maniezzo</cp:lastModifiedBy>
  <cp:revision>161</cp:revision>
  <dcterms:created xsi:type="dcterms:W3CDTF">2024-02-06T11:14:54Z</dcterms:created>
  <dcterms:modified xsi:type="dcterms:W3CDTF">2026-05-29T10:12:42Z</dcterms:modified>
</cp:coreProperties>
</file>