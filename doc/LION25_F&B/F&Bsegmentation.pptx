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78" r:id="rId3"/>
    <p:sldId id="280" r:id="rId4"/>
    <p:sldId id="281" r:id="rId5"/>
    <p:sldId id="282" r:id="rId6"/>
    <p:sldId id="283" r:id="rId7"/>
    <p:sldId id="265" r:id="rId8"/>
    <p:sldId id="292" r:id="rId9"/>
    <p:sldId id="286" r:id="rId10"/>
    <p:sldId id="279" r:id="rId11"/>
    <p:sldId id="270" r:id="rId12"/>
    <p:sldId id="284" r:id="rId13"/>
    <p:sldId id="287" r:id="rId14"/>
    <p:sldId id="288" r:id="rId15"/>
    <p:sldId id="285" r:id="rId16"/>
    <p:sldId id="289" r:id="rId17"/>
    <p:sldId id="291" r:id="rId18"/>
    <p:sldId id="290" r:id="rId19"/>
    <p:sldId id="262" r:id="rId20"/>
    <p:sldId id="259" r:id="rId21"/>
    <p:sldId id="261" r:id="rId22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87" d="100"/>
          <a:sy n="87" d="100"/>
        </p:scale>
        <p:origin x="74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Fore-and-Back for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5781039" y="556408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9D94A-411D-49D2-93C8-DE6206F8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CBA538B-C756-4EC0-87B0-9AFA748B6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LION-1, </a:t>
            </a:r>
            <a:r>
              <a:rPr lang="en-US" dirty="0" err="1"/>
              <a:t>Andalo</a:t>
            </a:r>
            <a:r>
              <a:rPr lang="en-US" dirty="0"/>
              <a:t>, 2007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2DD2E-5050-4900-AD8A-9C6A3FB84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29C4B8-72AD-4EDD-B2C5-00E8B3B1E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480" y="1015365"/>
            <a:ext cx="7061200" cy="551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8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9C0EB8-C386-D1C7-1D4C-FA04D4663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8C4D4D-77B9-328C-739B-8748FC666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intuition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86DD5D-54EE-282D-56F2-466927E6E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5CDE3B9-C618-DE42-31B9-38BD02419823}"/>
              </a:ext>
            </a:extLst>
          </p:cNvPr>
          <p:cNvCxnSpPr/>
          <p:nvPr/>
        </p:nvCxnSpPr>
        <p:spPr>
          <a:xfrm flipV="1">
            <a:off x="1406766" y="1274881"/>
            <a:ext cx="0" cy="4572000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4DD902-9380-E0C6-39A7-6C480157E9E7}"/>
              </a:ext>
            </a:extLst>
          </p:cNvPr>
          <p:cNvCxnSpPr>
            <a:cxnSpLocks/>
          </p:cNvCxnSpPr>
          <p:nvPr/>
        </p:nvCxnSpPr>
        <p:spPr>
          <a:xfrm flipV="1">
            <a:off x="1406766" y="5776543"/>
            <a:ext cx="6433039" cy="73269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Free-form: Shape 8">
            <a:extLst>
              <a:ext uri="{FF2B5EF4-FFF2-40B4-BE49-F238E27FC236}">
                <a16:creationId xmlns:a16="http://schemas.microsoft.com/office/drawing/2014/main" id="{2C96862C-1702-9C6C-53C2-F6CC900E94E2}"/>
              </a:ext>
            </a:extLst>
          </p:cNvPr>
          <p:cNvSpPr/>
          <p:nvPr/>
        </p:nvSpPr>
        <p:spPr>
          <a:xfrm>
            <a:off x="1389182" y="1644158"/>
            <a:ext cx="5785338" cy="4193931"/>
          </a:xfrm>
          <a:custGeom>
            <a:avLst/>
            <a:gdLst>
              <a:gd name="connsiteX0" fmla="*/ 0 w 5785338"/>
              <a:gd name="connsiteY0" fmla="*/ 4193931 h 4193931"/>
              <a:gd name="connsiteX1" fmla="*/ 1890346 w 5785338"/>
              <a:gd name="connsiteY1" fmla="*/ 4018085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4013"/>
              <a:gd name="connsiteX1" fmla="*/ 1943100 w 5785338"/>
              <a:gd name="connsiteY1" fmla="*/ 4044462 h 4194013"/>
              <a:gd name="connsiteX2" fmla="*/ 4106007 w 5785338"/>
              <a:gd name="connsiteY2" fmla="*/ 3165231 h 4194013"/>
              <a:gd name="connsiteX3" fmla="*/ 5785338 w 5785338"/>
              <a:gd name="connsiteY3" fmla="*/ 0 h 4194013"/>
              <a:gd name="connsiteX4" fmla="*/ 5785338 w 5785338"/>
              <a:gd name="connsiteY4" fmla="*/ 0 h 4194013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5896"/>
              <a:gd name="connsiteX1" fmla="*/ 1943100 w 5785338"/>
              <a:gd name="connsiteY1" fmla="*/ 4044462 h 4195896"/>
              <a:gd name="connsiteX2" fmla="*/ 4088423 w 5785338"/>
              <a:gd name="connsiteY2" fmla="*/ 3077308 h 4195896"/>
              <a:gd name="connsiteX3" fmla="*/ 5785338 w 5785338"/>
              <a:gd name="connsiteY3" fmla="*/ 0 h 4195896"/>
              <a:gd name="connsiteX4" fmla="*/ 5785338 w 5785338"/>
              <a:gd name="connsiteY4" fmla="*/ 0 h 4195896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088423 w 5785338"/>
              <a:gd name="connsiteY2" fmla="*/ 3077308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5338" h="4193931">
                <a:moveTo>
                  <a:pt x="0" y="4193931"/>
                </a:moveTo>
                <a:cubicBezTo>
                  <a:pt x="603006" y="4191733"/>
                  <a:pt x="1288073" y="4195397"/>
                  <a:pt x="1943100" y="4044462"/>
                </a:cubicBezTo>
                <a:cubicBezTo>
                  <a:pt x="2598127" y="3893527"/>
                  <a:pt x="3448050" y="3751385"/>
                  <a:pt x="4088423" y="3077308"/>
                </a:cubicBezTo>
                <a:cubicBezTo>
                  <a:pt x="4728796" y="2403231"/>
                  <a:pt x="5785338" y="0"/>
                  <a:pt x="5785338" y="0"/>
                </a:cubicBezTo>
                <a:lnTo>
                  <a:pt x="5785338" y="0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-form: Shape 9">
            <a:extLst>
              <a:ext uri="{FF2B5EF4-FFF2-40B4-BE49-F238E27FC236}">
                <a16:creationId xmlns:a16="http://schemas.microsoft.com/office/drawing/2014/main" id="{CFDF18E2-B28D-5F36-E1F4-FFC497EE74E9}"/>
              </a:ext>
            </a:extLst>
          </p:cNvPr>
          <p:cNvSpPr/>
          <p:nvPr/>
        </p:nvSpPr>
        <p:spPr>
          <a:xfrm flipH="1">
            <a:off x="1418490" y="1603129"/>
            <a:ext cx="5785338" cy="4193931"/>
          </a:xfrm>
          <a:custGeom>
            <a:avLst/>
            <a:gdLst>
              <a:gd name="connsiteX0" fmla="*/ 0 w 5785338"/>
              <a:gd name="connsiteY0" fmla="*/ 4193931 h 4193931"/>
              <a:gd name="connsiteX1" fmla="*/ 1890346 w 5785338"/>
              <a:gd name="connsiteY1" fmla="*/ 4018085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4013"/>
              <a:gd name="connsiteX1" fmla="*/ 1943100 w 5785338"/>
              <a:gd name="connsiteY1" fmla="*/ 4044462 h 4194013"/>
              <a:gd name="connsiteX2" fmla="*/ 4106007 w 5785338"/>
              <a:gd name="connsiteY2" fmla="*/ 3165231 h 4194013"/>
              <a:gd name="connsiteX3" fmla="*/ 5785338 w 5785338"/>
              <a:gd name="connsiteY3" fmla="*/ 0 h 4194013"/>
              <a:gd name="connsiteX4" fmla="*/ 5785338 w 5785338"/>
              <a:gd name="connsiteY4" fmla="*/ 0 h 4194013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5896"/>
              <a:gd name="connsiteX1" fmla="*/ 1943100 w 5785338"/>
              <a:gd name="connsiteY1" fmla="*/ 4044462 h 4195896"/>
              <a:gd name="connsiteX2" fmla="*/ 4088423 w 5785338"/>
              <a:gd name="connsiteY2" fmla="*/ 3077308 h 4195896"/>
              <a:gd name="connsiteX3" fmla="*/ 5785338 w 5785338"/>
              <a:gd name="connsiteY3" fmla="*/ 0 h 4195896"/>
              <a:gd name="connsiteX4" fmla="*/ 5785338 w 5785338"/>
              <a:gd name="connsiteY4" fmla="*/ 0 h 4195896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088423 w 5785338"/>
              <a:gd name="connsiteY2" fmla="*/ 3077308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5338" h="4193931">
                <a:moveTo>
                  <a:pt x="0" y="4193931"/>
                </a:moveTo>
                <a:cubicBezTo>
                  <a:pt x="603006" y="4191733"/>
                  <a:pt x="1288073" y="4195397"/>
                  <a:pt x="1943100" y="4044462"/>
                </a:cubicBezTo>
                <a:cubicBezTo>
                  <a:pt x="2598127" y="3893527"/>
                  <a:pt x="3448050" y="3751385"/>
                  <a:pt x="4088423" y="3077308"/>
                </a:cubicBezTo>
                <a:cubicBezTo>
                  <a:pt x="4728796" y="2403231"/>
                  <a:pt x="5785338" y="0"/>
                  <a:pt x="5785338" y="0"/>
                </a:cubicBezTo>
                <a:lnTo>
                  <a:pt x="5785338" y="0"/>
                </a:ln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6533B69-3A2A-040F-E242-90B5462E0E23}"/>
              </a:ext>
            </a:extLst>
          </p:cNvPr>
          <p:cNvCxnSpPr>
            <a:cxnSpLocks/>
          </p:cNvCxnSpPr>
          <p:nvPr/>
        </p:nvCxnSpPr>
        <p:spPr>
          <a:xfrm>
            <a:off x="4363911" y="5398474"/>
            <a:ext cx="0" cy="439615"/>
          </a:xfrm>
          <a:prstGeom prst="line">
            <a:avLst/>
          </a:prstGeom>
          <a:ln w="762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45B568A-1936-F0A5-9566-02900FDC49F2}"/>
              </a:ext>
            </a:extLst>
          </p:cNvPr>
          <p:cNvSpPr txBox="1"/>
          <p:nvPr/>
        </p:nvSpPr>
        <p:spPr>
          <a:xfrm>
            <a:off x="1012600" y="1274881"/>
            <a:ext cx="316514" cy="422031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i="1" dirty="0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endParaRPr lang="en-US" sz="2400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F46041-57C9-0F87-A154-1894E5DEB478}"/>
              </a:ext>
            </a:extLst>
          </p:cNvPr>
          <p:cNvSpPr txBox="1"/>
          <p:nvPr/>
        </p:nvSpPr>
        <p:spPr>
          <a:xfrm>
            <a:off x="7452958" y="5762410"/>
            <a:ext cx="316514" cy="422031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i="1" dirty="0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endParaRPr lang="en-US" sz="2400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789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4088A1-2479-CD03-6F92-E03230BF7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it-IT" sz="2400" dirty="0" err="1"/>
              <a:t>Basically</a:t>
            </a:r>
            <a:r>
              <a:rPr lang="it-IT" sz="2400" dirty="0"/>
              <a:t>, an extension of </a:t>
            </a:r>
            <a:r>
              <a:rPr lang="it-IT" sz="2400" dirty="0" err="1"/>
              <a:t>Beam</a:t>
            </a:r>
            <a:r>
              <a:rPr lang="it-IT" sz="2400" dirty="0"/>
              <a:t> </a:t>
            </a:r>
            <a:r>
              <a:rPr lang="it-IT" sz="2400" dirty="0" err="1"/>
              <a:t>Search</a:t>
            </a:r>
            <a:r>
              <a:rPr lang="it-IT" sz="2400" dirty="0"/>
              <a:t> (BS).</a:t>
            </a:r>
          </a:p>
          <a:p>
            <a:r>
              <a:rPr lang="en-US" sz="2400" dirty="0"/>
              <a:t>BS: At each level of the search tree, generate all successors of the current states, but expand only the δ best (δ is the beam width).</a:t>
            </a:r>
          </a:p>
          <a:p>
            <a:r>
              <a:rPr lang="en-US" sz="2400" dirty="0"/>
              <a:t>F&amp;B extends BS by alternating expansions in opposite search directions and by learning from partial solutions generated in previous iterations.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These learned partial results are then exploited as a look-ahead mechanism to complete partial solutions when the search proceeds in the opposite direction.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becomes an exact approach when unlimited computational power is allowed,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generates bounds on the cost required to complete partial solutions, even though it operates as a primal-only method.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BA8AA0-8EBD-2DC2-B935-96AA49CCA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710B67-B75C-38CD-50C6-C5F2A591E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D49220-1FD1-0086-0CF5-582E5DEE25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5335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3593B87-B564-266C-01C5-EA5BB66F76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Arial" panose="020B0604020202020204" pitchFamily="34" charset="0"/>
                  </a:rPr>
                  <a:t>Pseudocode (sketch)</a:t>
                </a:r>
              </a:p>
              <a:p>
                <a:pPr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</a:pPr>
                <a:r>
                  <a:rPr lang="en-US" sz="1800" b="1" dirty="0">
                    <a:latin typeface="Lekton" panose="02000000000000000000" pitchFamily="2" charset="0"/>
                    <a:cs typeface="Arial" panose="020B0604020202020204" pitchFamily="34" charset="0"/>
                  </a:rPr>
                  <a:t>Foreach iteration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t</a:t>
                </a:r>
              </a:p>
              <a:p>
                <a:pPr marL="342900" indent="-342900"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construct a forward tree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F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if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t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is odd, a backward tree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B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if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t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is even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(e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ach node at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corresponds to a partial solution setting the first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decision variables).</a:t>
                </a:r>
              </a:p>
              <a:p>
                <a:pPr marL="342900" indent="-342900"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associate with each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of each tree a list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  <m:r>
                      <a:rPr lang="it-IT" sz="1800" b="1" i="1" smtClean="0"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1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⊑</m:t>
                    </m:r>
                    <m:sSubSup>
                      <m:sSubSupPr>
                        <m:ctrlPr>
                          <a:rPr lang="it-IT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𝑭</m:t>
                        </m:r>
                      </m:e>
                      <m:sub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</m:oMath>
                </a14:m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𝒏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  <m:r>
                      <a:rPr lang="it-IT" sz="1800" b="1" i="1"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⊑</m:t>
                    </m:r>
                    <m:sSubSup>
                      <m:sSubSupPr>
                        <m:ctrlP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𝑩</m:t>
                        </m:r>
                      </m:e>
                      <m:sub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𝒕</m:t>
                        </m:r>
                      </m:sup>
                    </m:sSubSup>
                  </m:oMath>
                </a14:m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), defined ordering the nodes generated but not yet expanded at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by increasing cost values. Only the δ nodes having the smallest cost are kept, and will be further expanded.</a:t>
                </a:r>
              </a:p>
              <a:p>
                <a:pPr marL="342900" indent="-342900">
                  <a:lnSpc>
                    <a:spcPct val="107000"/>
                  </a:lnSpc>
                  <a:spcBef>
                    <a:spcPts val="600"/>
                  </a:spcBef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evaluate the completion cost of partial solutions stored at level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h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of the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F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tree by means of the learned partial solutions stored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𝒏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, or the completion of partial </a:t>
                </a:r>
                <a:r>
                  <a:rPr lang="en-US" sz="1800" b="1" dirty="0"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solutions of </a:t>
                </a:r>
                <a:r>
                  <a:rPr lang="en-US" sz="1800" i="1" dirty="0">
                    <a:latin typeface="Cambria" panose="02040503050406030204" pitchFamily="18" charset="0"/>
                    <a:ea typeface="Cambria" panose="02040503050406030204" pitchFamily="18" charset="0"/>
                    <a:cs typeface="Arial" panose="020B0604020202020204" pitchFamily="34" charset="0"/>
                  </a:rPr>
                  <a:t>B</a:t>
                </a:r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 by means of solutions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𝑳</m:t>
                        </m:r>
                      </m:e>
                      <m:sub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𝒉</m:t>
                        </m:r>
                      </m:sub>
                      <m:sup>
                        <m:r>
                          <a:rPr lang="it-IT" sz="1800" b="1" i="1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𝒕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1800" b="1" i="1" smtClean="0"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Arial" panose="020B0604020202020204" pitchFamily="34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en-US" sz="1800" b="1" dirty="0">
                    <a:effectLst/>
                    <a:latin typeface="Lekton" panose="02000000000000000000" pitchFamily="2" charset="0"/>
                    <a:ea typeface="Aptos" panose="020B00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3593B87-B564-266C-01C5-EA5BB66F76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3" t="-464" r="-1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52CF5A7-FF5F-A9C2-B21D-643D42BF1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AECA01-5F6A-422B-2500-7F98DCB1A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13180-0B08-630A-71C7-A62CF0D2CD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929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7F0AB5-7A8A-42FE-5DDF-D044C40A0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BD3598-EFE8-4C2E-A348-DDE3ECCB57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8CDD58-00D0-7445-0027-081618BF2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400036-9C0F-20B9-2C5D-5DD9AB747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278" y="4092395"/>
            <a:ext cx="4389500" cy="2370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ECB146-E4A7-0401-B543-D30CF3239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450" y="1459414"/>
            <a:ext cx="4305673" cy="25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23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249462-D8D2-7F95-D278-1AEAFB44F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14974"/>
          </a:xfrm>
        </p:spPr>
        <p:txBody>
          <a:bodyPr>
            <a:normAutofit/>
          </a:bodyPr>
          <a:lstStyle/>
          <a:p>
            <a:r>
              <a:rPr lang="en-US" sz="2600" dirty="0"/>
              <a:t>Time series segmentation asks to </a:t>
            </a:r>
            <a:r>
              <a:rPr lang="en-US" sz="2600" dirty="0">
                <a:solidFill>
                  <a:srgbClr val="C00000"/>
                </a:solidFill>
              </a:rPr>
              <a:t>partition a time series </a:t>
            </a:r>
            <a:r>
              <a:rPr lang="en-US" sz="2600" dirty="0"/>
              <a:t>into distinct, </a:t>
            </a:r>
            <a:r>
              <a:rPr lang="en-US" sz="2600" dirty="0">
                <a:solidFill>
                  <a:srgbClr val="C00000"/>
                </a:solidFill>
              </a:rPr>
              <a:t>non-overlapping time segments</a:t>
            </a:r>
            <a:r>
              <a:rPr lang="en-US" sz="2600" dirty="0"/>
              <a:t>, each characterized by homogeneous patterns or behaviors.</a:t>
            </a:r>
          </a:p>
          <a:p>
            <a:r>
              <a:rPr lang="en-US" sz="2600" dirty="0"/>
              <a:t>Segmenting a time series entails identifying </a:t>
            </a:r>
            <a:r>
              <a:rPr lang="en-US" sz="2600" dirty="0">
                <a:solidFill>
                  <a:srgbClr val="C00000"/>
                </a:solidFill>
              </a:rPr>
              <a:t>points of change </a:t>
            </a:r>
            <a:r>
              <a:rPr lang="en-US" sz="2600" dirty="0"/>
              <a:t>in the series: temporal shifts, transitions, or abrupt changes that </a:t>
            </a:r>
            <a:r>
              <a:rPr lang="en-US" sz="2600" dirty="0">
                <a:solidFill>
                  <a:srgbClr val="C00000"/>
                </a:solidFill>
              </a:rPr>
              <a:t>carry critical information</a:t>
            </a:r>
            <a:r>
              <a:rPr lang="en-US" sz="2600" dirty="0"/>
              <a:t>. </a:t>
            </a:r>
          </a:p>
          <a:p>
            <a:r>
              <a:rPr lang="en-US" sz="2600" dirty="0"/>
              <a:t>Change points </a:t>
            </a:r>
            <a:r>
              <a:rPr lang="en-US" sz="2600" dirty="0">
                <a:solidFill>
                  <a:srgbClr val="C00000"/>
                </a:solidFill>
              </a:rPr>
              <a:t>identify events </a:t>
            </a:r>
            <a:r>
              <a:rPr lang="en-US" sz="2600" dirty="0"/>
              <a:t>in a time series where the statistical properties of the data undergo a significant change, contributing to the understanding of: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evolving trends,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prediction of future behavior,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identification of anomalous events.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segmentation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D199AA-3A98-6D71-00E1-C4B32A9D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Italian</a:t>
            </a:r>
            <a:r>
              <a:rPr lang="it-IT" dirty="0"/>
              <a:t> GDP per capita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D5F58-7367-9110-E5D2-6001DEF889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C3F1AE-A9F0-F230-089A-35902A20B7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06B6F1-C059-9FE1-9674-C2CBE6A5105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42900" y="1632503"/>
            <a:ext cx="8337486" cy="451332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756CCCA-6C30-1598-B4BB-1B492A66ABD4}"/>
              </a:ext>
            </a:extLst>
          </p:cNvPr>
          <p:cNvCxnSpPr/>
          <p:nvPr/>
        </p:nvCxnSpPr>
        <p:spPr>
          <a:xfrm flipV="1">
            <a:off x="852856" y="5345724"/>
            <a:ext cx="2787161" cy="167054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DCB17A1-78BB-BF67-184B-2821506F1617}"/>
              </a:ext>
            </a:extLst>
          </p:cNvPr>
          <p:cNvCxnSpPr>
            <a:cxnSpLocks/>
          </p:cNvCxnSpPr>
          <p:nvPr/>
        </p:nvCxnSpPr>
        <p:spPr>
          <a:xfrm flipH="1">
            <a:off x="3719146" y="1797574"/>
            <a:ext cx="3956539" cy="3838292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D4CA6CD-F0BC-75FC-231C-B9D8CC586872}"/>
              </a:ext>
            </a:extLst>
          </p:cNvPr>
          <p:cNvCxnSpPr>
            <a:cxnSpLocks/>
          </p:cNvCxnSpPr>
          <p:nvPr/>
        </p:nvCxnSpPr>
        <p:spPr>
          <a:xfrm>
            <a:off x="7675685" y="1925515"/>
            <a:ext cx="881021" cy="87923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004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6063C71-2CD8-4EE2-B54C-07292D2590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6341" y="1371600"/>
            <a:ext cx="6982044" cy="344612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B2F9554-738A-47A2-8DC3-C6857E9CE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Sub-super-</a:t>
            </a:r>
            <a:r>
              <a:rPr lang="en-US" dirty="0" err="1"/>
              <a:t>addittivity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D634E-A5FD-4995-AF03-29D603DE8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DC865-9B9C-4024-953A-0EF3FC10D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182F2-26EC-45C7-9680-EFE38937D08E}"/>
              </a:ext>
            </a:extLst>
          </p:cNvPr>
          <p:cNvSpPr txBox="1"/>
          <p:nvPr/>
        </p:nvSpPr>
        <p:spPr>
          <a:xfrm>
            <a:off x="640080" y="5059680"/>
            <a:ext cx="7579360" cy="9042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en-US" sz="2400" dirty="0"/>
              <a:t>Green can be better or worse.</a:t>
            </a:r>
          </a:p>
          <a:p>
            <a:r>
              <a:rPr lang="en-US" sz="2400" dirty="0"/>
              <a:t>It depends on how much you penalize the number of lines.</a:t>
            </a:r>
          </a:p>
        </p:txBody>
      </p:sp>
    </p:spTree>
    <p:extLst>
      <p:ext uri="{BB962C8B-B14F-4D97-AF65-F5344CB8AC3E}">
        <p14:creationId xmlns:p14="http://schemas.microsoft.com/office/powerpoint/2010/main" val="14871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572550-1A32-4ECF-80D0-A5F57FE46D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0429" y="1173163"/>
            <a:ext cx="7363142" cy="525938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64EDD7C-BE80-460A-8EF8-1FB22928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vs. QRMSE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30A19-86CB-4A16-B228-A79EB95B7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B9F60-2788-4DD1-8E2E-9DF135164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83813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Four 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M5 (retail data)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M6 (daily adjusted close prices of the financial M6 assets)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A set of </a:t>
            </a:r>
            <a:r>
              <a:rPr lang="en-US" sz="2600" dirty="0">
                <a:solidFill>
                  <a:srgbClr val="C00000"/>
                </a:solidFill>
              </a:rPr>
              <a:t>IoT series </a:t>
            </a:r>
            <a:r>
              <a:rPr lang="en-US" sz="2600" dirty="0"/>
              <a:t>on different physical variables August 2022 to April 2023 at different sampling frequency (daily or every 60 mins).</a:t>
            </a:r>
          </a:p>
          <a:p>
            <a:pPr>
              <a:lnSpc>
                <a:spcPct val="120000"/>
              </a:lnSpc>
            </a:pPr>
            <a:r>
              <a:rPr lang="en-US" sz="2600" dirty="0">
                <a:solidFill>
                  <a:srgbClr val="C00000"/>
                </a:solidFill>
              </a:rPr>
              <a:t>Comparison</a:t>
            </a:r>
            <a:r>
              <a:rPr lang="en-US" sz="2600" dirty="0"/>
              <a:t> against codes in </a:t>
            </a:r>
            <a:r>
              <a:rPr lang="en-US" sz="2600" b="1" i="1" dirty="0"/>
              <a:t>ruptures</a:t>
            </a:r>
            <a:r>
              <a:rPr lang="en-US" sz="2600" b="1" i="1" baseline="30000" dirty="0"/>
              <a:t>2</a:t>
            </a:r>
            <a:r>
              <a:rPr lang="en-US" sz="2600" i="1" baseline="30000" dirty="0"/>
              <a:t> </a:t>
            </a:r>
            <a:r>
              <a:rPr lang="en-US" sz="2600" dirty="0"/>
              <a:t>(Truong et al., 2020): </a:t>
            </a:r>
            <a:r>
              <a:rPr lang="en-US" sz="2600" b="1" i="1" dirty="0"/>
              <a:t>DYNP</a:t>
            </a:r>
            <a:r>
              <a:rPr lang="en-US" sz="2600" dirty="0"/>
              <a:t> (needs the number of breaks in input), </a:t>
            </a:r>
            <a:r>
              <a:rPr lang="en-US" sz="2600" b="1" i="1" dirty="0"/>
              <a:t>PELT</a:t>
            </a:r>
            <a:r>
              <a:rPr lang="en-US" sz="2600" dirty="0"/>
              <a:t> (</a:t>
            </a:r>
            <a:r>
              <a:rPr lang="en-US" sz="2600" i="1" dirty="0"/>
              <a:t>Killick et al., 2012</a:t>
            </a:r>
            <a:r>
              <a:rPr lang="en-US" sz="2600" dirty="0"/>
              <a:t>), </a:t>
            </a:r>
            <a:r>
              <a:rPr lang="en-US" sz="2600" b="1" i="1" dirty="0"/>
              <a:t>BINSEG</a:t>
            </a:r>
            <a:r>
              <a:rPr lang="en-US" sz="2600" dirty="0"/>
              <a:t> (</a:t>
            </a:r>
            <a:r>
              <a:rPr lang="en-US" sz="2600" i="1" dirty="0"/>
              <a:t>Keogh, 2001</a:t>
            </a:r>
            <a:r>
              <a:rPr lang="en-US" sz="2600" dirty="0"/>
              <a:t>)</a:t>
            </a:r>
            <a:r>
              <a:rPr lang="da-DK" sz="2600" dirty="0"/>
              <a:t>. 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C++, solver </a:t>
            </a:r>
            <a:r>
              <a:rPr lang="en-US" sz="2600" dirty="0" err="1"/>
              <a:t>Hexaly</a:t>
            </a:r>
            <a:r>
              <a:rPr lang="en-US" sz="2600" dirty="0"/>
              <a:t> 14.5, platform desktop Windows 11.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i="1" baseline="30000" dirty="0"/>
              <a:t>2</a:t>
            </a:r>
            <a:r>
              <a:rPr lang="en-US" sz="1600" dirty="0"/>
              <a:t> https://centre-borelli.github.io/ruptures-docs/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719740"/>
              </p:ext>
            </p:extLst>
          </p:nvPr>
        </p:nvGraphicFramePr>
        <p:xfrm>
          <a:off x="278771" y="1366853"/>
          <a:ext cx="8277935" cy="316992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996118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842090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919961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Name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category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n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t.cpu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t.cpu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t.cpu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M3/N1879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Industry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0.052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1549277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0.054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1497134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0.052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209246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2052486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M3/N1884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0.060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60704647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M3/N1918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0.064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0.078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14791879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0.024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669071908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0.022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10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72742041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0.024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62391329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M3/N2833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0.022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5162881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M3/N2834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0.026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0.046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087752927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 – M3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45080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5272594"/>
              </p:ext>
            </p:extLst>
          </p:nvPr>
        </p:nvGraphicFramePr>
        <p:xfrm>
          <a:off x="465996" y="1762280"/>
          <a:ext cx="8090710" cy="316992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90245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814233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Name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category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n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t.cpu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t.cpu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t.cpu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Q14640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92160475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Q15444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126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0.050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20358623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Q18148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71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0.006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4895072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Q18496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126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34529027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Q19604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47817458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Q19637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Industry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123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43010567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Q2002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Macro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170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0.094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0.078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7068128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Q22221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738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0.713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58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0.359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0.593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2333129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Q5109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Macro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866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1.074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102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0.296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0.828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264538592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Q7774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115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0.026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0.078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38922773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Q8030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Micro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97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0.022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>
                          <a:effectLst/>
                        </a:rPr>
                        <a:t>0.031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</a:rPr>
                        <a:t>0.015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042422778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 – M4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801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5246298"/>
              </p:ext>
            </p:extLst>
          </p:nvPr>
        </p:nvGraphicFramePr>
        <p:xfrm>
          <a:off x="465996" y="1542473"/>
          <a:ext cx="8090710" cy="316992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125415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770271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6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Name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category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n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t.cpu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t.cpu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n.segm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t.cpu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M6/ABBV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253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0.196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0.062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1952090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M6/BTCUSD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367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0.246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0.156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0.125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65592587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M6/EWG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0.176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977252742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M6/EWQ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0.168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14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0.125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550251558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M6/EWZ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0.182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16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0.125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70319916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M6/GBPUSD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263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0.184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17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0.093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0.078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757301408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M6/PYPL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19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0.109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0.062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848229579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M6/RBLX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Finance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0.170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21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0.093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0.046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87236143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M6/ROST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0.172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20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0.078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0.062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207760055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M6/SLV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Finance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253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0.168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23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0.109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0.078</a:t>
                      </a:r>
                      <a:endParaRPr lang="en-US" sz="16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38048334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M6/USDJPY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Finance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263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0.182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22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0.109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8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0.062</a:t>
                      </a:r>
                      <a:endParaRPr lang="en-US" sz="16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77968860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 – M6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433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M3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382D50BF-6293-73E6-8929-905C3294B5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7876368"/>
              </p:ext>
            </p:extLst>
          </p:nvPr>
        </p:nvGraphicFramePr>
        <p:xfrm>
          <a:off x="536330" y="1026290"/>
          <a:ext cx="7877911" cy="5486400"/>
        </p:xfrm>
        <a:graphic>
          <a:graphicData uri="http://schemas.openxmlformats.org/drawingml/2006/table">
            <a:tbl>
              <a:tblPr/>
              <a:tblGrid>
                <a:gridCol w="787791">
                  <a:extLst>
                    <a:ext uri="{9D8B030D-6E8A-4147-A177-3AD203B41FA5}">
                      <a16:colId xmlns:a16="http://schemas.microsoft.com/office/drawing/2014/main" val="975091188"/>
                    </a:ext>
                  </a:extLst>
                </a:gridCol>
                <a:gridCol w="1116996">
                  <a:extLst>
                    <a:ext uri="{9D8B030D-6E8A-4147-A177-3AD203B41FA5}">
                      <a16:colId xmlns:a16="http://schemas.microsoft.com/office/drawing/2014/main" val="1786249198"/>
                    </a:ext>
                  </a:extLst>
                </a:gridCol>
                <a:gridCol w="458587">
                  <a:extLst>
                    <a:ext uri="{9D8B030D-6E8A-4147-A177-3AD203B41FA5}">
                      <a16:colId xmlns:a16="http://schemas.microsoft.com/office/drawing/2014/main" val="986308607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2541881096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4000169385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2482934876"/>
                    </a:ext>
                  </a:extLst>
                </a:gridCol>
                <a:gridCol w="891539">
                  <a:extLst>
                    <a:ext uri="{9D8B030D-6E8A-4147-A177-3AD203B41FA5}">
                      <a16:colId xmlns:a16="http://schemas.microsoft.com/office/drawing/2014/main" val="3031009284"/>
                    </a:ext>
                  </a:extLst>
                </a:gridCol>
                <a:gridCol w="684043">
                  <a:extLst>
                    <a:ext uri="{9D8B030D-6E8A-4147-A177-3AD203B41FA5}">
                      <a16:colId xmlns:a16="http://schemas.microsoft.com/office/drawing/2014/main" val="1923648231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1189549570"/>
                    </a:ext>
                  </a:extLst>
                </a:gridCol>
                <a:gridCol w="787791">
                  <a:extLst>
                    <a:ext uri="{9D8B030D-6E8A-4147-A177-3AD203B41FA5}">
                      <a16:colId xmlns:a16="http://schemas.microsoft.com/office/drawing/2014/main" val="4045824621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Series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89476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N1879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34124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12274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N1881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61701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35498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N1882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88413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52597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N1883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117019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480859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N2270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149421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09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N2459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174193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50653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N2460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210921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8818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N2461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240255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68514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N2523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266915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57475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N2524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293345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84707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N2525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318483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6876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N2526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346194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349839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N2773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368531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0614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N2774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387848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0931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N2775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406769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5465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N2776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426722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01162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N1679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450831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51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N1680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475371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161147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N1681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497600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3788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N1682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520971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63774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N2778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530569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07606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N2779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541209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41174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N2781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550652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73690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N2782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      </a:t>
                      </a:r>
                    </a:p>
                  </a:txBody>
                  <a:tcPr marL="6875" marR="6875" marT="687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560034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549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6791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M4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D7D8BD02-9280-9D12-83C9-4BC2B7E89E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3021411"/>
              </p:ext>
            </p:extLst>
          </p:nvPr>
        </p:nvGraphicFramePr>
        <p:xfrm>
          <a:off x="677010" y="1073357"/>
          <a:ext cx="7921866" cy="5450525"/>
        </p:xfrm>
        <a:graphic>
          <a:graphicData uri="http://schemas.openxmlformats.org/drawingml/2006/table">
            <a:tbl>
              <a:tblPr/>
              <a:tblGrid>
                <a:gridCol w="937152">
                  <a:extLst>
                    <a:ext uri="{9D8B030D-6E8A-4147-A177-3AD203B41FA5}">
                      <a16:colId xmlns:a16="http://schemas.microsoft.com/office/drawing/2014/main" val="2881022058"/>
                    </a:ext>
                  </a:extLst>
                </a:gridCol>
                <a:gridCol w="925928">
                  <a:extLst>
                    <a:ext uri="{9D8B030D-6E8A-4147-A177-3AD203B41FA5}">
                      <a16:colId xmlns:a16="http://schemas.microsoft.com/office/drawing/2014/main" val="1045430401"/>
                    </a:ext>
                  </a:extLst>
                </a:gridCol>
                <a:gridCol w="626232">
                  <a:extLst>
                    <a:ext uri="{9D8B030D-6E8A-4147-A177-3AD203B41FA5}">
                      <a16:colId xmlns:a16="http://schemas.microsoft.com/office/drawing/2014/main" val="1946882423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3533093124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3015743991"/>
                    </a:ext>
                  </a:extLst>
                </a:gridCol>
                <a:gridCol w="531486">
                  <a:extLst>
                    <a:ext uri="{9D8B030D-6E8A-4147-A177-3AD203B41FA5}">
                      <a16:colId xmlns:a16="http://schemas.microsoft.com/office/drawing/2014/main" val="827283757"/>
                    </a:ext>
                  </a:extLst>
                </a:gridCol>
                <a:gridCol w="1020673">
                  <a:extLst>
                    <a:ext uri="{9D8B030D-6E8A-4147-A177-3AD203B41FA5}">
                      <a16:colId xmlns:a16="http://schemas.microsoft.com/office/drawing/2014/main" val="907998233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1862198725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1883616590"/>
                    </a:ext>
                  </a:extLst>
                </a:gridCol>
                <a:gridCol w="776079">
                  <a:extLst>
                    <a:ext uri="{9D8B030D-6E8A-4147-A177-3AD203B41FA5}">
                      <a16:colId xmlns:a16="http://schemas.microsoft.com/office/drawing/2014/main" val="3516175185"/>
                    </a:ext>
                  </a:extLst>
                </a:gridCol>
              </a:tblGrid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Series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it-IT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Category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51486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Q13050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2205557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12999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Q13073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0.456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3674339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931192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Q13086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5447070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0979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Q13075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Demographic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6721769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19281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Q22221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9604633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730920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Q23114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10933843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6857714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Q22468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12130699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8988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Q22451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Finance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12716218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703990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Q15697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15384120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303022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Q15691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3481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17432186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188353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Q15651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18968434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3404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Q15643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Industry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20856708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7471388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Q5109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0.764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25540190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356424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Q4810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28122257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919446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Q4803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5618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29977489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2654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Q4802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5987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32004632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232849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Q10414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36207186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94300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Q10412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7068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37999942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39085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Q10403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7420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39544803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106591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Q10691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40716701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92342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Q23661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42867141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488543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Q23601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8500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44411181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4030148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Q23646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8830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46223265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7834557"/>
                  </a:ext>
                </a:extLst>
              </a:tr>
              <a:tr h="218021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Q23673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</a:t>
                      </a:r>
                    </a:p>
                  </a:txBody>
                  <a:tcPr marL="5571" marR="5571" marT="557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9096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47125866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84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599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B1CC1C4-DE75-6746-6EA7-1FF080B217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0348186"/>
              </p:ext>
            </p:extLst>
          </p:nvPr>
        </p:nvGraphicFramePr>
        <p:xfrm>
          <a:off x="316483" y="1765330"/>
          <a:ext cx="8240225" cy="2514600"/>
        </p:xfrm>
        <a:graphic>
          <a:graphicData uri="http://schemas.openxmlformats.org/drawingml/2006/table">
            <a:tbl>
              <a:tblPr/>
              <a:tblGrid>
                <a:gridCol w="1258637">
                  <a:extLst>
                    <a:ext uri="{9D8B030D-6E8A-4147-A177-3AD203B41FA5}">
                      <a16:colId xmlns:a16="http://schemas.microsoft.com/office/drawing/2014/main" val="138050090"/>
                    </a:ext>
                  </a:extLst>
                </a:gridCol>
                <a:gridCol w="673046">
                  <a:extLst>
                    <a:ext uri="{9D8B030D-6E8A-4147-A177-3AD203B41FA5}">
                      <a16:colId xmlns:a16="http://schemas.microsoft.com/office/drawing/2014/main" val="3040741961"/>
                    </a:ext>
                  </a:extLst>
                </a:gridCol>
                <a:gridCol w="676559">
                  <a:extLst>
                    <a:ext uri="{9D8B030D-6E8A-4147-A177-3AD203B41FA5}">
                      <a16:colId xmlns:a16="http://schemas.microsoft.com/office/drawing/2014/main" val="2981291566"/>
                    </a:ext>
                  </a:extLst>
                </a:gridCol>
                <a:gridCol w="627367">
                  <a:extLst>
                    <a:ext uri="{9D8B030D-6E8A-4147-A177-3AD203B41FA5}">
                      <a16:colId xmlns:a16="http://schemas.microsoft.com/office/drawing/2014/main" val="238078827"/>
                    </a:ext>
                  </a:extLst>
                </a:gridCol>
                <a:gridCol w="694593">
                  <a:extLst>
                    <a:ext uri="{9D8B030D-6E8A-4147-A177-3AD203B41FA5}">
                      <a16:colId xmlns:a16="http://schemas.microsoft.com/office/drawing/2014/main" val="2063564169"/>
                    </a:ext>
                  </a:extLst>
                </a:gridCol>
                <a:gridCol w="1406769">
                  <a:extLst>
                    <a:ext uri="{9D8B030D-6E8A-4147-A177-3AD203B41FA5}">
                      <a16:colId xmlns:a16="http://schemas.microsoft.com/office/drawing/2014/main" val="1251695786"/>
                    </a:ext>
                  </a:extLst>
                </a:gridCol>
                <a:gridCol w="1266092">
                  <a:extLst>
                    <a:ext uri="{9D8B030D-6E8A-4147-A177-3AD203B41FA5}">
                      <a16:colId xmlns:a16="http://schemas.microsoft.com/office/drawing/2014/main" val="2703297787"/>
                    </a:ext>
                  </a:extLst>
                </a:gridCol>
                <a:gridCol w="771959">
                  <a:extLst>
                    <a:ext uri="{9D8B030D-6E8A-4147-A177-3AD203B41FA5}">
                      <a16:colId xmlns:a16="http://schemas.microsoft.com/office/drawing/2014/main" val="76678809"/>
                    </a:ext>
                  </a:extLst>
                </a:gridCol>
                <a:gridCol w="865203">
                  <a:extLst>
                    <a:ext uri="{9D8B030D-6E8A-4147-A177-3AD203B41FA5}">
                      <a16:colId xmlns:a16="http://schemas.microsoft.com/office/drawing/2014/main" val="1508616684"/>
                    </a:ext>
                  </a:extLst>
                </a:gridCol>
              </a:tblGrid>
              <a:tr h="198120">
                <a:tc>
                  <a:txBody>
                    <a:bodyPr/>
                    <a:lstStyle/>
                    <a:p>
                      <a:pPr algn="ctr" fontAlgn="b"/>
                      <a:r>
                        <a:rPr lang="it-IT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Series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386701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18552797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7452483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18055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41416657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233959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23793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6.986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64324064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450021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6344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6.785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2.049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93861549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446091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15559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1.131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110859792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171922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27444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1.628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6105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133856002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9721006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1.557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7009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157277412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6490319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13272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6.735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1.636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7983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185133115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548797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28437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6.839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1.479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8933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206245302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215511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8EB32C7-7BCD-F7CA-9881-1D2BC758B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M5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3AE9EF-9E10-00AC-60CC-EB3CA592DB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4AE86F-F11A-5B85-450E-B5E05557E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18637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 – M6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40608760-8AC9-30DD-9677-0619416CE9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6628943"/>
              </p:ext>
            </p:extLst>
          </p:nvPr>
        </p:nvGraphicFramePr>
        <p:xfrm>
          <a:off x="712177" y="1345222"/>
          <a:ext cx="7844526" cy="4651127"/>
        </p:xfrm>
        <a:graphic>
          <a:graphicData uri="http://schemas.openxmlformats.org/drawingml/2006/table">
            <a:tbl>
              <a:tblPr/>
              <a:tblGrid>
                <a:gridCol w="817685">
                  <a:extLst>
                    <a:ext uri="{9D8B030D-6E8A-4147-A177-3AD203B41FA5}">
                      <a16:colId xmlns:a16="http://schemas.microsoft.com/office/drawing/2014/main" val="1146925112"/>
                    </a:ext>
                  </a:extLst>
                </a:gridCol>
                <a:gridCol w="659423">
                  <a:extLst>
                    <a:ext uri="{9D8B030D-6E8A-4147-A177-3AD203B41FA5}">
                      <a16:colId xmlns:a16="http://schemas.microsoft.com/office/drawing/2014/main" val="1667763237"/>
                    </a:ext>
                  </a:extLst>
                </a:gridCol>
                <a:gridCol w="826477">
                  <a:extLst>
                    <a:ext uri="{9D8B030D-6E8A-4147-A177-3AD203B41FA5}">
                      <a16:colId xmlns:a16="http://schemas.microsoft.com/office/drawing/2014/main" val="303226282"/>
                    </a:ext>
                  </a:extLst>
                </a:gridCol>
                <a:gridCol w="826476">
                  <a:extLst>
                    <a:ext uri="{9D8B030D-6E8A-4147-A177-3AD203B41FA5}">
                      <a16:colId xmlns:a16="http://schemas.microsoft.com/office/drawing/2014/main" val="80370117"/>
                    </a:ext>
                  </a:extLst>
                </a:gridCol>
                <a:gridCol w="756139">
                  <a:extLst>
                    <a:ext uri="{9D8B030D-6E8A-4147-A177-3AD203B41FA5}">
                      <a16:colId xmlns:a16="http://schemas.microsoft.com/office/drawing/2014/main" val="2116812748"/>
                    </a:ext>
                  </a:extLst>
                </a:gridCol>
                <a:gridCol w="1343484">
                  <a:extLst>
                    <a:ext uri="{9D8B030D-6E8A-4147-A177-3AD203B41FA5}">
                      <a16:colId xmlns:a16="http://schemas.microsoft.com/office/drawing/2014/main" val="3084602848"/>
                    </a:ext>
                  </a:extLst>
                </a:gridCol>
                <a:gridCol w="986477">
                  <a:extLst>
                    <a:ext uri="{9D8B030D-6E8A-4147-A177-3AD203B41FA5}">
                      <a16:colId xmlns:a16="http://schemas.microsoft.com/office/drawing/2014/main" val="2380512273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6582010"/>
                    </a:ext>
                  </a:extLst>
                </a:gridCol>
                <a:gridCol w="837057">
                  <a:extLst>
                    <a:ext uri="{9D8B030D-6E8A-4147-A177-3AD203B41FA5}">
                      <a16:colId xmlns:a16="http://schemas.microsoft.com/office/drawing/2014/main" val="576863470"/>
                    </a:ext>
                  </a:extLst>
                </a:gridCol>
              </a:tblGrid>
              <a:tr h="490119">
                <a:tc>
                  <a:txBody>
                    <a:bodyPr/>
                    <a:lstStyle/>
                    <a:p>
                      <a:pPr algn="l" fontAlgn="b"/>
                      <a:r>
                        <a:rPr lang="it-IT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Series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t.prec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t.cpu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topt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num.matches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n.fathomed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n.brk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b-f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22866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ABBV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122013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845164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276124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698110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HST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294184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44991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PYPL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423530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3989613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ROST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550858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586064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RBLX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672188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415308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EWG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690884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866170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EWQ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711664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56508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EWZ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730103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971413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SLV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749526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898096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VXX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782110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82905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BTCUSD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0.093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1100469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958389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EURCHF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1100723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0131432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EURUSD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1100977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7130427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GBPUSD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1101231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6527630"/>
                  </a:ext>
                </a:extLst>
              </a:tr>
              <a:tr h="26006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USDJPY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1122824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792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038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FDBDB36-1275-F2E9-08B3-F455FF7E46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485" y="1112561"/>
            <a:ext cx="3835568" cy="305669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E77AFAF-317E-1CED-DB49-D6E22749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IoT, environmental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D7A8E-E518-DA77-2589-71E791B72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7BD37-4BF1-E9E9-149C-DD4868E829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B246D0-6E37-5D8B-D870-284C3513B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983" y="3052625"/>
            <a:ext cx="4142908" cy="330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17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360C52-1CF0-25C6-0658-5325BDE345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2003232"/>
            <a:ext cx="8547100" cy="352822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D58F8A-9268-6259-78AC-F34D980FD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IoT, </a:t>
            </a:r>
            <a:r>
              <a:rPr lang="it-IT" dirty="0" err="1"/>
              <a:t>environmental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051C9-0192-B65B-617C-73E834810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124EA-B9D9-C153-DA2B-6FB0E5E1C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7209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D46940F-C05A-E0CD-2E58-CAE5099DF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7478" y="1288038"/>
            <a:ext cx="6729043" cy="5029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M6, bitcoin exchange rate vs USD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2470</TotalTime>
  <Words>1935</Words>
  <Application>Microsoft Office PowerPoint</Application>
  <PresentationFormat>On-screen Show (4:3)</PresentationFormat>
  <Paragraphs>1170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AAchalk</vt:lpstr>
      <vt:lpstr>Aptos</vt:lpstr>
      <vt:lpstr>Aptos Narrow</vt:lpstr>
      <vt:lpstr>Arial</vt:lpstr>
      <vt:lpstr>Calibri Light</vt:lpstr>
      <vt:lpstr>Cambria</vt:lpstr>
      <vt:lpstr>Cambria Math</vt:lpstr>
      <vt:lpstr>Lekton</vt:lpstr>
      <vt:lpstr>ManiezzoSlides</vt:lpstr>
      <vt:lpstr>Wingdings</vt:lpstr>
      <vt:lpstr>ThemeQuadretti</vt:lpstr>
      <vt:lpstr>Fore-and-Back for Changepoint Detection</vt:lpstr>
      <vt:lpstr>LION-1, Andalo, 2007 </vt:lpstr>
      <vt:lpstr>The intuition</vt:lpstr>
      <vt:lpstr>Fore-and-Back matheuristic</vt:lpstr>
      <vt:lpstr>Fore-and-Back matheuristic</vt:lpstr>
      <vt:lpstr>Fore-and-Back matheuristic</vt:lpstr>
      <vt:lpstr>Time series segmentation</vt:lpstr>
      <vt:lpstr>Italian GDP per capita</vt:lpstr>
      <vt:lpstr>Sub-super-addittivity</vt:lpstr>
      <vt:lpstr>AIC vs. QRMSE</vt:lpstr>
      <vt:lpstr>Testsets</vt:lpstr>
      <vt:lpstr>AIC – M3</vt:lpstr>
      <vt:lpstr>AIC – M4</vt:lpstr>
      <vt:lpstr>AIC – M6</vt:lpstr>
      <vt:lpstr>QRMSE – M3</vt:lpstr>
      <vt:lpstr>QRMSE – M4</vt:lpstr>
      <vt:lpstr>QRMSE – M5</vt:lpstr>
      <vt:lpstr>QRMSE – M6</vt:lpstr>
      <vt:lpstr>IoT, environmental</vt:lpstr>
      <vt:lpstr>IoT, environmental</vt:lpstr>
      <vt:lpstr>M6, bitcoin exchange rate vs USD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202</cp:revision>
  <dcterms:created xsi:type="dcterms:W3CDTF">2024-02-06T11:14:54Z</dcterms:created>
  <dcterms:modified xsi:type="dcterms:W3CDTF">2026-06-02T14:30:48Z</dcterms:modified>
</cp:coreProperties>
</file>