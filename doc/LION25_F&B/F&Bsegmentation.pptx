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78" r:id="rId3"/>
    <p:sldId id="265" r:id="rId4"/>
    <p:sldId id="266" r:id="rId5"/>
    <p:sldId id="267" r:id="rId6"/>
    <p:sldId id="271" r:id="rId7"/>
    <p:sldId id="269" r:id="rId8"/>
    <p:sldId id="270" r:id="rId9"/>
    <p:sldId id="273" r:id="rId10"/>
    <p:sldId id="275" r:id="rId11"/>
    <p:sldId id="276" r:id="rId12"/>
    <p:sldId id="277" r:id="rId13"/>
    <p:sldId id="262" r:id="rId14"/>
    <p:sldId id="259" r:id="rId15"/>
    <p:sldId id="261" r:id="rId16"/>
    <p:sldId id="279" r:id="rId17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9" autoAdjust="0"/>
    <p:restoredTop sz="94660"/>
  </p:normalViewPr>
  <p:slideViewPr>
    <p:cSldViewPr snapToGrid="0">
      <p:cViewPr varScale="1">
        <p:scale>
          <a:sx n="94" d="100"/>
          <a:sy n="94" d="100"/>
        </p:scale>
        <p:origin x="768" y="-443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13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3.png"/><Relationship Id="rId5" Type="http://schemas.openxmlformats.org/officeDocument/2006/relationships/image" Target="../media/image6.png"/><Relationship Id="rId10" Type="http://schemas.openxmlformats.org/officeDocument/2006/relationships/image" Target="../media/image12.png"/><Relationship Id="rId4" Type="http://schemas.openxmlformats.org/officeDocument/2006/relationships/image" Target="../media/image5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1365397"/>
            <a:ext cx="8014741" cy="264469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4400" dirty="0"/>
              <a:t>Fore-and-Back for Changepoint Detection</a:t>
            </a:r>
            <a:endParaRPr lang="it-IT" sz="44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5781039" y="5564083"/>
            <a:ext cx="3322029" cy="1202477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 Maniezzo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University of Bologna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vittorio.maniezzo@unibo.it</a:t>
            </a:r>
          </a:p>
        </p:txBody>
      </p:sp>
      <p:grpSp>
        <p:nvGrpSpPr>
          <p:cNvPr id="4" name="linea">
            <a:extLst>
              <a:ext uri="{FF2B5EF4-FFF2-40B4-BE49-F238E27FC236}">
                <a16:creationId xmlns:a16="http://schemas.microsoft.com/office/drawing/2014/main" id="{145D9C24-497C-441E-A3D3-331D06145CEE}"/>
              </a:ext>
            </a:extLst>
          </p:cNvPr>
          <p:cNvGrpSpPr/>
          <p:nvPr/>
        </p:nvGrpSpPr>
        <p:grpSpPr bwMode="invGray">
          <a:xfrm>
            <a:off x="396442" y="4010091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>
              <a:extLst>
                <a:ext uri="{FF2B5EF4-FFF2-40B4-BE49-F238E27FC236}">
                  <a16:creationId xmlns:a16="http://schemas.microsoft.com/office/drawing/2014/main" id="{D322C151-15B2-4E6A-8094-123F558A996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" name="Figura a mano libera 11">
              <a:extLst>
                <a:ext uri="{FF2B5EF4-FFF2-40B4-BE49-F238E27FC236}">
                  <a16:creationId xmlns:a16="http://schemas.microsoft.com/office/drawing/2014/main" id="{864BCB5A-138C-4EED-A084-89B52A615D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>
              <a:extLst>
                <a:ext uri="{FF2B5EF4-FFF2-40B4-BE49-F238E27FC236}">
                  <a16:creationId xmlns:a16="http://schemas.microsoft.com/office/drawing/2014/main" id="{FB2A8E7A-2A36-477F-9E96-ED0C634B29E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>
              <a:extLst>
                <a:ext uri="{FF2B5EF4-FFF2-40B4-BE49-F238E27FC236}">
                  <a16:creationId xmlns:a16="http://schemas.microsoft.com/office/drawing/2014/main" id="{C74CFF84-CFB4-41A8-8F02-59438256EAE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>
              <a:extLst>
                <a:ext uri="{FF2B5EF4-FFF2-40B4-BE49-F238E27FC236}">
                  <a16:creationId xmlns:a16="http://schemas.microsoft.com/office/drawing/2014/main" id="{A3152A92-80EA-4CDC-817E-50A54EFD3B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>
              <a:extLst>
                <a:ext uri="{FF2B5EF4-FFF2-40B4-BE49-F238E27FC236}">
                  <a16:creationId xmlns:a16="http://schemas.microsoft.com/office/drawing/2014/main" id="{88F34E46-1712-4E73-94E1-F182E06A68A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>
              <a:extLst>
                <a:ext uri="{FF2B5EF4-FFF2-40B4-BE49-F238E27FC236}">
                  <a16:creationId xmlns:a16="http://schemas.microsoft.com/office/drawing/2014/main" id="{F264C382-1F30-4D8E-91C6-1960D13A50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>
              <a:extLst>
                <a:ext uri="{FF2B5EF4-FFF2-40B4-BE49-F238E27FC236}">
                  <a16:creationId xmlns:a16="http://schemas.microsoft.com/office/drawing/2014/main" id="{25224C1B-2C6A-4F58-9835-5B6B0CD1CC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>
              <a:extLst>
                <a:ext uri="{FF2B5EF4-FFF2-40B4-BE49-F238E27FC236}">
                  <a16:creationId xmlns:a16="http://schemas.microsoft.com/office/drawing/2014/main" id="{99F95225-B0B8-4637-A794-8E8501A384B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>
              <a:extLst>
                <a:ext uri="{FF2B5EF4-FFF2-40B4-BE49-F238E27FC236}">
                  <a16:creationId xmlns:a16="http://schemas.microsoft.com/office/drawing/2014/main" id="{6A8B5657-BCD0-40CB-B9EA-EC999E03901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>
              <a:extLst>
                <a:ext uri="{FF2B5EF4-FFF2-40B4-BE49-F238E27FC236}">
                  <a16:creationId xmlns:a16="http://schemas.microsoft.com/office/drawing/2014/main" id="{545CA83B-7C9E-455F-95E4-35B7A056215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>
              <a:extLst>
                <a:ext uri="{FF2B5EF4-FFF2-40B4-BE49-F238E27FC236}">
                  <a16:creationId xmlns:a16="http://schemas.microsoft.com/office/drawing/2014/main" id="{86FD7A18-3334-4362-960C-2A6FC5F67E7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>
              <a:extLst>
                <a:ext uri="{FF2B5EF4-FFF2-40B4-BE49-F238E27FC236}">
                  <a16:creationId xmlns:a16="http://schemas.microsoft.com/office/drawing/2014/main" id="{86B8D299-9339-4702-A83B-038392EA13D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>
              <a:extLst>
                <a:ext uri="{FF2B5EF4-FFF2-40B4-BE49-F238E27FC236}">
                  <a16:creationId xmlns:a16="http://schemas.microsoft.com/office/drawing/2014/main" id="{C05CDB97-4132-4059-8025-49A497CA92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>
              <a:extLst>
                <a:ext uri="{FF2B5EF4-FFF2-40B4-BE49-F238E27FC236}">
                  <a16:creationId xmlns:a16="http://schemas.microsoft.com/office/drawing/2014/main" id="{1C100573-D882-4799-9BCF-5579DA8C826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>
              <a:extLst>
                <a:ext uri="{FF2B5EF4-FFF2-40B4-BE49-F238E27FC236}">
                  <a16:creationId xmlns:a16="http://schemas.microsoft.com/office/drawing/2014/main" id="{9F0FA0E2-2814-4DFA-B560-B92C2A0A467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>
              <a:extLst>
                <a:ext uri="{FF2B5EF4-FFF2-40B4-BE49-F238E27FC236}">
                  <a16:creationId xmlns:a16="http://schemas.microsoft.com/office/drawing/2014/main" id="{70B3B9A2-5543-4C1E-907D-7000782965D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>
              <a:extLst>
                <a:ext uri="{FF2B5EF4-FFF2-40B4-BE49-F238E27FC236}">
                  <a16:creationId xmlns:a16="http://schemas.microsoft.com/office/drawing/2014/main" id="{C795110E-FBDF-4C11-8FEC-7C8C79C3BE3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>
              <a:extLst>
                <a:ext uri="{FF2B5EF4-FFF2-40B4-BE49-F238E27FC236}">
                  <a16:creationId xmlns:a16="http://schemas.microsoft.com/office/drawing/2014/main" id="{C45300A0-C35F-4942-B14A-C4F8CE85F2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>
              <a:extLst>
                <a:ext uri="{FF2B5EF4-FFF2-40B4-BE49-F238E27FC236}">
                  <a16:creationId xmlns:a16="http://schemas.microsoft.com/office/drawing/2014/main" id="{427CC614-001E-4826-A460-64DB7D6A43A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>
              <a:extLst>
                <a:ext uri="{FF2B5EF4-FFF2-40B4-BE49-F238E27FC236}">
                  <a16:creationId xmlns:a16="http://schemas.microsoft.com/office/drawing/2014/main" id="{3CF50919-5802-4F73-A5FA-2F384C55EBF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>
              <a:extLst>
                <a:ext uri="{FF2B5EF4-FFF2-40B4-BE49-F238E27FC236}">
                  <a16:creationId xmlns:a16="http://schemas.microsoft.com/office/drawing/2014/main" id="{8881EC7A-6B0E-4240-B7DF-77E53A42028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>
              <a:extLst>
                <a:ext uri="{FF2B5EF4-FFF2-40B4-BE49-F238E27FC236}">
                  <a16:creationId xmlns:a16="http://schemas.microsoft.com/office/drawing/2014/main" id="{93ABCD5D-F355-4501-AED1-25C89C0E6F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>
              <a:extLst>
                <a:ext uri="{FF2B5EF4-FFF2-40B4-BE49-F238E27FC236}">
                  <a16:creationId xmlns:a16="http://schemas.microsoft.com/office/drawing/2014/main" id="{BBDCC998-4230-4F20-A2E5-37A005478F59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>
              <a:extLst>
                <a:ext uri="{FF2B5EF4-FFF2-40B4-BE49-F238E27FC236}">
                  <a16:creationId xmlns:a16="http://schemas.microsoft.com/office/drawing/2014/main" id="{92055003-E365-4C48-93BD-F68C52CA3F4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>
              <a:extLst>
                <a:ext uri="{FF2B5EF4-FFF2-40B4-BE49-F238E27FC236}">
                  <a16:creationId xmlns:a16="http://schemas.microsoft.com/office/drawing/2014/main" id="{864C159D-529A-4F18-A058-26F591C4E7C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>
              <a:extLst>
                <a:ext uri="{FF2B5EF4-FFF2-40B4-BE49-F238E27FC236}">
                  <a16:creationId xmlns:a16="http://schemas.microsoft.com/office/drawing/2014/main" id="{33D095F8-861D-466C-AE50-D8A2AAF2962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>
              <a:extLst>
                <a:ext uri="{FF2B5EF4-FFF2-40B4-BE49-F238E27FC236}">
                  <a16:creationId xmlns:a16="http://schemas.microsoft.com/office/drawing/2014/main" id="{1693B8CA-5F2C-4D68-B258-F2060C0AA67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>
              <a:extLst>
                <a:ext uri="{FF2B5EF4-FFF2-40B4-BE49-F238E27FC236}">
                  <a16:creationId xmlns:a16="http://schemas.microsoft.com/office/drawing/2014/main" id="{CF4CB899-72F1-471A-8827-C76CB3020AB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>
              <a:extLst>
                <a:ext uri="{FF2B5EF4-FFF2-40B4-BE49-F238E27FC236}">
                  <a16:creationId xmlns:a16="http://schemas.microsoft.com/office/drawing/2014/main" id="{ABB2800F-1B33-4062-A71E-4B610D8977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>
              <a:extLst>
                <a:ext uri="{FF2B5EF4-FFF2-40B4-BE49-F238E27FC236}">
                  <a16:creationId xmlns:a16="http://schemas.microsoft.com/office/drawing/2014/main" id="{6FFF9AA6-E7FC-4312-AD92-8C6E8AB5FAA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>
              <a:extLst>
                <a:ext uri="{FF2B5EF4-FFF2-40B4-BE49-F238E27FC236}">
                  <a16:creationId xmlns:a16="http://schemas.microsoft.com/office/drawing/2014/main" id="{7654282E-411D-47A4-BEDD-F1D36963D61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>
              <a:extLst>
                <a:ext uri="{FF2B5EF4-FFF2-40B4-BE49-F238E27FC236}">
                  <a16:creationId xmlns:a16="http://schemas.microsoft.com/office/drawing/2014/main" id="{BB64D69C-CAE2-4922-A4AF-662CF5AB17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>
              <a:extLst>
                <a:ext uri="{FF2B5EF4-FFF2-40B4-BE49-F238E27FC236}">
                  <a16:creationId xmlns:a16="http://schemas.microsoft.com/office/drawing/2014/main" id="{2ED80A6D-4378-441A-B270-796047A1C38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>
              <a:extLst>
                <a:ext uri="{FF2B5EF4-FFF2-40B4-BE49-F238E27FC236}">
                  <a16:creationId xmlns:a16="http://schemas.microsoft.com/office/drawing/2014/main" id="{0A86051E-8AAA-439F-B366-AEE843A3C1C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>
              <a:extLst>
                <a:ext uri="{FF2B5EF4-FFF2-40B4-BE49-F238E27FC236}">
                  <a16:creationId xmlns:a16="http://schemas.microsoft.com/office/drawing/2014/main" id="{6571B322-E3F3-42C3-AF20-854FF13493B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>
              <a:extLst>
                <a:ext uri="{FF2B5EF4-FFF2-40B4-BE49-F238E27FC236}">
                  <a16:creationId xmlns:a16="http://schemas.microsoft.com/office/drawing/2014/main" id="{C9C5DBCF-AD15-4C4B-8582-BCD483745B3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>
              <a:extLst>
                <a:ext uri="{FF2B5EF4-FFF2-40B4-BE49-F238E27FC236}">
                  <a16:creationId xmlns:a16="http://schemas.microsoft.com/office/drawing/2014/main" id="{B023E1B3-F129-43D8-8F04-43AFFDEC2A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>
              <a:extLst>
                <a:ext uri="{FF2B5EF4-FFF2-40B4-BE49-F238E27FC236}">
                  <a16:creationId xmlns:a16="http://schemas.microsoft.com/office/drawing/2014/main" id="{A44BE531-DC1E-4791-8B3F-FF2586CC777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>
              <a:extLst>
                <a:ext uri="{FF2B5EF4-FFF2-40B4-BE49-F238E27FC236}">
                  <a16:creationId xmlns:a16="http://schemas.microsoft.com/office/drawing/2014/main" id="{030105FD-9954-400B-90B6-3871CC4198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>
              <a:extLst>
                <a:ext uri="{FF2B5EF4-FFF2-40B4-BE49-F238E27FC236}">
                  <a16:creationId xmlns:a16="http://schemas.microsoft.com/office/drawing/2014/main" id="{7B8EB148-CE8F-4E9D-B4EC-7333FD91002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>
              <a:extLst>
                <a:ext uri="{FF2B5EF4-FFF2-40B4-BE49-F238E27FC236}">
                  <a16:creationId xmlns:a16="http://schemas.microsoft.com/office/drawing/2014/main" id="{AC05E91E-9EFF-47D7-A34E-F698DD9BCD1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>
              <a:extLst>
                <a:ext uri="{FF2B5EF4-FFF2-40B4-BE49-F238E27FC236}">
                  <a16:creationId xmlns:a16="http://schemas.microsoft.com/office/drawing/2014/main" id="{96F1C184-5F65-4577-B1DD-2B765CD6F1C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>
              <a:extLst>
                <a:ext uri="{FF2B5EF4-FFF2-40B4-BE49-F238E27FC236}">
                  <a16:creationId xmlns:a16="http://schemas.microsoft.com/office/drawing/2014/main" id="{4D5BFD5E-869B-4D2A-8398-725D90A2098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>
              <a:extLst>
                <a:ext uri="{FF2B5EF4-FFF2-40B4-BE49-F238E27FC236}">
                  <a16:creationId xmlns:a16="http://schemas.microsoft.com/office/drawing/2014/main" id="{AAD56FE7-6ADD-4C7B-BE6D-7A50412884C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>
              <a:extLst>
                <a:ext uri="{FF2B5EF4-FFF2-40B4-BE49-F238E27FC236}">
                  <a16:creationId xmlns:a16="http://schemas.microsoft.com/office/drawing/2014/main" id="{73FACDAE-D56F-4FE6-B31D-DC3A79D6D87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>
              <a:extLst>
                <a:ext uri="{FF2B5EF4-FFF2-40B4-BE49-F238E27FC236}">
                  <a16:creationId xmlns:a16="http://schemas.microsoft.com/office/drawing/2014/main" id="{D94284AE-85BE-444E-B622-FF37C8A914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>
              <a:extLst>
                <a:ext uri="{FF2B5EF4-FFF2-40B4-BE49-F238E27FC236}">
                  <a16:creationId xmlns:a16="http://schemas.microsoft.com/office/drawing/2014/main" id="{98AAEA7A-F3F7-40C4-A2D6-4F82B7636AE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>
              <a:extLst>
                <a:ext uri="{FF2B5EF4-FFF2-40B4-BE49-F238E27FC236}">
                  <a16:creationId xmlns:a16="http://schemas.microsoft.com/office/drawing/2014/main" id="{AF51A35D-2FBA-4046-98B3-E208CF4C32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>
              <a:extLst>
                <a:ext uri="{FF2B5EF4-FFF2-40B4-BE49-F238E27FC236}">
                  <a16:creationId xmlns:a16="http://schemas.microsoft.com/office/drawing/2014/main" id="{FFBEF6AF-DFC2-43C9-9F26-2A510F6F2A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>
              <a:extLst>
                <a:ext uri="{FF2B5EF4-FFF2-40B4-BE49-F238E27FC236}">
                  <a16:creationId xmlns:a16="http://schemas.microsoft.com/office/drawing/2014/main" id="{8D649C56-0573-4634-AA61-E940650D8B99}"/>
                </a:ext>
              </a:extLst>
            </p:cNvPr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>
              <a:extLst>
                <a:ext uri="{FF2B5EF4-FFF2-40B4-BE49-F238E27FC236}">
                  <a16:creationId xmlns:a16="http://schemas.microsoft.com/office/drawing/2014/main" id="{6C083D07-F662-4B88-A7AD-D2A3001A7A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>
              <a:extLst>
                <a:ext uri="{FF2B5EF4-FFF2-40B4-BE49-F238E27FC236}">
                  <a16:creationId xmlns:a16="http://schemas.microsoft.com/office/drawing/2014/main" id="{52719EEC-4A5A-4B27-AF60-54D11F4CC9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>
              <a:extLst>
                <a:ext uri="{FF2B5EF4-FFF2-40B4-BE49-F238E27FC236}">
                  <a16:creationId xmlns:a16="http://schemas.microsoft.com/office/drawing/2014/main" id="{497702AA-B85C-43F5-8191-1EE8B9EB392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>
              <a:extLst>
                <a:ext uri="{FF2B5EF4-FFF2-40B4-BE49-F238E27FC236}">
                  <a16:creationId xmlns:a16="http://schemas.microsoft.com/office/drawing/2014/main" id="{DC6FAF18-E30C-4311-80B3-BA1CB010124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>
              <a:extLst>
                <a:ext uri="{FF2B5EF4-FFF2-40B4-BE49-F238E27FC236}">
                  <a16:creationId xmlns:a16="http://schemas.microsoft.com/office/drawing/2014/main" id="{9B06496D-42D9-4B23-AA94-0DF6F47EAB7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>
              <a:extLst>
                <a:ext uri="{FF2B5EF4-FFF2-40B4-BE49-F238E27FC236}">
                  <a16:creationId xmlns:a16="http://schemas.microsoft.com/office/drawing/2014/main" id="{4E23B2FC-7FDB-492C-97FE-8D6CC5FCD28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>
              <a:extLst>
                <a:ext uri="{FF2B5EF4-FFF2-40B4-BE49-F238E27FC236}">
                  <a16:creationId xmlns:a16="http://schemas.microsoft.com/office/drawing/2014/main" id="{9DEDC81D-E949-4266-9944-35BFA0DB695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>
              <a:extLst>
                <a:ext uri="{FF2B5EF4-FFF2-40B4-BE49-F238E27FC236}">
                  <a16:creationId xmlns:a16="http://schemas.microsoft.com/office/drawing/2014/main" id="{0FE9C02B-9BE5-4C0A-AB91-626F2E7C37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>
              <a:extLst>
                <a:ext uri="{FF2B5EF4-FFF2-40B4-BE49-F238E27FC236}">
                  <a16:creationId xmlns:a16="http://schemas.microsoft.com/office/drawing/2014/main" id="{106CEB60-669D-4F08-B9A7-2E4D35D8EAF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>
              <a:extLst>
                <a:ext uri="{FF2B5EF4-FFF2-40B4-BE49-F238E27FC236}">
                  <a16:creationId xmlns:a16="http://schemas.microsoft.com/office/drawing/2014/main" id="{B8238780-CAD2-4991-B1A3-F3AF2ECA47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>
              <a:extLst>
                <a:ext uri="{FF2B5EF4-FFF2-40B4-BE49-F238E27FC236}">
                  <a16:creationId xmlns:a16="http://schemas.microsoft.com/office/drawing/2014/main" id="{DF31B18A-1226-49FC-B8F3-A71F6F7B5D2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>
              <a:extLst>
                <a:ext uri="{FF2B5EF4-FFF2-40B4-BE49-F238E27FC236}">
                  <a16:creationId xmlns:a16="http://schemas.microsoft.com/office/drawing/2014/main" id="{FDF82FA3-3896-4FCB-981C-E596BA9FE1F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>
              <a:extLst>
                <a:ext uri="{FF2B5EF4-FFF2-40B4-BE49-F238E27FC236}">
                  <a16:creationId xmlns:a16="http://schemas.microsoft.com/office/drawing/2014/main" id="{97343E89-E6C3-4C21-BBA6-3CE199E953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>
              <a:extLst>
                <a:ext uri="{FF2B5EF4-FFF2-40B4-BE49-F238E27FC236}">
                  <a16:creationId xmlns:a16="http://schemas.microsoft.com/office/drawing/2014/main" id="{5E10BDFB-3013-4973-BB77-F7EB4C9D81E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>
              <a:extLst>
                <a:ext uri="{FF2B5EF4-FFF2-40B4-BE49-F238E27FC236}">
                  <a16:creationId xmlns:a16="http://schemas.microsoft.com/office/drawing/2014/main" id="{654753FC-11FF-4DFC-8341-C03E5B7D08C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>
              <a:extLst>
                <a:ext uri="{FF2B5EF4-FFF2-40B4-BE49-F238E27FC236}">
                  <a16:creationId xmlns:a16="http://schemas.microsoft.com/office/drawing/2014/main" id="{5B3789F8-AD2E-4DB4-A477-90E2D90CB7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>
              <a:extLst>
                <a:ext uri="{FF2B5EF4-FFF2-40B4-BE49-F238E27FC236}">
                  <a16:creationId xmlns:a16="http://schemas.microsoft.com/office/drawing/2014/main" id="{D9D37BE8-9EA6-41C6-BABD-6A1865E68E8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>
              <a:extLst>
                <a:ext uri="{FF2B5EF4-FFF2-40B4-BE49-F238E27FC236}">
                  <a16:creationId xmlns:a16="http://schemas.microsoft.com/office/drawing/2014/main" id="{97368B78-3BC7-4D1C-8BE1-803E4A1D632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>
              <a:extLst>
                <a:ext uri="{FF2B5EF4-FFF2-40B4-BE49-F238E27FC236}">
                  <a16:creationId xmlns:a16="http://schemas.microsoft.com/office/drawing/2014/main" id="{CD5DEB82-90EE-4B03-9557-B57E844C1C8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>
              <a:extLst>
                <a:ext uri="{FF2B5EF4-FFF2-40B4-BE49-F238E27FC236}">
                  <a16:creationId xmlns:a16="http://schemas.microsoft.com/office/drawing/2014/main" id="{9CAA0EB0-2610-4A85-ABBA-BA80571DF29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>
              <a:extLst>
                <a:ext uri="{FF2B5EF4-FFF2-40B4-BE49-F238E27FC236}">
                  <a16:creationId xmlns:a16="http://schemas.microsoft.com/office/drawing/2014/main" id="{955C439C-F3A0-4AF9-BD5D-73ABEB989A0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>
              <a:extLst>
                <a:ext uri="{FF2B5EF4-FFF2-40B4-BE49-F238E27FC236}">
                  <a16:creationId xmlns:a16="http://schemas.microsoft.com/office/drawing/2014/main" id="{E7DDF141-6537-4E0D-BF78-43F8680569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>
              <a:extLst>
                <a:ext uri="{FF2B5EF4-FFF2-40B4-BE49-F238E27FC236}">
                  <a16:creationId xmlns:a16="http://schemas.microsoft.com/office/drawing/2014/main" id="{789A3C03-E670-4FC6-AC2C-871A522A852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9D94A-411D-49D2-93C8-DE6206F8F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CBA538B-C756-4EC0-87B0-9AFA748B6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LION-1, </a:t>
            </a:r>
            <a:r>
              <a:rPr lang="en-US" dirty="0" err="1"/>
              <a:t>Andalo</a:t>
            </a:r>
            <a:r>
              <a:rPr lang="en-US" dirty="0"/>
              <a:t>, 2007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C2DD2E-5050-4900-AD8A-9C6A3FB84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29C4B8-72AD-4EDD-B2C5-00E8B3B1E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480" y="1015365"/>
            <a:ext cx="7061200" cy="551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816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249462-D8D2-7F95-D278-1AEAFB44F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5414974"/>
          </a:xfrm>
        </p:spPr>
        <p:txBody>
          <a:bodyPr>
            <a:normAutofit/>
          </a:bodyPr>
          <a:lstStyle/>
          <a:p>
            <a:r>
              <a:rPr lang="en-US" sz="2600" dirty="0"/>
              <a:t>Time series segmentation asks to </a:t>
            </a:r>
            <a:r>
              <a:rPr lang="en-US" sz="2600" dirty="0">
                <a:solidFill>
                  <a:srgbClr val="C00000"/>
                </a:solidFill>
              </a:rPr>
              <a:t>partition a time series </a:t>
            </a:r>
            <a:r>
              <a:rPr lang="en-US" sz="2600" dirty="0"/>
              <a:t>into distinct, </a:t>
            </a:r>
            <a:r>
              <a:rPr lang="en-US" sz="2600" dirty="0">
                <a:solidFill>
                  <a:srgbClr val="C00000"/>
                </a:solidFill>
              </a:rPr>
              <a:t>non-overlapping time segments</a:t>
            </a:r>
            <a:r>
              <a:rPr lang="en-US" sz="2600" dirty="0"/>
              <a:t>, each characterized by homogeneous patterns or behaviors.</a:t>
            </a:r>
          </a:p>
          <a:p>
            <a:r>
              <a:rPr lang="en-US" sz="2600" dirty="0"/>
              <a:t>Segmenting a time series entails identifying </a:t>
            </a:r>
            <a:r>
              <a:rPr lang="en-US" sz="2600" dirty="0">
                <a:solidFill>
                  <a:srgbClr val="C00000"/>
                </a:solidFill>
              </a:rPr>
              <a:t>points of change </a:t>
            </a:r>
            <a:r>
              <a:rPr lang="en-US" sz="2600" dirty="0"/>
              <a:t>in the series: temporal shifts, transitions, or abrupt changes that </a:t>
            </a:r>
            <a:r>
              <a:rPr lang="en-US" sz="2600" dirty="0">
                <a:solidFill>
                  <a:srgbClr val="C00000"/>
                </a:solidFill>
              </a:rPr>
              <a:t>carry critical information</a:t>
            </a:r>
            <a:r>
              <a:rPr lang="en-US" sz="2600" dirty="0"/>
              <a:t>. </a:t>
            </a:r>
          </a:p>
          <a:p>
            <a:r>
              <a:rPr lang="en-US" sz="2600" dirty="0"/>
              <a:t>Change points </a:t>
            </a:r>
            <a:r>
              <a:rPr lang="en-US" sz="2600" dirty="0">
                <a:solidFill>
                  <a:srgbClr val="C00000"/>
                </a:solidFill>
              </a:rPr>
              <a:t>identify events </a:t>
            </a:r>
            <a:r>
              <a:rPr lang="en-US" sz="2600" dirty="0"/>
              <a:t>in a time series where the statistical properties of the data undergo a significant change, contributing to the understanding of: 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evolving trends, 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prediction of future behavior,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identification of anomalous events.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segmentation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659F84-4D1B-2CC2-3CD3-9881C58F96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56160"/>
            <a:ext cx="8546175" cy="5342294"/>
          </a:xfrm>
        </p:spPr>
        <p:txBody>
          <a:bodyPr>
            <a:normAutofit fontScale="92500"/>
          </a:bodyPr>
          <a:lstStyle/>
          <a:p>
            <a:pPr>
              <a:spcBef>
                <a:spcPts val="1200"/>
              </a:spcBef>
            </a:pPr>
            <a:r>
              <a:rPr lang="en-US" dirty="0"/>
              <a:t>The segments can </a:t>
            </a:r>
            <a:r>
              <a:rPr lang="en-US" dirty="0">
                <a:solidFill>
                  <a:srgbClr val="C00000"/>
                </a:solidFill>
              </a:rPr>
              <a:t>correspond to any pattern of interest</a:t>
            </a:r>
            <a:r>
              <a:rPr lang="en-US" dirty="0"/>
              <a:t>, but because of its computational efficiency and immediacy of understanding, </a:t>
            </a:r>
            <a:r>
              <a:rPr lang="en-US" dirty="0">
                <a:solidFill>
                  <a:srgbClr val="C00000"/>
                </a:solidFill>
              </a:rPr>
              <a:t>linear regression </a:t>
            </a:r>
            <a:r>
              <a:rPr lang="en-US" dirty="0"/>
              <a:t>plays a predominant role. </a:t>
            </a:r>
          </a:p>
          <a:p>
            <a:pPr>
              <a:spcBef>
                <a:spcPts val="1200"/>
              </a:spcBef>
            </a:pPr>
            <a:r>
              <a:rPr lang="en-US" dirty="0"/>
              <a:t>Segmentation into linear intervals is known as </a:t>
            </a:r>
            <a:r>
              <a:rPr lang="en-US" dirty="0">
                <a:solidFill>
                  <a:srgbClr val="C00000"/>
                </a:solidFill>
              </a:rPr>
              <a:t>piecewise linear regression</a:t>
            </a:r>
            <a:r>
              <a:rPr lang="en-US" dirty="0"/>
              <a:t>. </a:t>
            </a:r>
          </a:p>
          <a:p>
            <a:pPr>
              <a:spcBef>
                <a:spcPts val="1200"/>
              </a:spcBef>
            </a:pPr>
            <a:r>
              <a:rPr lang="en-US" dirty="0"/>
              <a:t>Piecewise linear regression recognizes the presence of distinct segments in the data, each characterized by its own </a:t>
            </a:r>
            <a:r>
              <a:rPr lang="en-US" dirty="0">
                <a:solidFill>
                  <a:srgbClr val="C00000"/>
                </a:solidFill>
              </a:rPr>
              <a:t>linear trend</a:t>
            </a:r>
            <a:r>
              <a:rPr lang="en-US" dirty="0"/>
              <a:t>.</a:t>
            </a:r>
          </a:p>
          <a:p>
            <a:pPr>
              <a:spcBef>
                <a:spcPts val="1200"/>
              </a:spcBef>
            </a:pPr>
            <a:r>
              <a:rPr lang="en-US" dirty="0">
                <a:solidFill>
                  <a:srgbClr val="C00000"/>
                </a:solidFill>
              </a:rPr>
              <a:t>Several approaches in the literature </a:t>
            </a:r>
            <a:r>
              <a:rPr lang="en-US" dirty="0"/>
              <a:t>for time series segmentation and change point detection, including classical statistical techniques, Bayesian approaches, machine learning algorithms, and hybrid models.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97BB32-7096-15F1-10DA-6BE18168F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Piecewise linear regression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68B204-D270-C56A-D960-C718F72A6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00ECF8-D3E3-5E5C-7C03-DF75CE309D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422CB5-930C-F81A-0CBF-203D0B134AA9}"/>
              </a:ext>
            </a:extLst>
          </p:cNvPr>
          <p:cNvSpPr txBox="1"/>
          <p:nvPr/>
        </p:nvSpPr>
        <p:spPr>
          <a:xfrm rot="19843275">
            <a:off x="1432075" y="3117294"/>
            <a:ext cx="6134469" cy="131849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none" rtlCol="0" anchor="t" anchorCtr="0">
            <a:noAutofit/>
          </a:bodyPr>
          <a:lstStyle/>
          <a:p>
            <a:r>
              <a:rPr lang="it-IT" sz="7200" dirty="0">
                <a:latin typeface="+mj-lt"/>
              </a:rPr>
              <a:t>JUST MIP IT!</a:t>
            </a:r>
          </a:p>
        </p:txBody>
      </p:sp>
    </p:spTree>
    <p:extLst>
      <p:ext uri="{BB962C8B-B14F-4D97-AF65-F5344CB8AC3E}">
        <p14:creationId xmlns:p14="http://schemas.microsoft.com/office/powerpoint/2010/main" val="185874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F90FFD-2E4F-9BC7-5ADB-E502F0B0F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26776"/>
            <a:ext cx="8605396" cy="5542194"/>
          </a:xfrm>
        </p:spPr>
        <p:txBody>
          <a:bodyPr>
            <a:normAutofit fontScale="25000" lnSpcReduction="20000"/>
          </a:bodyPr>
          <a:lstStyle/>
          <a:p>
            <a:pPr algn="l"/>
            <a:r>
              <a:rPr lang="en-US" sz="1800" b="0" i="0" u="none" strike="noStrike" baseline="0" dirty="0">
                <a:latin typeface="F63"/>
              </a:rPr>
              <a:t>Algorithm 1: </a:t>
            </a:r>
            <a:r>
              <a:rPr lang="en-US" sz="1800" b="0" i="0" u="none" strike="noStrike" baseline="0" dirty="0">
                <a:latin typeface="F41"/>
              </a:rPr>
              <a:t>Algorithm Fore-and-Back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1 </a:t>
            </a:r>
            <a:r>
              <a:rPr lang="en-US" sz="1800" b="0" i="0" u="none" strike="noStrike" baseline="0" dirty="0">
                <a:latin typeface="F61"/>
              </a:rPr>
              <a:t>function Fore-and-Back(</a:t>
            </a:r>
            <a:r>
              <a:rPr lang="en-US" sz="1800" b="0" i="0" u="none" strike="noStrike" baseline="0" dirty="0">
                <a:latin typeface="CMMI9"/>
              </a:rPr>
              <a:t>δ</a:t>
            </a:r>
            <a:r>
              <a:rPr lang="en-US" sz="1800" b="0" i="0" u="none" strike="noStrike" baseline="0" dirty="0">
                <a:latin typeface="F61"/>
              </a:rPr>
              <a:t>, </a:t>
            </a:r>
            <a:r>
              <a:rPr lang="en-US" sz="1800" b="0" i="0" u="none" strike="noStrike" baseline="0" dirty="0" err="1">
                <a:latin typeface="CMMI9"/>
              </a:rPr>
              <a:t>maxn</a:t>
            </a:r>
            <a:r>
              <a:rPr lang="en-US" sz="1800" b="0" i="0" u="none" strike="noStrike" baseline="0" dirty="0">
                <a:latin typeface="F61"/>
              </a:rPr>
              <a:t>, </a:t>
            </a:r>
            <a:r>
              <a:rPr lang="en-US" sz="1800" b="0" i="0" u="none" strike="noStrike" baseline="0" dirty="0" err="1">
                <a:latin typeface="CMMI9"/>
              </a:rPr>
              <a:t>maxtnodes</a:t>
            </a:r>
            <a:r>
              <a:rPr lang="en-US" sz="1800" b="0" i="0" u="none" strike="noStrike" baseline="0" dirty="0">
                <a:latin typeface="F61"/>
              </a:rPr>
              <a:t>);</a:t>
            </a:r>
          </a:p>
          <a:p>
            <a:pPr algn="l"/>
            <a:r>
              <a:rPr lang="en-US" sz="1800" b="0" i="0" u="none" strike="noStrike" baseline="0" dirty="0">
                <a:latin typeface="F64"/>
              </a:rPr>
              <a:t>Input : </a:t>
            </a:r>
            <a:r>
              <a:rPr lang="el-GR" sz="1800" b="0" i="0" u="none" strike="noStrike" baseline="0" dirty="0">
                <a:latin typeface="CMMI9"/>
              </a:rPr>
              <a:t>δ</a:t>
            </a:r>
            <a:r>
              <a:rPr lang="el-GR" sz="1800" b="0" i="0" u="none" strike="noStrike" baseline="0" dirty="0">
                <a:latin typeface="F61"/>
              </a:rPr>
              <a:t>, </a:t>
            </a:r>
            <a:r>
              <a:rPr lang="en-US" sz="1800" b="0" i="0" u="none" strike="noStrike" baseline="0" dirty="0">
                <a:latin typeface="F61"/>
              </a:rPr>
              <a:t>beam width, </a:t>
            </a:r>
            <a:r>
              <a:rPr lang="en-US" sz="1800" b="0" i="0" u="none" strike="noStrike" baseline="0" dirty="0" err="1">
                <a:latin typeface="CMMI9"/>
              </a:rPr>
              <a:t>maxn</a:t>
            </a:r>
            <a:r>
              <a:rPr lang="en-US" sz="1800" b="0" i="0" u="none" strike="noStrike" baseline="0" dirty="0">
                <a:latin typeface="F61"/>
              </a:rPr>
              <a:t>, max total num of nodes, </a:t>
            </a:r>
            <a:r>
              <a:rPr lang="en-US" sz="1800" b="0" i="0" u="none" strike="noStrike" baseline="0" dirty="0" err="1">
                <a:latin typeface="CMMI9"/>
              </a:rPr>
              <a:t>maxtnodes</a:t>
            </a:r>
            <a:r>
              <a:rPr lang="en-US" sz="1800" b="0" i="0" u="none" strike="noStrike" baseline="0" dirty="0">
                <a:latin typeface="F61"/>
              </a:rPr>
              <a:t>, max</a:t>
            </a:r>
          </a:p>
          <a:p>
            <a:pPr algn="l"/>
            <a:r>
              <a:rPr lang="en-US" sz="1800" b="0" i="0" u="none" strike="noStrike" baseline="0" dirty="0">
                <a:latin typeface="F61"/>
              </a:rPr>
              <a:t>num of nodes per tree</a:t>
            </a:r>
          </a:p>
          <a:p>
            <a:pPr algn="l"/>
            <a:r>
              <a:rPr lang="en-US" sz="1800" b="0" i="0" u="none" strike="noStrike" baseline="0" dirty="0">
                <a:latin typeface="F64"/>
              </a:rPr>
              <a:t>Output: </a:t>
            </a:r>
            <a:r>
              <a:rPr lang="en-US" sz="1800" b="0" i="0" u="none" strike="noStrike" baseline="0" dirty="0">
                <a:latin typeface="F61"/>
              </a:rPr>
              <a:t>A feasible solution </a:t>
            </a:r>
            <a:r>
              <a:rPr lang="en-US" sz="1800" b="0" i="0" u="none" strike="noStrike" baseline="0" dirty="0">
                <a:latin typeface="CMBX9"/>
              </a:rPr>
              <a:t>x</a:t>
            </a:r>
            <a:r>
              <a:rPr lang="en-US" sz="1800" b="0" i="0" u="none" strike="noStrike" baseline="0" dirty="0">
                <a:latin typeface="CMSY6"/>
              </a:rPr>
              <a:t>∗ </a:t>
            </a:r>
            <a:r>
              <a:rPr lang="en-US" sz="1800" b="0" i="0" u="none" strike="noStrike" baseline="0" dirty="0">
                <a:latin typeface="F61"/>
              </a:rPr>
              <a:t>of value </a:t>
            </a:r>
            <a:r>
              <a:rPr lang="en-US" sz="1800" b="0" i="0" u="none" strike="noStrike" baseline="0" dirty="0" err="1">
                <a:latin typeface="CMMI9"/>
              </a:rPr>
              <a:t>z</a:t>
            </a:r>
            <a:r>
              <a:rPr lang="en-US" sz="1800" b="0" i="0" u="none" strike="noStrike" baseline="0" dirty="0" err="1">
                <a:latin typeface="CMMI6"/>
              </a:rPr>
              <a:t>best</a:t>
            </a:r>
            <a:endParaRPr lang="en-US" sz="1800" b="0" i="0" u="none" strike="noStrike" baseline="0" dirty="0">
              <a:latin typeface="CMMI6"/>
            </a:endParaRPr>
          </a:p>
          <a:p>
            <a:pPr algn="l"/>
            <a:r>
              <a:rPr lang="en-US" sz="1800" b="0" i="0" u="none" strike="noStrike" baseline="0" dirty="0">
                <a:latin typeface="F69"/>
              </a:rPr>
              <a:t>2 </a:t>
            </a:r>
            <a:r>
              <a:rPr lang="en-US" sz="1800" b="0" i="0" u="none" strike="noStrike" baseline="0" dirty="0">
                <a:latin typeface="F61"/>
              </a:rPr>
              <a:t>initialize </a:t>
            </a:r>
            <a:r>
              <a:rPr lang="en-US" sz="1800" b="0" i="0" u="none" strike="noStrike" baseline="0" dirty="0">
                <a:latin typeface="CMMI9"/>
              </a:rPr>
              <a:t>t </a:t>
            </a:r>
            <a:r>
              <a:rPr lang="en-US" sz="1800" b="0" i="0" u="none" strike="noStrike" baseline="0" dirty="0">
                <a:latin typeface="CMR9"/>
              </a:rPr>
              <a:t>= 0</a:t>
            </a:r>
            <a:r>
              <a:rPr lang="en-US" sz="1800" b="0" i="0" u="none" strike="noStrike" baseline="0" dirty="0">
                <a:latin typeface="F61"/>
              </a:rPr>
              <a:t>, </a:t>
            </a:r>
            <a:r>
              <a:rPr lang="en-US" sz="1800" b="0" i="0" u="none" strike="noStrike" baseline="0" dirty="0" err="1">
                <a:latin typeface="CMMI9"/>
              </a:rPr>
              <a:t>noimpr</a:t>
            </a:r>
            <a:r>
              <a:rPr lang="en-US" sz="1800" b="0" i="0" u="none" strike="noStrike" baseline="0" dirty="0">
                <a:latin typeface="CMMI9"/>
              </a:rPr>
              <a:t> </a:t>
            </a:r>
            <a:r>
              <a:rPr lang="en-US" sz="1800" b="0" i="0" u="none" strike="noStrike" baseline="0" dirty="0">
                <a:latin typeface="CMR9"/>
              </a:rPr>
              <a:t>= 0</a:t>
            </a:r>
            <a:r>
              <a:rPr lang="en-US" sz="1800" b="0" i="0" u="none" strike="noStrike" baseline="0" dirty="0">
                <a:latin typeface="F61"/>
              </a:rPr>
              <a:t>, </a:t>
            </a:r>
            <a:r>
              <a:rPr lang="en-US" sz="1800" b="0" i="0" u="none" strike="noStrike" baseline="0" dirty="0" err="1">
                <a:latin typeface="CMMI9"/>
              </a:rPr>
              <a:t>nNodes</a:t>
            </a:r>
            <a:r>
              <a:rPr lang="en-US" sz="1800" b="0" i="0" u="none" strike="noStrike" baseline="0" dirty="0">
                <a:latin typeface="CMMI9"/>
              </a:rPr>
              <a:t> </a:t>
            </a:r>
            <a:r>
              <a:rPr lang="en-US" sz="1800" b="0" i="0" u="none" strike="noStrike" baseline="0" dirty="0">
                <a:latin typeface="CMR9"/>
              </a:rPr>
              <a:t>= 0</a:t>
            </a:r>
            <a:r>
              <a:rPr lang="en-US" sz="1800" b="0" i="0" u="none" strike="noStrike" baseline="0" dirty="0">
                <a:latin typeface="F61"/>
              </a:rPr>
              <a:t>, </a:t>
            </a:r>
            <a:r>
              <a:rPr lang="en-US" sz="1800" b="0" i="0" u="none" strike="noStrike" baseline="0" dirty="0" err="1">
                <a:latin typeface="CMMI9"/>
              </a:rPr>
              <a:t>z</a:t>
            </a:r>
            <a:r>
              <a:rPr lang="en-US" sz="1800" b="0" i="0" u="none" strike="noStrike" baseline="0" dirty="0" err="1">
                <a:latin typeface="CMMI6"/>
              </a:rPr>
              <a:t>best</a:t>
            </a:r>
            <a:r>
              <a:rPr lang="en-US" sz="1800" b="0" i="0" u="none" strike="noStrike" baseline="0" dirty="0">
                <a:latin typeface="CMMI6"/>
              </a:rPr>
              <a:t> </a:t>
            </a:r>
            <a:r>
              <a:rPr lang="en-US" sz="1800" b="0" i="0" u="none" strike="noStrike" baseline="0" dirty="0">
                <a:latin typeface="CMR9"/>
              </a:rPr>
              <a:t>= </a:t>
            </a:r>
            <a:r>
              <a:rPr lang="en-US" sz="1800" b="0" i="0" u="none" strike="noStrike" baseline="0" dirty="0">
                <a:latin typeface="CMSY9"/>
              </a:rPr>
              <a:t>∞</a:t>
            </a:r>
            <a:r>
              <a:rPr lang="en-US" sz="1800" b="0" i="0" u="none" strike="noStrike" baseline="0" dirty="0">
                <a:latin typeface="F61"/>
              </a:rPr>
              <a:t>;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3 </a:t>
            </a:r>
            <a:r>
              <a:rPr lang="en-US" sz="1800" b="0" i="0" u="none" strike="noStrike" baseline="0" dirty="0">
                <a:latin typeface="F64"/>
              </a:rPr>
              <a:t>while </a:t>
            </a:r>
            <a:r>
              <a:rPr lang="en-US" sz="1800" b="0" i="0" u="none" strike="noStrike" baseline="0" dirty="0" err="1">
                <a:latin typeface="CMMI9"/>
              </a:rPr>
              <a:t>nNodes</a:t>
            </a:r>
            <a:r>
              <a:rPr lang="en-US" sz="1800" b="0" i="0" u="none" strike="noStrike" baseline="0" dirty="0">
                <a:latin typeface="CMMI9"/>
              </a:rPr>
              <a:t> </a:t>
            </a:r>
            <a:r>
              <a:rPr lang="en-US" sz="1800" b="0" i="0" u="none" strike="noStrike" baseline="0" dirty="0">
                <a:latin typeface="CMSY9"/>
              </a:rPr>
              <a:t>≤ </a:t>
            </a:r>
            <a:r>
              <a:rPr lang="en-US" sz="1800" b="0" i="0" u="none" strike="noStrike" baseline="0" dirty="0" err="1">
                <a:latin typeface="CMMI9"/>
              </a:rPr>
              <a:t>maxn</a:t>
            </a:r>
            <a:r>
              <a:rPr lang="en-US" sz="1800" b="0" i="0" u="none" strike="noStrike" baseline="0" dirty="0">
                <a:latin typeface="CMMI9"/>
              </a:rPr>
              <a:t> </a:t>
            </a:r>
            <a:r>
              <a:rPr lang="en-US" sz="1800" b="0" i="0" u="none" strike="noStrike" baseline="0" dirty="0">
                <a:latin typeface="F64"/>
              </a:rPr>
              <a:t>do </a:t>
            </a:r>
            <a:r>
              <a:rPr lang="en-US" sz="1800" b="0" i="0" u="none" strike="noStrike" baseline="0" dirty="0">
                <a:latin typeface="F62"/>
              </a:rPr>
              <a:t>// Alternate forward and backward trees</a:t>
            </a:r>
          </a:p>
          <a:p>
            <a:pPr algn="l"/>
            <a:r>
              <a:rPr lang="fr-FR" sz="1800" b="0" i="0" u="none" strike="noStrike" baseline="0" dirty="0">
                <a:latin typeface="F69"/>
              </a:rPr>
              <a:t>4 </a:t>
            </a:r>
            <a:r>
              <a:rPr lang="fr-FR" sz="1800" b="0" i="0" u="none" strike="noStrike" baseline="0" dirty="0">
                <a:latin typeface="CMMI9"/>
              </a:rPr>
              <a:t>t </a:t>
            </a:r>
            <a:r>
              <a:rPr lang="fr-FR" sz="1800" b="0" i="0" u="none" strike="noStrike" baseline="0" dirty="0">
                <a:latin typeface="CMR9"/>
              </a:rPr>
              <a:t>= </a:t>
            </a:r>
            <a:r>
              <a:rPr lang="fr-FR" sz="1800" b="0" i="0" u="none" strike="noStrike" baseline="0" dirty="0">
                <a:latin typeface="CMMI9"/>
              </a:rPr>
              <a:t>t </a:t>
            </a:r>
            <a:r>
              <a:rPr lang="fr-FR" sz="1800" b="0" i="0" u="none" strike="noStrike" baseline="0" dirty="0">
                <a:latin typeface="CMR9"/>
              </a:rPr>
              <a:t>+ 1</a:t>
            </a:r>
            <a:r>
              <a:rPr lang="fr-FR" sz="1800" b="0" i="0" u="none" strike="noStrike" baseline="0" dirty="0">
                <a:latin typeface="F61"/>
              </a:rPr>
              <a:t>; </a:t>
            </a:r>
            <a:r>
              <a:rPr lang="fr-FR" sz="1800" b="0" i="0" u="none" strike="noStrike" baseline="0" dirty="0" err="1">
                <a:latin typeface="CMMI9"/>
              </a:rPr>
              <a:t>noimpr</a:t>
            </a:r>
            <a:r>
              <a:rPr lang="fr-FR" sz="1800" b="0" i="0" u="none" strike="noStrike" baseline="0" dirty="0">
                <a:latin typeface="CMMI9"/>
              </a:rPr>
              <a:t> </a:t>
            </a:r>
            <a:r>
              <a:rPr lang="fr-FR" sz="1800" b="0" i="0" u="none" strike="noStrike" baseline="0" dirty="0">
                <a:latin typeface="CMR9"/>
              </a:rPr>
              <a:t>= </a:t>
            </a:r>
            <a:r>
              <a:rPr lang="fr-FR" sz="1800" b="0" i="0" u="none" strike="noStrike" baseline="0" dirty="0" err="1">
                <a:latin typeface="CMMI9"/>
              </a:rPr>
              <a:t>noimpr</a:t>
            </a:r>
            <a:r>
              <a:rPr lang="fr-FR" sz="1800" b="0" i="0" u="none" strike="noStrike" baseline="0" dirty="0">
                <a:latin typeface="CMMI9"/>
              </a:rPr>
              <a:t> </a:t>
            </a:r>
            <a:r>
              <a:rPr lang="fr-FR" sz="1800" b="0" i="0" u="none" strike="noStrike" baseline="0" dirty="0">
                <a:latin typeface="CMR9"/>
              </a:rPr>
              <a:t>+ 1</a:t>
            </a:r>
            <a:r>
              <a:rPr lang="fr-FR" sz="1800" b="0" i="0" u="none" strike="noStrike" baseline="0" dirty="0">
                <a:latin typeface="F61"/>
              </a:rPr>
              <a:t>;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5 </a:t>
            </a:r>
            <a:r>
              <a:rPr lang="en-US" sz="1800" b="0" i="0" u="none" strike="noStrike" baseline="0" dirty="0">
                <a:latin typeface="F61"/>
              </a:rPr>
              <a:t>let </a:t>
            </a:r>
            <a:r>
              <a:rPr lang="en-US" sz="1800" b="0" i="0" u="none" strike="noStrike" baseline="0" dirty="0">
                <a:latin typeface="CMMI9"/>
              </a:rPr>
              <a:t>L</a:t>
            </a:r>
            <a:r>
              <a:rPr lang="en-US" sz="1800" b="0" i="0" u="none" strike="noStrike" baseline="0" dirty="0">
                <a:latin typeface="CMMI6"/>
              </a:rPr>
              <a:t>t</a:t>
            </a:r>
          </a:p>
          <a:p>
            <a:pPr algn="l"/>
            <a:r>
              <a:rPr lang="en-US" sz="1800" b="0" i="0" u="none" strike="noStrike" baseline="0" dirty="0">
                <a:latin typeface="CMR6"/>
              </a:rPr>
              <a:t>0 </a:t>
            </a:r>
            <a:r>
              <a:rPr lang="en-US" sz="1800" b="0" i="0" u="none" strike="noStrike" baseline="0" dirty="0">
                <a:latin typeface="CMR9"/>
              </a:rPr>
              <a:t>= </a:t>
            </a:r>
            <a:r>
              <a:rPr lang="en-US" sz="1800" b="0" i="0" u="none" strike="noStrike" baseline="0" dirty="0">
                <a:latin typeface="CMMI9"/>
              </a:rPr>
              <a:t>L</a:t>
            </a:r>
            <a:r>
              <a:rPr lang="en-US" sz="1800" b="0" i="0" u="none" strike="noStrike" baseline="0" dirty="0">
                <a:latin typeface="CMMI6"/>
              </a:rPr>
              <a:t>t</a:t>
            </a:r>
          </a:p>
          <a:p>
            <a:pPr algn="l"/>
            <a:r>
              <a:rPr lang="en-US" sz="1800" b="0" i="0" u="none" strike="noStrike" baseline="0" dirty="0">
                <a:latin typeface="CMMI6"/>
              </a:rPr>
              <a:t>n</a:t>
            </a:r>
            <a:r>
              <a:rPr lang="en-US" sz="1800" b="0" i="0" u="none" strike="noStrike" baseline="0" dirty="0">
                <a:latin typeface="CMR6"/>
              </a:rPr>
              <a:t>+1 </a:t>
            </a:r>
            <a:r>
              <a:rPr lang="en-US" sz="1800" b="0" i="0" u="none" strike="noStrike" baseline="0" dirty="0">
                <a:latin typeface="CMR9"/>
              </a:rPr>
              <a:t>= </a:t>
            </a:r>
            <a:r>
              <a:rPr lang="en-US" sz="1800" b="0" i="0" u="none" strike="noStrike" baseline="0" dirty="0">
                <a:latin typeface="CMSY9"/>
              </a:rPr>
              <a:t>{∅}</a:t>
            </a:r>
            <a:r>
              <a:rPr lang="en-US" sz="1800" b="0" i="0" u="none" strike="noStrike" baseline="0" dirty="0">
                <a:latin typeface="F61"/>
              </a:rPr>
              <a:t>, </a:t>
            </a:r>
            <a:r>
              <a:rPr lang="en-US" sz="1800" b="0" i="0" u="none" strike="noStrike" baseline="0" dirty="0" err="1">
                <a:latin typeface="CMMI9"/>
              </a:rPr>
              <a:t>ntNodes</a:t>
            </a:r>
            <a:r>
              <a:rPr lang="en-US" sz="1800" b="0" i="0" u="none" strike="noStrike" baseline="0" dirty="0">
                <a:latin typeface="F61"/>
              </a:rPr>
              <a:t>=0;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6 </a:t>
            </a:r>
            <a:r>
              <a:rPr lang="en-US" sz="1800" b="0" i="0" u="none" strike="noStrike" baseline="0" dirty="0">
                <a:latin typeface="F64"/>
              </a:rPr>
              <a:t>foreach </a:t>
            </a:r>
            <a:r>
              <a:rPr lang="en-US" sz="1800" b="0" i="0" u="none" strike="noStrike" baseline="0" dirty="0">
                <a:latin typeface="F88"/>
              </a:rPr>
              <a:t>level </a:t>
            </a:r>
            <a:r>
              <a:rPr lang="en-US" sz="1800" b="0" i="0" u="none" strike="noStrike" baseline="0" dirty="0">
                <a:latin typeface="CMMI9"/>
              </a:rPr>
              <a:t>h </a:t>
            </a:r>
            <a:r>
              <a:rPr lang="en-US" sz="1800" b="0" i="0" u="none" strike="noStrike" baseline="0" dirty="0">
                <a:latin typeface="CMR9"/>
              </a:rPr>
              <a:t>= 1</a:t>
            </a:r>
            <a:r>
              <a:rPr lang="en-US" sz="1800" b="0" i="0" u="none" strike="noStrike" baseline="0" dirty="0">
                <a:latin typeface="CMMI9"/>
              </a:rPr>
              <a:t>, ..., n </a:t>
            </a:r>
            <a:r>
              <a:rPr lang="en-US" sz="1800" b="0" i="0" u="none" strike="noStrike" baseline="0" dirty="0">
                <a:latin typeface="F64"/>
              </a:rPr>
              <a:t>do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7 </a:t>
            </a:r>
            <a:r>
              <a:rPr lang="en-US" sz="1800" b="0" i="0" u="none" strike="noStrike" baseline="0" dirty="0">
                <a:latin typeface="F61"/>
              </a:rPr>
              <a:t>set </a:t>
            </a:r>
            <a:r>
              <a:rPr lang="en-US" sz="1800" b="0" i="0" u="none" strike="noStrike" baseline="0" dirty="0">
                <a:latin typeface="CMMI9"/>
              </a:rPr>
              <a:t>T</a:t>
            </a:r>
            <a:r>
              <a:rPr lang="en-US" sz="1800" b="0" i="0" u="none" strike="noStrike" baseline="0" dirty="0">
                <a:latin typeface="CMMI6"/>
              </a:rPr>
              <a:t>h </a:t>
            </a:r>
            <a:r>
              <a:rPr lang="en-US" sz="1800" b="0" i="0" u="none" strike="noStrike" baseline="0" dirty="0">
                <a:latin typeface="CMR9"/>
              </a:rPr>
              <a:t>= </a:t>
            </a:r>
            <a:r>
              <a:rPr lang="en-US" sz="1800" b="0" i="0" u="none" strike="noStrike" baseline="0" dirty="0">
                <a:latin typeface="CMSY9"/>
              </a:rPr>
              <a:t>{∅}</a:t>
            </a:r>
            <a:r>
              <a:rPr lang="en-US" sz="1800" b="0" i="0" u="none" strike="noStrike" baseline="0" dirty="0">
                <a:latin typeface="F61"/>
              </a:rPr>
              <a:t>; </a:t>
            </a:r>
            <a:r>
              <a:rPr lang="en-US" sz="1800" b="0" i="0" u="none" strike="noStrike" baseline="0" dirty="0">
                <a:latin typeface="F62"/>
              </a:rPr>
              <a:t>// generate the node set </a:t>
            </a:r>
            <a:r>
              <a:rPr lang="en-US" sz="1800" b="0" i="0" u="none" strike="noStrike" baseline="0" dirty="0">
                <a:latin typeface="CMMI9"/>
              </a:rPr>
              <a:t>T</a:t>
            </a:r>
            <a:r>
              <a:rPr lang="en-US" sz="1800" b="0" i="0" u="none" strike="noStrike" baseline="0" dirty="0">
                <a:latin typeface="CMMI6"/>
              </a:rPr>
              <a:t>h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8 </a:t>
            </a:r>
            <a:r>
              <a:rPr lang="en-US" sz="1800" b="0" i="0" u="none" strike="noStrike" baseline="0" dirty="0">
                <a:latin typeface="F64"/>
              </a:rPr>
              <a:t>if </a:t>
            </a:r>
            <a:r>
              <a:rPr lang="en-US" sz="1800" b="0" i="0" u="none" strike="noStrike" baseline="0" dirty="0">
                <a:latin typeface="CMMI9"/>
              </a:rPr>
              <a:t>t </a:t>
            </a:r>
            <a:r>
              <a:rPr lang="en-US" sz="1800" b="0" i="0" u="none" strike="noStrike" baseline="0" dirty="0">
                <a:latin typeface="F88"/>
              </a:rPr>
              <a:t>is odd </a:t>
            </a:r>
            <a:r>
              <a:rPr lang="en-US" sz="1800" b="0" i="0" u="none" strike="noStrike" baseline="0" dirty="0">
                <a:latin typeface="F64"/>
              </a:rPr>
              <a:t>then</a:t>
            </a:r>
          </a:p>
          <a:p>
            <a:pPr algn="l"/>
            <a:r>
              <a:rPr lang="pt-BR" sz="1800" b="0" i="0" u="none" strike="noStrike" baseline="0" dirty="0">
                <a:latin typeface="F69"/>
              </a:rPr>
              <a:t>9 </a:t>
            </a:r>
            <a:r>
              <a:rPr lang="pt-BR" sz="1800" b="0" i="0" u="none" strike="noStrike" baseline="0" dirty="0">
                <a:latin typeface="F61"/>
              </a:rPr>
              <a:t>set </a:t>
            </a:r>
            <a:r>
              <a:rPr lang="pt-BR" sz="1800" b="0" i="0" u="none" strike="noStrike" baseline="0" dirty="0">
                <a:latin typeface="CMMI9"/>
              </a:rPr>
              <a:t>k </a:t>
            </a:r>
            <a:r>
              <a:rPr lang="pt-BR" sz="1800" b="0" i="0" u="none" strike="noStrike" baseline="0" dirty="0">
                <a:latin typeface="CMR9"/>
              </a:rPr>
              <a:t>= </a:t>
            </a:r>
            <a:r>
              <a:rPr lang="pt-BR" sz="1800" b="0" i="0" u="none" strike="noStrike" baseline="0" dirty="0">
                <a:latin typeface="CMMI9"/>
              </a:rPr>
              <a:t>h</a:t>
            </a:r>
            <a:r>
              <a:rPr lang="pt-BR" sz="1800" b="0" i="0" u="none" strike="noStrike" baseline="0" dirty="0">
                <a:latin typeface="F61"/>
              </a:rPr>
              <a:t>; </a:t>
            </a:r>
            <a:r>
              <a:rPr lang="pt-BR" sz="1800" b="0" i="0" u="none" strike="noStrike" baseline="0" dirty="0">
                <a:latin typeface="CMMI9"/>
              </a:rPr>
              <a:t>k</a:t>
            </a:r>
            <a:r>
              <a:rPr lang="pt-BR" sz="1800" b="0" i="0" u="none" strike="noStrike" baseline="0" dirty="0">
                <a:latin typeface="CMR9"/>
              </a:rPr>
              <a:t>1 = </a:t>
            </a:r>
            <a:r>
              <a:rPr lang="pt-BR" sz="1800" b="0" i="0" u="none" strike="noStrike" baseline="0" dirty="0">
                <a:latin typeface="CMMI9"/>
              </a:rPr>
              <a:t>h </a:t>
            </a:r>
            <a:r>
              <a:rPr lang="pt-BR" sz="1800" b="0" i="0" u="none" strike="noStrike" baseline="0" dirty="0">
                <a:latin typeface="CMSY9"/>
              </a:rPr>
              <a:t>− </a:t>
            </a:r>
            <a:r>
              <a:rPr lang="pt-BR" sz="1800" b="0" i="0" u="none" strike="noStrike" baseline="0" dirty="0">
                <a:latin typeface="CMR9"/>
              </a:rPr>
              <a:t>1</a:t>
            </a:r>
            <a:r>
              <a:rPr lang="pt-BR" sz="1800" b="0" i="0" u="none" strike="noStrike" baseline="0" dirty="0">
                <a:latin typeface="F61"/>
              </a:rPr>
              <a:t>;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10 </a:t>
            </a:r>
            <a:r>
              <a:rPr lang="en-US" sz="1800" b="0" i="0" u="none" strike="noStrike" baseline="0" dirty="0">
                <a:latin typeface="F64"/>
              </a:rPr>
              <a:t>else</a:t>
            </a:r>
          </a:p>
          <a:p>
            <a:pPr algn="l"/>
            <a:r>
              <a:rPr lang="pt-BR" sz="1800" b="0" i="0" u="none" strike="noStrike" baseline="0" dirty="0">
                <a:latin typeface="F69"/>
              </a:rPr>
              <a:t>11 </a:t>
            </a:r>
            <a:r>
              <a:rPr lang="pt-BR" sz="1800" b="0" i="0" u="none" strike="noStrike" baseline="0" dirty="0">
                <a:latin typeface="F61"/>
              </a:rPr>
              <a:t>set </a:t>
            </a:r>
            <a:r>
              <a:rPr lang="pt-BR" sz="1800" b="0" i="0" u="none" strike="noStrike" baseline="0" dirty="0">
                <a:latin typeface="CMMI9"/>
              </a:rPr>
              <a:t>k </a:t>
            </a:r>
            <a:r>
              <a:rPr lang="pt-BR" sz="1800" b="0" i="0" u="none" strike="noStrike" baseline="0" dirty="0">
                <a:latin typeface="CMR9"/>
              </a:rPr>
              <a:t>= </a:t>
            </a:r>
            <a:r>
              <a:rPr lang="pt-BR" sz="1800" b="0" i="0" u="none" strike="noStrike" baseline="0" dirty="0">
                <a:latin typeface="CMMI9"/>
              </a:rPr>
              <a:t>n </a:t>
            </a:r>
            <a:r>
              <a:rPr lang="pt-BR" sz="1800" b="0" i="0" u="none" strike="noStrike" baseline="0" dirty="0">
                <a:latin typeface="CMSY9"/>
              </a:rPr>
              <a:t>− </a:t>
            </a:r>
            <a:r>
              <a:rPr lang="pt-BR" sz="1800" b="0" i="0" u="none" strike="noStrike" baseline="0" dirty="0">
                <a:latin typeface="CMMI9"/>
              </a:rPr>
              <a:t>h </a:t>
            </a:r>
            <a:r>
              <a:rPr lang="pt-BR" sz="1800" b="0" i="0" u="none" strike="noStrike" baseline="0" dirty="0">
                <a:latin typeface="CMR9"/>
              </a:rPr>
              <a:t>+ 1</a:t>
            </a:r>
            <a:r>
              <a:rPr lang="pt-BR" sz="1800" b="0" i="0" u="none" strike="noStrike" baseline="0" dirty="0">
                <a:latin typeface="F61"/>
              </a:rPr>
              <a:t>; </a:t>
            </a:r>
            <a:r>
              <a:rPr lang="pt-BR" sz="1800" b="0" i="0" u="none" strike="noStrike" baseline="0" dirty="0">
                <a:latin typeface="CMMI9"/>
              </a:rPr>
              <a:t>k</a:t>
            </a:r>
            <a:r>
              <a:rPr lang="pt-BR" sz="1800" b="0" i="0" u="none" strike="noStrike" baseline="0" dirty="0">
                <a:latin typeface="CMR9"/>
              </a:rPr>
              <a:t>1 = </a:t>
            </a:r>
            <a:r>
              <a:rPr lang="pt-BR" sz="1800" b="0" i="0" u="none" strike="noStrike" baseline="0" dirty="0">
                <a:latin typeface="CMMI9"/>
              </a:rPr>
              <a:t>n </a:t>
            </a:r>
            <a:r>
              <a:rPr lang="pt-BR" sz="1800" b="0" i="0" u="none" strike="noStrike" baseline="0" dirty="0">
                <a:latin typeface="CMSY9"/>
              </a:rPr>
              <a:t>− </a:t>
            </a:r>
            <a:r>
              <a:rPr lang="pt-BR" sz="1800" b="0" i="0" u="none" strike="noStrike" baseline="0" dirty="0">
                <a:latin typeface="CMMI9"/>
              </a:rPr>
              <a:t>h </a:t>
            </a:r>
            <a:r>
              <a:rPr lang="pt-BR" sz="1800" b="0" i="0" u="none" strike="noStrike" baseline="0" dirty="0">
                <a:latin typeface="CMR9"/>
              </a:rPr>
              <a:t>+ 2</a:t>
            </a:r>
            <a:r>
              <a:rPr lang="pt-BR" sz="1800" b="0" i="0" u="none" strike="noStrike" baseline="0" dirty="0">
                <a:latin typeface="F61"/>
              </a:rPr>
              <a:t>;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12 </a:t>
            </a:r>
            <a:r>
              <a:rPr lang="en-US" sz="1800" b="0" i="0" u="none" strike="noStrike" baseline="0" dirty="0">
                <a:latin typeface="F64"/>
              </a:rPr>
              <a:t>end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13 </a:t>
            </a:r>
            <a:r>
              <a:rPr lang="en-US" sz="1800" b="0" i="0" u="none" strike="noStrike" baseline="0" dirty="0">
                <a:latin typeface="F64"/>
              </a:rPr>
              <a:t>foreach </a:t>
            </a:r>
            <a:r>
              <a:rPr lang="en-US" sz="1800" b="0" i="0" u="none" strike="noStrike" baseline="0" dirty="0">
                <a:latin typeface="F88"/>
              </a:rPr>
              <a:t>node </a:t>
            </a:r>
            <a:r>
              <a:rPr lang="en-US" sz="1800" b="0" i="0" u="none" strike="noStrike" baseline="0" dirty="0">
                <a:latin typeface="CMMI9"/>
              </a:rPr>
              <a:t>X </a:t>
            </a:r>
            <a:r>
              <a:rPr lang="en-US" sz="1800" b="0" i="0" u="none" strike="noStrike" baseline="0" dirty="0">
                <a:latin typeface="CMSY9"/>
              </a:rPr>
              <a:t>∈ </a:t>
            </a:r>
            <a:r>
              <a:rPr lang="en-US" sz="1800" b="0" i="0" u="none" strike="noStrike" baseline="0" dirty="0">
                <a:latin typeface="CMMI9"/>
              </a:rPr>
              <a:t>L</a:t>
            </a:r>
            <a:r>
              <a:rPr lang="en-US" sz="1800" b="0" i="0" u="none" strike="noStrike" baseline="0" dirty="0">
                <a:latin typeface="CMMI6"/>
              </a:rPr>
              <a:t>t</a:t>
            </a:r>
          </a:p>
          <a:p>
            <a:pPr algn="l"/>
            <a:r>
              <a:rPr lang="en-US" sz="1800" b="0" i="0" u="none" strike="noStrike" baseline="0" dirty="0">
                <a:latin typeface="CMMI6"/>
              </a:rPr>
              <a:t>k</a:t>
            </a:r>
            <a:r>
              <a:rPr lang="en-US" sz="1800" b="0" i="0" u="none" strike="noStrike" baseline="0" dirty="0">
                <a:latin typeface="CMSY6"/>
              </a:rPr>
              <a:t>−</a:t>
            </a:r>
            <a:r>
              <a:rPr lang="en-US" sz="1800" b="0" i="0" u="none" strike="noStrike" baseline="0" dirty="0">
                <a:latin typeface="CMR6"/>
              </a:rPr>
              <a:t>1 </a:t>
            </a:r>
            <a:r>
              <a:rPr lang="en-US" sz="1800" b="0" i="0" u="none" strike="noStrike" baseline="0" dirty="0">
                <a:latin typeface="F64"/>
              </a:rPr>
              <a:t>do </a:t>
            </a:r>
            <a:r>
              <a:rPr lang="en-US" sz="1800" b="0" i="0" u="none" strike="noStrike" baseline="0" dirty="0">
                <a:latin typeface="F62"/>
              </a:rPr>
              <a:t>// Possible expansions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14 </a:t>
            </a:r>
            <a:r>
              <a:rPr lang="en-US" sz="1800" b="0" i="0" u="none" strike="noStrike" baseline="0" dirty="0">
                <a:latin typeface="F64"/>
              </a:rPr>
              <a:t>foreach </a:t>
            </a:r>
            <a:r>
              <a:rPr lang="en-US" sz="1800" b="0" i="0" u="none" strike="noStrike" baseline="0" dirty="0">
                <a:latin typeface="F88"/>
              </a:rPr>
              <a:t>component </a:t>
            </a:r>
            <a:r>
              <a:rPr lang="en-US" sz="1800" b="0" i="0" u="none" strike="noStrike" baseline="0" dirty="0">
                <a:latin typeface="CMMI9"/>
              </a:rPr>
              <a:t>s </a:t>
            </a:r>
            <a:r>
              <a:rPr lang="en-US" sz="1800" b="0" i="0" u="none" strike="noStrike" baseline="0" dirty="0">
                <a:latin typeface="CMSY9"/>
              </a:rPr>
              <a:t>∈ </a:t>
            </a:r>
            <a:r>
              <a:rPr lang="en-US" sz="1800" b="0" i="0" u="none" strike="noStrike" baseline="0" dirty="0" err="1">
                <a:latin typeface="CMMI9"/>
              </a:rPr>
              <a:t>S</a:t>
            </a:r>
            <a:r>
              <a:rPr lang="en-US" sz="1800" b="0" i="0" u="none" strike="noStrike" baseline="0" dirty="0" err="1">
                <a:latin typeface="CMMI6"/>
              </a:rPr>
              <a:t>k</a:t>
            </a:r>
            <a:r>
              <a:rPr lang="en-US" sz="1800" b="0" i="0" u="none" strike="noStrike" baseline="0" dirty="0">
                <a:latin typeface="CMMI6"/>
              </a:rPr>
              <a:t> </a:t>
            </a:r>
            <a:r>
              <a:rPr lang="en-US" sz="1800" b="0" i="0" u="none" strike="noStrike" baseline="0" dirty="0">
                <a:latin typeface="F64"/>
              </a:rPr>
              <a:t>do</a:t>
            </a:r>
          </a:p>
          <a:p>
            <a:pPr algn="l"/>
            <a:r>
              <a:rPr lang="da-DK" sz="1800" b="0" i="0" u="none" strike="noStrike" baseline="0" dirty="0">
                <a:latin typeface="F69"/>
              </a:rPr>
              <a:t>15 </a:t>
            </a:r>
            <a:r>
              <a:rPr lang="da-DK" sz="1800" b="0" i="0" u="none" strike="noStrike" baseline="0" dirty="0">
                <a:latin typeface="F61"/>
              </a:rPr>
              <a:t>let </a:t>
            </a:r>
            <a:r>
              <a:rPr lang="da-DK" sz="1800" b="0" i="0" u="none" strike="noStrike" baseline="0" dirty="0">
                <a:latin typeface="CMMI9"/>
              </a:rPr>
              <a:t>X</a:t>
            </a:r>
            <a:r>
              <a:rPr lang="da-DK" sz="1800" b="0" i="0" u="none" strike="noStrike" baseline="0" dirty="0">
                <a:latin typeface="CMSY6"/>
              </a:rPr>
              <a:t>′ </a:t>
            </a:r>
            <a:r>
              <a:rPr lang="da-DK" sz="1800" b="0" i="0" u="none" strike="noStrike" baseline="0" dirty="0">
                <a:latin typeface="CMR9"/>
              </a:rPr>
              <a:t>= </a:t>
            </a:r>
            <a:r>
              <a:rPr lang="da-DK" sz="1800" b="0" i="0" u="none" strike="noStrike" baseline="0" dirty="0">
                <a:latin typeface="CMMI9"/>
              </a:rPr>
              <a:t>X </a:t>
            </a:r>
            <a:r>
              <a:rPr lang="da-DK" sz="1800" b="0" i="0" u="none" strike="noStrike" baseline="0" dirty="0">
                <a:latin typeface="CMSY9"/>
              </a:rPr>
              <a:t>∪ {</a:t>
            </a:r>
            <a:r>
              <a:rPr lang="da-DK" sz="1800" b="0" i="0" u="none" strike="noStrike" baseline="0" dirty="0">
                <a:latin typeface="CMMI9"/>
              </a:rPr>
              <a:t>s</a:t>
            </a:r>
            <a:r>
              <a:rPr lang="da-DK" sz="1800" b="0" i="0" u="none" strike="noStrike" baseline="0" dirty="0">
                <a:latin typeface="CMSY9"/>
              </a:rPr>
              <a:t>}</a:t>
            </a:r>
            <a:r>
              <a:rPr lang="da-DK" sz="1800" b="0" i="0" u="none" strike="noStrike" baseline="0" dirty="0">
                <a:latin typeface="F61"/>
              </a:rPr>
              <a:t>;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16 </a:t>
            </a:r>
            <a:r>
              <a:rPr lang="en-US" sz="1800" b="0" i="0" u="none" strike="noStrike" baseline="0" dirty="0">
                <a:latin typeface="F64"/>
              </a:rPr>
              <a:t>if </a:t>
            </a:r>
            <a:r>
              <a:rPr lang="en-US" sz="1800" b="0" i="0" u="none" strike="noStrike" baseline="0" dirty="0">
                <a:latin typeface="CMMI9"/>
              </a:rPr>
              <a:t>X</a:t>
            </a:r>
            <a:r>
              <a:rPr lang="en-US" sz="1800" b="0" i="0" u="none" strike="noStrike" baseline="0" dirty="0">
                <a:latin typeface="CMSY6"/>
              </a:rPr>
              <a:t>′ </a:t>
            </a:r>
            <a:r>
              <a:rPr lang="en-US" sz="1800" b="0" i="0" u="none" strike="noStrike" baseline="0" dirty="0">
                <a:latin typeface="F88"/>
              </a:rPr>
              <a:t>meets conditions </a:t>
            </a:r>
            <a:r>
              <a:rPr lang="en-US" sz="1800" b="0" i="0" u="none" strike="noStrike" baseline="0" dirty="0" err="1">
                <a:latin typeface="CMMI9"/>
              </a:rPr>
              <a:t>i</a:t>
            </a:r>
            <a:r>
              <a:rPr lang="en-US" sz="1800" b="0" i="0" u="none" strike="noStrike" baseline="0" dirty="0">
                <a:latin typeface="CMR9"/>
              </a:rPr>
              <a:t>) </a:t>
            </a:r>
            <a:r>
              <a:rPr lang="en-US" sz="1800" b="0" i="0" u="none" strike="noStrike" baseline="0" dirty="0">
                <a:latin typeface="F88"/>
              </a:rPr>
              <a:t>and </a:t>
            </a:r>
            <a:r>
              <a:rPr lang="en-US" sz="1800" b="0" i="0" u="none" strike="noStrike" baseline="0" dirty="0">
                <a:latin typeface="CMMI9"/>
              </a:rPr>
              <a:t>ii</a:t>
            </a:r>
            <a:r>
              <a:rPr lang="en-US" sz="1800" b="0" i="0" u="none" strike="noStrike" baseline="0" dirty="0">
                <a:latin typeface="CMR9"/>
              </a:rPr>
              <a:t>) </a:t>
            </a:r>
            <a:r>
              <a:rPr lang="en-US" sz="1800" b="0" i="0" u="none" strike="noStrike" baseline="0" dirty="0">
                <a:latin typeface="F64"/>
              </a:rPr>
              <a:t>then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17 </a:t>
            </a:r>
            <a:r>
              <a:rPr lang="en-US" sz="1800" b="0" i="0" u="none" strike="noStrike" baseline="0" dirty="0">
                <a:latin typeface="F61"/>
              </a:rPr>
              <a:t>set </a:t>
            </a:r>
            <a:r>
              <a:rPr lang="en-US" sz="1800" b="0" i="0" u="none" strike="noStrike" baseline="0" dirty="0">
                <a:latin typeface="CMMI9"/>
              </a:rPr>
              <a:t>T</a:t>
            </a:r>
            <a:r>
              <a:rPr lang="en-US" sz="1800" b="0" i="0" u="none" strike="noStrike" baseline="0" dirty="0">
                <a:latin typeface="CMMI6"/>
              </a:rPr>
              <a:t>k </a:t>
            </a:r>
            <a:r>
              <a:rPr lang="en-US" sz="1800" b="0" i="0" u="none" strike="noStrike" baseline="0" dirty="0">
                <a:latin typeface="CMR9"/>
              </a:rPr>
              <a:t>= </a:t>
            </a:r>
            <a:r>
              <a:rPr lang="en-US" sz="1800" b="0" i="0" u="none" strike="noStrike" baseline="0" dirty="0">
                <a:latin typeface="CMMI9"/>
              </a:rPr>
              <a:t>T</a:t>
            </a:r>
            <a:r>
              <a:rPr lang="en-US" sz="1800" b="0" i="0" u="none" strike="noStrike" baseline="0" dirty="0">
                <a:latin typeface="CMMI6"/>
              </a:rPr>
              <a:t>k </a:t>
            </a:r>
            <a:r>
              <a:rPr lang="en-US" sz="1800" b="0" i="0" u="none" strike="noStrike" baseline="0" dirty="0">
                <a:latin typeface="CMSY9"/>
              </a:rPr>
              <a:t>∪ </a:t>
            </a:r>
            <a:r>
              <a:rPr lang="en-US" sz="1800" b="0" i="0" u="none" strike="noStrike" baseline="0" dirty="0">
                <a:latin typeface="CMMI9"/>
              </a:rPr>
              <a:t>X</a:t>
            </a:r>
            <a:r>
              <a:rPr lang="en-US" sz="1800" b="0" i="0" u="none" strike="noStrike" baseline="0" dirty="0">
                <a:latin typeface="CMSY6"/>
              </a:rPr>
              <a:t>′</a:t>
            </a:r>
            <a:r>
              <a:rPr lang="en-US" sz="1800" b="0" i="0" u="none" strike="noStrike" baseline="0" dirty="0">
                <a:latin typeface="F61"/>
              </a:rPr>
              <a:t>;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18 </a:t>
            </a:r>
            <a:r>
              <a:rPr lang="en-US" sz="1800" b="0" i="0" u="none" strike="noStrike" baseline="0" dirty="0" err="1">
                <a:latin typeface="CMMI9"/>
              </a:rPr>
              <a:t>ntNodes</a:t>
            </a:r>
            <a:r>
              <a:rPr lang="en-US" sz="1800" b="0" i="0" u="none" strike="noStrike" baseline="0" dirty="0">
                <a:latin typeface="CMMI9"/>
              </a:rPr>
              <a:t> </a:t>
            </a:r>
            <a:r>
              <a:rPr lang="en-US" sz="1800" b="0" i="0" u="none" strike="noStrike" baseline="0" dirty="0">
                <a:latin typeface="CMR9"/>
              </a:rPr>
              <a:t>= </a:t>
            </a:r>
            <a:r>
              <a:rPr lang="en-US" sz="1800" b="0" i="0" u="none" strike="noStrike" baseline="0" dirty="0" err="1">
                <a:latin typeface="CMMI9"/>
              </a:rPr>
              <a:t>ntNodes</a:t>
            </a:r>
            <a:r>
              <a:rPr lang="en-US" sz="1800" b="0" i="0" u="none" strike="noStrike" baseline="0" dirty="0">
                <a:latin typeface="CMMI9"/>
              </a:rPr>
              <a:t> </a:t>
            </a:r>
            <a:r>
              <a:rPr lang="en-US" sz="1800" b="0" i="0" u="none" strike="noStrike" baseline="0" dirty="0">
                <a:latin typeface="CMR9"/>
              </a:rPr>
              <a:t>+ 1</a:t>
            </a:r>
            <a:r>
              <a:rPr lang="en-US" sz="1800" b="0" i="0" u="none" strike="noStrike" baseline="0" dirty="0">
                <a:latin typeface="F61"/>
              </a:rPr>
              <a:t>;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19 </a:t>
            </a:r>
            <a:r>
              <a:rPr lang="en-US" sz="1800" b="0" i="0" u="none" strike="noStrike" baseline="0" dirty="0" err="1">
                <a:latin typeface="CMMI9"/>
              </a:rPr>
              <a:t>nNodes</a:t>
            </a:r>
            <a:r>
              <a:rPr lang="en-US" sz="1800" b="0" i="0" u="none" strike="noStrike" baseline="0" dirty="0">
                <a:latin typeface="CMMI9"/>
              </a:rPr>
              <a:t> </a:t>
            </a:r>
            <a:r>
              <a:rPr lang="en-US" sz="1800" b="0" i="0" u="none" strike="noStrike" baseline="0" dirty="0">
                <a:latin typeface="CMR9"/>
              </a:rPr>
              <a:t>= </a:t>
            </a:r>
            <a:r>
              <a:rPr lang="en-US" sz="1800" b="0" i="0" u="none" strike="noStrike" baseline="0" dirty="0" err="1">
                <a:latin typeface="CMMI9"/>
              </a:rPr>
              <a:t>nNodes</a:t>
            </a:r>
            <a:r>
              <a:rPr lang="en-US" sz="1800" b="0" i="0" u="none" strike="noStrike" baseline="0" dirty="0">
                <a:latin typeface="CMMI9"/>
              </a:rPr>
              <a:t> </a:t>
            </a:r>
            <a:r>
              <a:rPr lang="en-US" sz="1800" b="0" i="0" u="none" strike="noStrike" baseline="0" dirty="0">
                <a:latin typeface="CMR9"/>
              </a:rPr>
              <a:t>+ 1</a:t>
            </a:r>
            <a:r>
              <a:rPr lang="en-US" sz="1800" b="0" i="0" u="none" strike="noStrike" baseline="0" dirty="0">
                <a:latin typeface="F61"/>
              </a:rPr>
              <a:t>;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20 </a:t>
            </a:r>
            <a:r>
              <a:rPr lang="en-US" sz="1800" b="0" i="0" u="none" strike="noStrike" baseline="0" dirty="0">
                <a:latin typeface="F64"/>
              </a:rPr>
              <a:t>if </a:t>
            </a:r>
            <a:r>
              <a:rPr lang="en-US" sz="1800" b="0" i="0" u="none" strike="noStrike" baseline="0" dirty="0">
                <a:latin typeface="CMMI9"/>
              </a:rPr>
              <a:t>h </a:t>
            </a:r>
            <a:r>
              <a:rPr lang="en-US" sz="1800" b="0" i="0" u="none" strike="noStrike" baseline="0" dirty="0">
                <a:latin typeface="CMR9"/>
              </a:rPr>
              <a:t>= </a:t>
            </a:r>
            <a:r>
              <a:rPr lang="en-US" sz="1800" b="0" i="0" u="none" strike="noStrike" baseline="0" dirty="0">
                <a:latin typeface="CMMI9"/>
              </a:rPr>
              <a:t>n </a:t>
            </a:r>
            <a:r>
              <a:rPr lang="en-US" sz="1800" b="0" i="0" u="none" strike="noStrike" baseline="0" dirty="0">
                <a:latin typeface="F88"/>
              </a:rPr>
              <a:t>and </a:t>
            </a:r>
            <a:r>
              <a:rPr lang="en-US" sz="1800" b="0" i="0" u="none" strike="noStrike" baseline="0" dirty="0">
                <a:latin typeface="CMMI9"/>
              </a:rPr>
              <a:t>c</a:t>
            </a:r>
            <a:r>
              <a:rPr lang="en-US" sz="1800" b="0" i="0" u="none" strike="noStrike" baseline="0" dirty="0">
                <a:latin typeface="CMR9"/>
              </a:rPr>
              <a:t>(</a:t>
            </a:r>
            <a:r>
              <a:rPr lang="en-US" sz="1800" b="0" i="0" u="none" strike="noStrike" baseline="0" dirty="0">
                <a:latin typeface="CMMI9"/>
              </a:rPr>
              <a:t>X</a:t>
            </a:r>
            <a:r>
              <a:rPr lang="en-US" sz="1800" b="0" i="0" u="none" strike="noStrike" baseline="0" dirty="0">
                <a:latin typeface="CMSY6"/>
              </a:rPr>
              <a:t>′</a:t>
            </a:r>
            <a:r>
              <a:rPr lang="en-US" sz="1800" b="0" i="0" u="none" strike="noStrike" baseline="0" dirty="0">
                <a:latin typeface="CMR9"/>
              </a:rPr>
              <a:t>) </a:t>
            </a:r>
            <a:r>
              <a:rPr lang="en-US" sz="1800" b="0" i="0" u="none" strike="noStrike" baseline="0" dirty="0">
                <a:latin typeface="CMMI9"/>
              </a:rPr>
              <a:t>&lt; </a:t>
            </a:r>
            <a:r>
              <a:rPr lang="en-US" sz="1800" b="0" i="0" u="none" strike="noStrike" baseline="0" dirty="0" err="1">
                <a:latin typeface="CMMI9"/>
              </a:rPr>
              <a:t>z</a:t>
            </a:r>
            <a:r>
              <a:rPr lang="en-US" sz="1800" b="0" i="0" u="none" strike="noStrike" baseline="0" dirty="0" err="1">
                <a:latin typeface="CMMI6"/>
              </a:rPr>
              <a:t>best</a:t>
            </a:r>
            <a:r>
              <a:rPr lang="en-US" sz="1800" b="0" i="0" u="none" strike="noStrike" baseline="0" dirty="0">
                <a:latin typeface="CMMI6"/>
              </a:rPr>
              <a:t> </a:t>
            </a:r>
            <a:r>
              <a:rPr lang="en-US" sz="1800" b="0" i="0" u="none" strike="noStrike" baseline="0" dirty="0">
                <a:latin typeface="F64"/>
              </a:rPr>
              <a:t>then </a:t>
            </a:r>
            <a:r>
              <a:rPr lang="en-US" sz="1800" b="0" i="0" u="none" strike="noStrike" baseline="0" dirty="0">
                <a:latin typeface="F62"/>
              </a:rPr>
              <a:t>// feasible solution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21 </a:t>
            </a:r>
            <a:r>
              <a:rPr lang="en-US" sz="1800" b="0" i="0" u="none" strike="noStrike" baseline="0" dirty="0">
                <a:latin typeface="F61"/>
              </a:rPr>
              <a:t>set </a:t>
            </a:r>
            <a:r>
              <a:rPr lang="en-US" sz="1800" b="0" i="0" u="none" strike="noStrike" baseline="0" dirty="0" err="1">
                <a:latin typeface="CMMI9"/>
              </a:rPr>
              <a:t>z</a:t>
            </a:r>
            <a:r>
              <a:rPr lang="en-US" sz="1800" b="0" i="0" u="none" strike="noStrike" baseline="0" dirty="0" err="1">
                <a:latin typeface="CMMI6"/>
              </a:rPr>
              <a:t>best</a:t>
            </a:r>
            <a:r>
              <a:rPr lang="en-US" sz="1800" b="0" i="0" u="none" strike="noStrike" baseline="0" dirty="0">
                <a:latin typeface="CMMI6"/>
              </a:rPr>
              <a:t> </a:t>
            </a:r>
            <a:r>
              <a:rPr lang="en-US" sz="1800" b="0" i="0" u="none" strike="noStrike" baseline="0" dirty="0">
                <a:latin typeface="CMR9"/>
              </a:rPr>
              <a:t>= </a:t>
            </a:r>
            <a:r>
              <a:rPr lang="en-US" sz="1800" b="0" i="0" u="none" strike="noStrike" baseline="0" dirty="0">
                <a:latin typeface="CMMI9"/>
              </a:rPr>
              <a:t>c</a:t>
            </a:r>
            <a:r>
              <a:rPr lang="en-US" sz="1800" b="0" i="0" u="none" strike="noStrike" baseline="0" dirty="0">
                <a:latin typeface="CMR9"/>
              </a:rPr>
              <a:t>(</a:t>
            </a:r>
            <a:r>
              <a:rPr lang="en-US" sz="1800" b="0" i="0" u="none" strike="noStrike" baseline="0" dirty="0">
                <a:latin typeface="CMMI9"/>
              </a:rPr>
              <a:t>X</a:t>
            </a:r>
            <a:r>
              <a:rPr lang="en-US" sz="1800" b="0" i="0" u="none" strike="noStrike" baseline="0" dirty="0">
                <a:latin typeface="CMSY6"/>
              </a:rPr>
              <a:t>′</a:t>
            </a:r>
            <a:r>
              <a:rPr lang="en-US" sz="1800" b="0" i="0" u="none" strike="noStrike" baseline="0" dirty="0">
                <a:latin typeface="CMR9"/>
              </a:rPr>
              <a:t>)</a:t>
            </a:r>
            <a:r>
              <a:rPr lang="en-US" sz="1800" b="0" i="0" u="none" strike="noStrike" baseline="0" dirty="0">
                <a:latin typeface="F61"/>
              </a:rPr>
              <a:t>, </a:t>
            </a:r>
            <a:r>
              <a:rPr lang="en-US" sz="1800" b="0" i="0" u="none" strike="noStrike" baseline="0" dirty="0" err="1">
                <a:latin typeface="CMMI9"/>
              </a:rPr>
              <a:t>noimpr</a:t>
            </a:r>
            <a:r>
              <a:rPr lang="en-US" sz="1800" b="0" i="0" u="none" strike="noStrike" baseline="0" dirty="0">
                <a:latin typeface="CMMI9"/>
              </a:rPr>
              <a:t> </a:t>
            </a:r>
            <a:r>
              <a:rPr lang="en-US" sz="1800" b="0" i="0" u="none" strike="noStrike" baseline="0" dirty="0">
                <a:latin typeface="CMR9"/>
              </a:rPr>
              <a:t>= 0 </a:t>
            </a:r>
            <a:r>
              <a:rPr lang="en-US" sz="1800" b="0" i="0" u="none" strike="noStrike" baseline="0" dirty="0">
                <a:latin typeface="F61"/>
              </a:rPr>
              <a:t>and </a:t>
            </a:r>
            <a:r>
              <a:rPr lang="en-US" sz="1800" b="0" i="0" u="none" strike="noStrike" baseline="0" dirty="0">
                <a:latin typeface="CMBX9"/>
              </a:rPr>
              <a:t>x</a:t>
            </a:r>
            <a:r>
              <a:rPr lang="en-US" sz="1800" b="0" i="0" u="none" strike="noStrike" baseline="0" dirty="0">
                <a:latin typeface="CMSY6"/>
              </a:rPr>
              <a:t>∗ </a:t>
            </a:r>
            <a:r>
              <a:rPr lang="en-US" sz="1800" b="0" i="0" u="none" strike="noStrike" baseline="0" dirty="0">
                <a:latin typeface="CMR9"/>
              </a:rPr>
              <a:t>= </a:t>
            </a:r>
            <a:r>
              <a:rPr lang="en-US" sz="1800" b="0" i="0" u="none" strike="noStrike" baseline="0" dirty="0">
                <a:latin typeface="CMMI9"/>
              </a:rPr>
              <a:t>X</a:t>
            </a:r>
            <a:r>
              <a:rPr lang="en-US" sz="1800" b="0" i="0" u="none" strike="noStrike" baseline="0" dirty="0">
                <a:latin typeface="CMSY6"/>
              </a:rPr>
              <a:t>′</a:t>
            </a:r>
            <a:r>
              <a:rPr lang="en-US" sz="1800" b="0" i="0" u="none" strike="noStrike" baseline="0" dirty="0">
                <a:latin typeface="F61"/>
              </a:rPr>
              <a:t>;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22 </a:t>
            </a:r>
            <a:r>
              <a:rPr lang="en-US" sz="1800" b="0" i="0" u="none" strike="noStrike" baseline="0" dirty="0">
                <a:latin typeface="F64"/>
              </a:rPr>
              <a:t>end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23 </a:t>
            </a:r>
            <a:r>
              <a:rPr lang="en-US" sz="1800" b="0" i="0" u="none" strike="noStrike" baseline="0" dirty="0">
                <a:latin typeface="F64"/>
              </a:rPr>
              <a:t>end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24 </a:t>
            </a:r>
            <a:r>
              <a:rPr lang="en-US" sz="1800" b="0" i="0" u="none" strike="noStrike" baseline="0" dirty="0">
                <a:latin typeface="F64"/>
              </a:rPr>
              <a:t>end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25 </a:t>
            </a:r>
            <a:r>
              <a:rPr lang="en-US" sz="1800" b="0" i="0" u="none" strike="noStrike" baseline="0" dirty="0">
                <a:latin typeface="F61"/>
              </a:rPr>
              <a:t>set </a:t>
            </a:r>
            <a:r>
              <a:rPr lang="en-US" sz="1800" b="0" i="0" u="none" strike="noStrike" baseline="0" dirty="0" err="1">
                <a:latin typeface="CMMI9"/>
              </a:rPr>
              <a:t>E</a:t>
            </a:r>
            <a:r>
              <a:rPr lang="en-US" sz="1800" b="0" i="0" u="none" strike="noStrike" baseline="0" dirty="0" err="1">
                <a:latin typeface="CMMI6"/>
              </a:rPr>
              <a:t>k</a:t>
            </a:r>
            <a:r>
              <a:rPr lang="en-US" sz="1800" b="0" i="0" u="none" strike="noStrike" baseline="0" dirty="0">
                <a:latin typeface="CMMI6"/>
              </a:rPr>
              <a:t> </a:t>
            </a:r>
            <a:r>
              <a:rPr lang="en-US" sz="1800" b="0" i="0" u="none" strike="noStrike" baseline="0" dirty="0">
                <a:latin typeface="CMR9"/>
              </a:rPr>
              <a:t>= </a:t>
            </a:r>
            <a:r>
              <a:rPr lang="en-US" sz="1800" b="0" i="0" u="none" strike="noStrike" baseline="0" dirty="0" err="1">
                <a:latin typeface="CMMI9"/>
              </a:rPr>
              <a:t>E</a:t>
            </a:r>
            <a:r>
              <a:rPr lang="en-US" sz="1800" b="0" i="0" u="none" strike="noStrike" baseline="0" dirty="0" err="1">
                <a:latin typeface="CMMI6"/>
              </a:rPr>
              <a:t>k</a:t>
            </a:r>
            <a:r>
              <a:rPr lang="en-US" sz="1800" b="0" i="0" u="none" strike="noStrike" baseline="0" dirty="0">
                <a:latin typeface="CMMI6"/>
              </a:rPr>
              <a:t> </a:t>
            </a:r>
            <a:r>
              <a:rPr lang="en-US" sz="1800" b="0" i="0" u="none" strike="noStrike" baseline="0" dirty="0">
                <a:latin typeface="CMSY9"/>
              </a:rPr>
              <a:t>∪ </a:t>
            </a:r>
            <a:r>
              <a:rPr lang="en-US" sz="1800" b="0" i="0" u="none" strike="noStrike" baseline="0" dirty="0">
                <a:latin typeface="CMMI9"/>
              </a:rPr>
              <a:t>X</a:t>
            </a:r>
            <a:r>
              <a:rPr lang="en-US" sz="1800" b="0" i="0" u="none" strike="noStrike" baseline="0" dirty="0">
                <a:latin typeface="F61"/>
              </a:rPr>
              <a:t>; </a:t>
            </a:r>
            <a:r>
              <a:rPr lang="en-US" sz="1800" b="0" i="0" u="none" strike="noStrike" baseline="0" dirty="0">
                <a:latin typeface="F62"/>
              </a:rPr>
              <a:t>// actual node expansion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26 </a:t>
            </a:r>
            <a:r>
              <a:rPr lang="en-US" sz="1800" b="0" i="0" u="none" strike="noStrike" baseline="0" dirty="0">
                <a:latin typeface="F64"/>
              </a:rPr>
              <a:t>end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27 </a:t>
            </a:r>
            <a:r>
              <a:rPr lang="en-US" sz="1800" b="0" i="0" u="none" strike="noStrike" baseline="0" dirty="0">
                <a:latin typeface="F64"/>
              </a:rPr>
              <a:t>foreach </a:t>
            </a:r>
            <a:r>
              <a:rPr lang="en-US" sz="1800" b="0" i="0" u="none" strike="noStrike" baseline="0" dirty="0">
                <a:latin typeface="F88"/>
              </a:rPr>
              <a:t>node </a:t>
            </a:r>
            <a:r>
              <a:rPr lang="en-US" sz="1800" b="0" i="0" u="none" strike="noStrike" baseline="0" dirty="0">
                <a:latin typeface="CMMI9"/>
              </a:rPr>
              <a:t>X </a:t>
            </a:r>
            <a:r>
              <a:rPr lang="en-US" sz="1800" b="0" i="0" u="none" strike="noStrike" baseline="0" dirty="0">
                <a:latin typeface="CMSY9"/>
              </a:rPr>
              <a:t>∈ </a:t>
            </a:r>
            <a:r>
              <a:rPr lang="en-US" sz="1800" b="0" i="0" u="none" strike="noStrike" baseline="0" dirty="0">
                <a:latin typeface="CMMI9"/>
              </a:rPr>
              <a:t>T</a:t>
            </a:r>
            <a:r>
              <a:rPr lang="en-US" sz="1800" b="0" i="0" u="none" strike="noStrike" baseline="0" dirty="0">
                <a:latin typeface="CMMI6"/>
              </a:rPr>
              <a:t>k </a:t>
            </a:r>
            <a:r>
              <a:rPr lang="en-US" sz="1800" b="0" i="0" u="none" strike="noStrike" baseline="0" dirty="0">
                <a:latin typeface="F64"/>
              </a:rPr>
              <a:t>do </a:t>
            </a:r>
            <a:r>
              <a:rPr lang="en-US" sz="1800" b="0" i="0" u="none" strike="noStrike" baseline="0" dirty="0">
                <a:latin typeface="F62"/>
              </a:rPr>
              <a:t>// extract the subset </a:t>
            </a:r>
            <a:r>
              <a:rPr lang="en-US" sz="1800" b="0" i="0" u="none" strike="noStrike" baseline="0" dirty="0">
                <a:latin typeface="CMMI9"/>
              </a:rPr>
              <a:t>L</a:t>
            </a:r>
            <a:r>
              <a:rPr lang="en-US" sz="1800" b="0" i="0" u="none" strike="noStrike" baseline="0" dirty="0">
                <a:latin typeface="CMMI6"/>
              </a:rPr>
              <a:t>t</a:t>
            </a:r>
          </a:p>
          <a:p>
            <a:pPr algn="l"/>
            <a:r>
              <a:rPr lang="en-US" sz="1800" b="0" i="0" u="none" strike="noStrike" baseline="0" dirty="0">
                <a:latin typeface="CMMI6"/>
              </a:rPr>
              <a:t>k </a:t>
            </a:r>
            <a:r>
              <a:rPr lang="en-US" sz="1800" b="0" i="0" u="none" strike="noStrike" baseline="0" dirty="0">
                <a:latin typeface="CMSY9"/>
              </a:rPr>
              <a:t>∈ </a:t>
            </a:r>
            <a:r>
              <a:rPr lang="en-US" sz="1800" b="0" i="0" u="none" strike="noStrike" baseline="0" dirty="0">
                <a:latin typeface="CMMI9"/>
              </a:rPr>
              <a:t>T</a:t>
            </a:r>
            <a:r>
              <a:rPr lang="en-US" sz="1800" b="0" i="0" u="none" strike="noStrike" baseline="0" dirty="0">
                <a:latin typeface="CMMI6"/>
              </a:rPr>
              <a:t>k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28 </a:t>
            </a:r>
            <a:r>
              <a:rPr lang="en-US" sz="1800" b="0" i="0" u="none" strike="noStrike" baseline="0" dirty="0">
                <a:latin typeface="F64"/>
              </a:rPr>
              <a:t>if </a:t>
            </a:r>
            <a:r>
              <a:rPr lang="en-US" sz="1800" b="0" i="0" u="none" strike="noStrike" baseline="0" dirty="0">
                <a:latin typeface="CMSY9"/>
              </a:rPr>
              <a:t>|</a:t>
            </a:r>
            <a:r>
              <a:rPr lang="en-US" sz="1800" b="0" i="0" u="none" strike="noStrike" baseline="0" dirty="0">
                <a:latin typeface="CMMI9"/>
              </a:rPr>
              <a:t>T</a:t>
            </a:r>
            <a:r>
              <a:rPr lang="en-US" sz="1800" b="0" i="0" u="none" strike="noStrike" baseline="0" dirty="0">
                <a:latin typeface="CMMI6"/>
              </a:rPr>
              <a:t>k</a:t>
            </a:r>
            <a:r>
              <a:rPr lang="en-US" sz="1800" b="0" i="0" u="none" strike="noStrike" baseline="0" dirty="0">
                <a:latin typeface="CMSY9"/>
              </a:rPr>
              <a:t>| ≤ </a:t>
            </a:r>
            <a:r>
              <a:rPr lang="en-US" sz="1800" b="0" i="0" u="none" strike="noStrike" baseline="0" dirty="0">
                <a:latin typeface="CMMI9"/>
              </a:rPr>
              <a:t>δ </a:t>
            </a:r>
            <a:r>
              <a:rPr lang="en-US" sz="1800" b="0" i="0" u="none" strike="noStrike" baseline="0" dirty="0">
                <a:latin typeface="F64"/>
              </a:rPr>
              <a:t>then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29 </a:t>
            </a:r>
            <a:r>
              <a:rPr lang="en-US" sz="1800" b="0" i="0" u="none" strike="noStrike" baseline="0" dirty="0">
                <a:latin typeface="F61"/>
              </a:rPr>
              <a:t>set </a:t>
            </a:r>
            <a:r>
              <a:rPr lang="en-US" sz="1800" b="0" i="0" u="none" strike="noStrike" baseline="0" dirty="0">
                <a:latin typeface="CMMI9"/>
              </a:rPr>
              <a:t>L</a:t>
            </a:r>
            <a:r>
              <a:rPr lang="en-US" sz="1800" b="0" i="0" u="none" strike="noStrike" baseline="0" dirty="0">
                <a:latin typeface="CMMI6"/>
              </a:rPr>
              <a:t>t</a:t>
            </a:r>
          </a:p>
          <a:p>
            <a:pPr algn="l"/>
            <a:r>
              <a:rPr lang="en-US" sz="1800" b="0" i="0" u="none" strike="noStrike" baseline="0" dirty="0">
                <a:latin typeface="CMMI6"/>
              </a:rPr>
              <a:t>k </a:t>
            </a:r>
            <a:r>
              <a:rPr lang="en-US" sz="1800" b="0" i="0" u="none" strike="noStrike" baseline="0" dirty="0">
                <a:latin typeface="CMR9"/>
              </a:rPr>
              <a:t>= </a:t>
            </a:r>
            <a:r>
              <a:rPr lang="en-US" sz="1800" b="0" i="0" u="none" strike="noStrike" baseline="0" dirty="0">
                <a:latin typeface="CMMI9"/>
              </a:rPr>
              <a:t>T</a:t>
            </a:r>
            <a:r>
              <a:rPr lang="en-US" sz="1800" b="0" i="0" u="none" strike="noStrike" baseline="0" dirty="0">
                <a:latin typeface="CMMI6"/>
              </a:rPr>
              <a:t>k</a:t>
            </a:r>
            <a:r>
              <a:rPr lang="en-US" sz="1800" b="0" i="0" u="none" strike="noStrike" baseline="0" dirty="0">
                <a:latin typeface="F61"/>
              </a:rPr>
              <a:t>;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30 </a:t>
            </a:r>
            <a:r>
              <a:rPr lang="en-US" sz="1800" b="0" i="0" u="none" strike="noStrike" baseline="0" dirty="0">
                <a:latin typeface="F64"/>
              </a:rPr>
              <a:t>else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31 </a:t>
            </a:r>
            <a:r>
              <a:rPr lang="en-US" sz="1800" b="0" i="0" u="none" strike="noStrike" baseline="0" dirty="0">
                <a:latin typeface="F61"/>
              </a:rPr>
              <a:t>let </a:t>
            </a:r>
            <a:r>
              <a:rPr lang="en-US" sz="1800" b="0" i="0" u="none" strike="noStrike" baseline="0" dirty="0">
                <a:latin typeface="CMMI9"/>
              </a:rPr>
              <a:t>L</a:t>
            </a:r>
            <a:r>
              <a:rPr lang="en-US" sz="1800" b="0" i="0" u="none" strike="noStrike" baseline="0" dirty="0">
                <a:latin typeface="CMMI6"/>
              </a:rPr>
              <a:t>t</a:t>
            </a:r>
          </a:p>
          <a:p>
            <a:pPr algn="l"/>
            <a:r>
              <a:rPr lang="en-US" sz="1800" b="0" i="0" u="none" strike="noStrike" baseline="0" dirty="0">
                <a:latin typeface="CMMI6"/>
              </a:rPr>
              <a:t>k </a:t>
            </a:r>
            <a:r>
              <a:rPr lang="en-US" sz="1800" b="0" i="0" u="none" strike="noStrike" baseline="0" dirty="0">
                <a:latin typeface="F61"/>
              </a:rPr>
              <a:t>contain only the </a:t>
            </a:r>
            <a:r>
              <a:rPr lang="en-US" sz="1800" b="0" i="0" u="none" strike="noStrike" baseline="0" dirty="0">
                <a:latin typeface="CMMI9"/>
              </a:rPr>
              <a:t>δ </a:t>
            </a:r>
            <a:r>
              <a:rPr lang="en-US" sz="1800" b="0" i="0" u="none" strike="noStrike" baseline="0" dirty="0">
                <a:latin typeface="F61"/>
              </a:rPr>
              <a:t>least cost partial solutions of </a:t>
            </a:r>
            <a:r>
              <a:rPr lang="en-US" sz="1800" b="0" i="0" u="none" strike="noStrike" baseline="0" dirty="0">
                <a:latin typeface="CMMI9"/>
              </a:rPr>
              <a:t>T</a:t>
            </a:r>
            <a:r>
              <a:rPr lang="en-US" sz="1800" b="0" i="0" u="none" strike="noStrike" baseline="0" dirty="0">
                <a:latin typeface="CMMI6"/>
              </a:rPr>
              <a:t>k</a:t>
            </a:r>
            <a:r>
              <a:rPr lang="en-US" sz="1800" b="0" i="0" u="none" strike="noStrike" baseline="0" dirty="0">
                <a:latin typeface="F61"/>
              </a:rPr>
              <a:t>;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32 </a:t>
            </a:r>
            <a:r>
              <a:rPr lang="en-US" sz="1800" b="0" i="0" u="none" strike="noStrike" baseline="0" dirty="0">
                <a:latin typeface="F64"/>
              </a:rPr>
              <a:t>end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33 </a:t>
            </a:r>
            <a:r>
              <a:rPr lang="en-US" sz="1800" b="0" i="0" u="none" strike="noStrike" baseline="0" dirty="0">
                <a:latin typeface="F64"/>
              </a:rPr>
              <a:t>end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34 </a:t>
            </a:r>
            <a:r>
              <a:rPr lang="en-US" sz="1800" b="0" i="0" u="none" strike="noStrike" baseline="0" dirty="0">
                <a:latin typeface="F64"/>
              </a:rPr>
              <a:t>if </a:t>
            </a:r>
            <a:r>
              <a:rPr lang="en-US" sz="1800" b="0" i="0" u="none" strike="noStrike" baseline="0" dirty="0" err="1">
                <a:latin typeface="CMMI9"/>
              </a:rPr>
              <a:t>ntNodes</a:t>
            </a:r>
            <a:r>
              <a:rPr lang="en-US" sz="1800" b="0" i="0" u="none" strike="noStrike" baseline="0" dirty="0">
                <a:latin typeface="CMMI9"/>
              </a:rPr>
              <a:t> &gt; </a:t>
            </a:r>
            <a:r>
              <a:rPr lang="en-US" sz="1800" b="0" i="0" u="none" strike="noStrike" baseline="0" dirty="0" err="1">
                <a:latin typeface="CMMI9"/>
              </a:rPr>
              <a:t>maxtnodes</a:t>
            </a:r>
            <a:r>
              <a:rPr lang="en-US" sz="1800" b="0" i="0" u="none" strike="noStrike" baseline="0" dirty="0">
                <a:latin typeface="CMMI9"/>
              </a:rPr>
              <a:t> </a:t>
            </a:r>
            <a:r>
              <a:rPr lang="en-US" sz="1800" b="0" i="0" u="none" strike="noStrike" baseline="0" dirty="0">
                <a:latin typeface="F64"/>
              </a:rPr>
              <a:t>then break;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35 </a:t>
            </a:r>
            <a:r>
              <a:rPr lang="en-US" sz="1800" b="0" i="0" u="none" strike="noStrike" baseline="0" dirty="0">
                <a:latin typeface="F64"/>
              </a:rPr>
              <a:t>end</a:t>
            </a:r>
          </a:p>
          <a:p>
            <a:pPr algn="l"/>
            <a:r>
              <a:rPr lang="en-US" sz="1800" b="0" i="0" u="none" strike="noStrike" baseline="0" dirty="0">
                <a:latin typeface="F69"/>
              </a:rPr>
              <a:t>36 </a:t>
            </a:r>
            <a:r>
              <a:rPr lang="en-US" sz="1800" b="0" i="0" u="none" strike="noStrike" baseline="0" dirty="0">
                <a:latin typeface="F64"/>
              </a:rPr>
              <a:t>if </a:t>
            </a:r>
            <a:r>
              <a:rPr lang="en-US" sz="1800" b="0" i="0" u="none" strike="noStrike" baseline="0" dirty="0" err="1">
                <a:latin typeface="CMMI9"/>
              </a:rPr>
              <a:t>noimpr</a:t>
            </a:r>
            <a:r>
              <a:rPr lang="en-US" sz="1800" b="0" i="0" u="none" strike="noStrike" baseline="0" dirty="0">
                <a:latin typeface="CMMI9"/>
              </a:rPr>
              <a:t> </a:t>
            </a:r>
            <a:r>
              <a:rPr lang="en-US" sz="1800" b="0" i="0" u="none" strike="noStrike" baseline="0" dirty="0">
                <a:latin typeface="CMR9"/>
              </a:rPr>
              <a:t>= 2 </a:t>
            </a:r>
            <a:r>
              <a:rPr lang="en-US" sz="1800" b="0" i="0" u="none" strike="noStrike" baseline="0" dirty="0">
                <a:latin typeface="F64"/>
              </a:rPr>
              <a:t>then stop </a:t>
            </a:r>
            <a:r>
              <a:rPr lang="en-US" sz="1800" b="0" i="0" u="none" strike="noStrike" baseline="0" dirty="0">
                <a:latin typeface="F61"/>
              </a:rPr>
              <a:t>; </a:t>
            </a:r>
            <a:r>
              <a:rPr lang="en-US" sz="1800" b="0" i="0" u="none" strike="noStrike" baseline="0" dirty="0">
                <a:latin typeface="F62"/>
              </a:rPr>
              <a:t>// sol. not improved for two iterations</a:t>
            </a:r>
          </a:p>
          <a:p>
            <a:pPr algn="l"/>
            <a:r>
              <a:rPr lang="en-US" sz="1800" b="0" i="0" u="none" strike="noStrike" baseline="0">
                <a:latin typeface="F69"/>
              </a:rPr>
              <a:t>37 </a:t>
            </a:r>
            <a:r>
              <a:rPr lang="en-US" sz="1800" b="0" i="0" u="none" strike="noStrike" baseline="0">
                <a:latin typeface="F64"/>
              </a:rPr>
              <a:t>end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07BBB0-72E8-F179-9955-1B0A56B42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SPP model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A31EC4-FDCC-6F0A-03D9-E0CC46EAF3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303B39-BB8B-E9D4-5E1F-ECF8A7AAB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82775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2007D1F-70A4-9EEE-821A-1228FBEE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Cost functions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D25D0A-E54A-A8DC-16EC-401B83745B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5F85E0-4461-848E-30C0-945822161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9F25CB-0DBE-4941-468A-C654E6D3D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12" y="1517989"/>
            <a:ext cx="2778996" cy="22146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51CD8F1-94E2-836E-53D1-614CD07F7E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4398" y="1517989"/>
            <a:ext cx="2854060" cy="22745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4867872-8883-518B-F0EA-9422327D27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612" y="4311657"/>
            <a:ext cx="2778996" cy="221467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0764DD-C71E-A431-4670-06533D71D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4399" y="4306084"/>
            <a:ext cx="2854060" cy="22745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CFCFF87-8AEE-43EC-DADE-5B27BE8319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9006" y="1517989"/>
            <a:ext cx="2785989" cy="222025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64ED992-E98C-15E4-BCE2-ECD769B7F0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9006" y="4306084"/>
            <a:ext cx="2785989" cy="22202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F3E3E5-768F-FDC3-8791-C5B9DD841F16}"/>
                  </a:ext>
                </a:extLst>
              </p:cNvPr>
              <p:cNvSpPr txBox="1"/>
              <p:nvPr/>
            </p:nvSpPr>
            <p:spPr>
              <a:xfrm>
                <a:off x="555782" y="969123"/>
                <a:ext cx="2111524" cy="6040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 anchor="t" anchorCtr="0"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=∑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den>
                      </m:f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F3E3E5-768F-FDC3-8791-C5B9DD841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782" y="969123"/>
                <a:ext cx="2111524" cy="60403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DF2A517-0D8E-91A4-5530-37C898567F50}"/>
                  </a:ext>
                </a:extLst>
              </p:cNvPr>
              <p:cNvSpPr txBox="1"/>
              <p:nvPr/>
            </p:nvSpPr>
            <p:spPr>
              <a:xfrm>
                <a:off x="3554629" y="969123"/>
                <a:ext cx="2111524" cy="6040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 anchor="t" anchorCtr="0"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=∑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DF2A517-0D8E-91A4-5530-37C898567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629" y="969123"/>
                <a:ext cx="2111524" cy="60403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4B8B227-F428-4FE7-E99B-C51F22D8325F}"/>
                  </a:ext>
                </a:extLst>
              </p:cNvPr>
              <p:cNvSpPr txBox="1"/>
              <p:nvPr/>
            </p:nvSpPr>
            <p:spPr>
              <a:xfrm>
                <a:off x="6507401" y="969119"/>
                <a:ext cx="2111524" cy="6040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 anchor="t" anchorCtr="0"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𝑄𝑅𝑀𝑆𝐸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=∑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4B8B227-F428-4FE7-E99B-C51F22D832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7401" y="969119"/>
                <a:ext cx="2111524" cy="60403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FB5ED2B-FD68-BC1F-A935-6B0B30F8F6DD}"/>
                  </a:ext>
                </a:extLst>
              </p:cNvPr>
              <p:cNvSpPr txBox="1"/>
              <p:nvPr/>
            </p:nvSpPr>
            <p:spPr>
              <a:xfrm>
                <a:off x="6507395" y="3779002"/>
                <a:ext cx="2111524" cy="6040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 anchor="t" anchorCtr="0"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=∑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FB5ED2B-FD68-BC1F-A935-6B0B30F8F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7395" y="3779002"/>
                <a:ext cx="2111524" cy="60403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301F450-FA65-439F-309D-34C2C51A0F01}"/>
                  </a:ext>
                </a:extLst>
              </p:cNvPr>
              <p:cNvSpPr txBox="1"/>
              <p:nvPr/>
            </p:nvSpPr>
            <p:spPr>
              <a:xfrm>
                <a:off x="555782" y="3786916"/>
                <a:ext cx="2111524" cy="6040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 anchor="t" anchorCtr="0"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301F450-FA65-439F-309D-34C2C51A0F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782" y="3786916"/>
                <a:ext cx="2111524" cy="60403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3B12951-FE07-622B-E01B-A08E25847C51}"/>
                  </a:ext>
                </a:extLst>
              </p:cNvPr>
              <p:cNvSpPr txBox="1"/>
              <p:nvPr/>
            </p:nvSpPr>
            <p:spPr>
              <a:xfrm>
                <a:off x="3554629" y="3786916"/>
                <a:ext cx="2111524" cy="6040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 anchor="t" anchorCtr="0">
                <a:normAutofit fontScale="4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𝑆𝐸𝑅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𝑟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</m:acc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3B12951-FE07-622B-E01B-A08E25847C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629" y="3786916"/>
                <a:ext cx="2111524" cy="60403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7501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7276B0-CD78-3DBA-4C98-46F8DFFF36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67380"/>
            <a:ext cx="8546175" cy="5259392"/>
          </a:xfrm>
        </p:spPr>
        <p:txBody>
          <a:bodyPr>
            <a:normAutofit/>
          </a:bodyPr>
          <a:lstStyle/>
          <a:p>
            <a:r>
              <a:rPr lang="en-US" sz="2400" dirty="0"/>
              <a:t>The series were produced in the context of the SMARTLAGOON project, an </a:t>
            </a:r>
            <a:r>
              <a:rPr lang="en-US" sz="2400" dirty="0">
                <a:solidFill>
                  <a:srgbClr val="C00000"/>
                </a:solidFill>
              </a:rPr>
              <a:t>EU H2020 project</a:t>
            </a:r>
            <a:r>
              <a:rPr lang="en-US" sz="2400" dirty="0"/>
              <a:t>, whose objective is real-time monitoring, analysis, and </a:t>
            </a:r>
            <a:r>
              <a:rPr lang="en-US" sz="2400" dirty="0">
                <a:solidFill>
                  <a:srgbClr val="C00000"/>
                </a:solidFill>
              </a:rPr>
              <a:t>prediction</a:t>
            </a:r>
            <a:r>
              <a:rPr lang="en-US" sz="2400" dirty="0"/>
              <a:t> of the socio-environmental evolution of the vulnerable area Mar Menor, which is the </a:t>
            </a:r>
            <a:r>
              <a:rPr lang="en-US" sz="2400" dirty="0">
                <a:solidFill>
                  <a:srgbClr val="C00000"/>
                </a:solidFill>
              </a:rPr>
              <a:t>largest saltwater coastal lagoon </a:t>
            </a:r>
            <a:r>
              <a:rPr lang="en-US" sz="2400" dirty="0"/>
              <a:t>in Europe.  </a:t>
            </a:r>
          </a:p>
          <a:p>
            <a:r>
              <a:rPr lang="en-US" sz="2400" dirty="0"/>
              <a:t>Within the framework </a:t>
            </a:r>
          </a:p>
          <a:p>
            <a:pPr>
              <a:spcBef>
                <a:spcPts val="0"/>
              </a:spcBef>
            </a:pPr>
            <a:r>
              <a:rPr lang="en-US" sz="2400" dirty="0"/>
              <a:t>of the project, </a:t>
            </a:r>
            <a:r>
              <a:rPr lang="en-US" sz="2400" dirty="0">
                <a:solidFill>
                  <a:srgbClr val="C00000"/>
                </a:solidFill>
              </a:rPr>
              <a:t>smart </a:t>
            </a:r>
          </a:p>
          <a:p>
            <a:pPr>
              <a:spcBef>
                <a:spcPts val="0"/>
              </a:spcBef>
            </a:pPr>
            <a:r>
              <a:rPr lang="en-US" sz="2400" dirty="0">
                <a:solidFill>
                  <a:srgbClr val="C00000"/>
                </a:solidFill>
              </a:rPr>
              <a:t>buoys</a:t>
            </a:r>
            <a:r>
              <a:rPr lang="en-US" sz="2400" dirty="0"/>
              <a:t> were deployed in </a:t>
            </a:r>
          </a:p>
          <a:p>
            <a:pPr>
              <a:spcBef>
                <a:spcPts val="0"/>
              </a:spcBef>
            </a:pPr>
            <a:r>
              <a:rPr lang="en-US" sz="2400" dirty="0"/>
              <a:t>the lagoon and their </a:t>
            </a:r>
          </a:p>
          <a:p>
            <a:pPr>
              <a:spcBef>
                <a:spcPts val="0"/>
              </a:spcBef>
            </a:pPr>
            <a:r>
              <a:rPr lang="en-US" sz="2400" dirty="0"/>
              <a:t>sensors generated series </a:t>
            </a:r>
          </a:p>
          <a:p>
            <a:pPr>
              <a:spcBef>
                <a:spcPts val="0"/>
              </a:spcBef>
            </a:pPr>
            <a:r>
              <a:rPr lang="en-US" sz="2400" dirty="0"/>
              <a:t>on 12 attributes.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0C0E9B-D36C-B632-F30F-59845034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real world application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616244-7742-369F-A035-EC28D4661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ACFC7C-1091-640A-BA9E-F91A0B4860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0522FB-C635-3FEA-7AD0-BF1FB8906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196" y="3393664"/>
            <a:ext cx="5166803" cy="346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440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BF42E2-88E9-CF37-0415-596CF6751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7285"/>
            <a:ext cx="8546175" cy="5551606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US" sz="2600" dirty="0"/>
              <a:t>A set of </a:t>
            </a:r>
            <a:r>
              <a:rPr lang="en-US" sz="2600" dirty="0">
                <a:solidFill>
                  <a:srgbClr val="C00000"/>
                </a:solidFill>
              </a:rPr>
              <a:t>IoT series </a:t>
            </a:r>
            <a:r>
              <a:rPr lang="en-US" sz="2600" dirty="0"/>
              <a:t>on different physical variables August 2022 to April 2023 at different sampling frequency (daily or every 60 mins).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/>
              <a:t>Three other benchmark sets from the </a:t>
            </a:r>
            <a:r>
              <a:rPr lang="en-US" sz="2600" dirty="0">
                <a:solidFill>
                  <a:srgbClr val="C00000"/>
                </a:solidFill>
              </a:rPr>
              <a:t>M competitions</a:t>
            </a:r>
            <a:r>
              <a:rPr lang="en-US" sz="2600" i="1" baseline="30000" dirty="0">
                <a:solidFill>
                  <a:srgbClr val="C00000"/>
                </a:solidFill>
              </a:rPr>
              <a:t>1</a:t>
            </a:r>
            <a:r>
              <a:rPr lang="en-US" sz="2600" dirty="0">
                <a:solidFill>
                  <a:srgbClr val="C00000"/>
                </a:solidFill>
              </a:rPr>
              <a:t> </a:t>
            </a:r>
            <a:r>
              <a:rPr lang="en-US" sz="2600" dirty="0"/>
              <a:t>on time series forecasting: 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M3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M4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M6 (daily adjusted close prices of the M6 assets)</a:t>
            </a:r>
          </a:p>
          <a:p>
            <a:pPr>
              <a:lnSpc>
                <a:spcPct val="120000"/>
              </a:lnSpc>
            </a:pPr>
            <a:r>
              <a:rPr lang="en-US" sz="2600" dirty="0">
                <a:solidFill>
                  <a:srgbClr val="C00000"/>
                </a:solidFill>
              </a:rPr>
              <a:t>Comparison</a:t>
            </a:r>
            <a:r>
              <a:rPr lang="en-US" sz="2600" dirty="0"/>
              <a:t> against codes in </a:t>
            </a:r>
            <a:r>
              <a:rPr lang="en-US" sz="2600" b="1" i="1" dirty="0"/>
              <a:t>ruptures</a:t>
            </a:r>
            <a:r>
              <a:rPr lang="en-US" sz="2600" b="1" i="1" baseline="30000" dirty="0"/>
              <a:t>2</a:t>
            </a:r>
            <a:r>
              <a:rPr lang="en-US" sz="2600" i="1" baseline="30000" dirty="0"/>
              <a:t> </a:t>
            </a:r>
            <a:r>
              <a:rPr lang="en-US" sz="2600" dirty="0"/>
              <a:t>(Truong et al., 2020): </a:t>
            </a:r>
            <a:r>
              <a:rPr lang="en-US" sz="2600" b="1" i="1" dirty="0"/>
              <a:t>DYNP</a:t>
            </a:r>
            <a:r>
              <a:rPr lang="en-US" sz="2600" dirty="0"/>
              <a:t> (needs the number of breaks in input), </a:t>
            </a:r>
            <a:r>
              <a:rPr lang="en-US" sz="2600" b="1" i="1" dirty="0"/>
              <a:t>PELT</a:t>
            </a:r>
            <a:r>
              <a:rPr lang="en-US" sz="2600" dirty="0"/>
              <a:t> (</a:t>
            </a:r>
            <a:r>
              <a:rPr lang="en-US" sz="2600" i="1" dirty="0"/>
              <a:t>Killick et al., 2012</a:t>
            </a:r>
            <a:r>
              <a:rPr lang="en-US" sz="2600" dirty="0"/>
              <a:t>), </a:t>
            </a:r>
            <a:r>
              <a:rPr lang="en-US" sz="2600" b="1" i="1" dirty="0"/>
              <a:t>BINSEG</a:t>
            </a:r>
            <a:r>
              <a:rPr lang="en-US" sz="2600" dirty="0"/>
              <a:t> (</a:t>
            </a:r>
            <a:r>
              <a:rPr lang="en-US" sz="2600" i="1" dirty="0"/>
              <a:t>Keogh, 2001</a:t>
            </a:r>
            <a:r>
              <a:rPr lang="en-US" sz="2600" dirty="0"/>
              <a:t>)</a:t>
            </a:r>
            <a:r>
              <a:rPr lang="da-DK" sz="2600" dirty="0"/>
              <a:t>. 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>
                <a:solidFill>
                  <a:srgbClr val="C00000"/>
                </a:solidFill>
              </a:rPr>
              <a:t>Results</a:t>
            </a:r>
            <a:r>
              <a:rPr lang="en-US" sz="2600" dirty="0"/>
              <a:t> are percentage over (below for LB) the best solution we found over the many runs we made.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>
                <a:solidFill>
                  <a:srgbClr val="C00000"/>
                </a:solidFill>
              </a:rPr>
              <a:t>Code</a:t>
            </a:r>
            <a:r>
              <a:rPr lang="en-US" sz="2600" dirty="0"/>
              <a:t> in C++, solver CPLEX 22.11, platform desktop Windows 11 using a single core. </a:t>
            </a:r>
            <a:r>
              <a:rPr lang="en-US" sz="2600" dirty="0" err="1"/>
              <a:t>Lagrangian</a:t>
            </a:r>
            <a:r>
              <a:rPr lang="en-US" sz="2600" dirty="0"/>
              <a:t> run for 180 seconds.</a:t>
            </a:r>
          </a:p>
          <a:p>
            <a:pPr>
              <a:lnSpc>
                <a:spcPct val="120000"/>
              </a:lnSpc>
            </a:pPr>
            <a:r>
              <a:rPr lang="en-US" sz="2200" i="1" baseline="30000" dirty="0"/>
              <a:t>1</a:t>
            </a:r>
            <a:r>
              <a:rPr lang="en-US" sz="1600" dirty="0"/>
              <a:t> https://en.wikipedia.org/wiki/Makridakis_Competitions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i="1" baseline="30000" dirty="0"/>
              <a:t>2</a:t>
            </a:r>
            <a:r>
              <a:rPr lang="en-US" sz="1600" dirty="0"/>
              <a:t> https://centre-borelli.github.io/ruptures-docs/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076A18-B4A4-A350-FFBF-1B9602B78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Testsets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D1E5F-152B-B376-E87E-EDB6374A1A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0E8CF-948D-D45B-4090-98FC2F2300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9786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7C9162-6126-3FFD-9A40-74294955D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IoT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84BED6-FE81-DA2B-6A14-D63934108A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BC033-2596-EF75-426C-D313E5D355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07702249-5F8D-32F5-98B1-4A0E7CF144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8535825"/>
              </p:ext>
            </p:extLst>
          </p:nvPr>
        </p:nvGraphicFramePr>
        <p:xfrm>
          <a:off x="278766" y="1305107"/>
          <a:ext cx="8697069" cy="493043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9680">
                  <a:extLst>
                    <a:ext uri="{9D8B030D-6E8A-4147-A177-3AD203B41FA5}">
                      <a16:colId xmlns:a16="http://schemas.microsoft.com/office/drawing/2014/main" val="773781325"/>
                    </a:ext>
                  </a:extLst>
                </a:gridCol>
                <a:gridCol w="713606">
                  <a:extLst>
                    <a:ext uri="{9D8B030D-6E8A-4147-A177-3AD203B41FA5}">
                      <a16:colId xmlns:a16="http://schemas.microsoft.com/office/drawing/2014/main" val="4178588157"/>
                    </a:ext>
                  </a:extLst>
                </a:gridCol>
                <a:gridCol w="386536">
                  <a:extLst>
                    <a:ext uri="{9D8B030D-6E8A-4147-A177-3AD203B41FA5}">
                      <a16:colId xmlns:a16="http://schemas.microsoft.com/office/drawing/2014/main" val="1990140612"/>
                    </a:ext>
                  </a:extLst>
                </a:gridCol>
                <a:gridCol w="713606">
                  <a:extLst>
                    <a:ext uri="{9D8B030D-6E8A-4147-A177-3AD203B41FA5}">
                      <a16:colId xmlns:a16="http://schemas.microsoft.com/office/drawing/2014/main" val="3353787883"/>
                    </a:ext>
                  </a:extLst>
                </a:gridCol>
                <a:gridCol w="713606">
                  <a:extLst>
                    <a:ext uri="{9D8B030D-6E8A-4147-A177-3AD203B41FA5}">
                      <a16:colId xmlns:a16="http://schemas.microsoft.com/office/drawing/2014/main" val="1540741562"/>
                    </a:ext>
                  </a:extLst>
                </a:gridCol>
                <a:gridCol w="623759">
                  <a:extLst>
                    <a:ext uri="{9D8B030D-6E8A-4147-A177-3AD203B41FA5}">
                      <a16:colId xmlns:a16="http://schemas.microsoft.com/office/drawing/2014/main" val="2991645405"/>
                    </a:ext>
                  </a:extLst>
                </a:gridCol>
                <a:gridCol w="952120">
                  <a:extLst>
                    <a:ext uri="{9D8B030D-6E8A-4147-A177-3AD203B41FA5}">
                      <a16:colId xmlns:a16="http://schemas.microsoft.com/office/drawing/2014/main" val="2617429"/>
                    </a:ext>
                  </a:extLst>
                </a:gridCol>
                <a:gridCol w="386536">
                  <a:extLst>
                    <a:ext uri="{9D8B030D-6E8A-4147-A177-3AD203B41FA5}">
                      <a16:colId xmlns:a16="http://schemas.microsoft.com/office/drawing/2014/main" val="3685076492"/>
                    </a:ext>
                  </a:extLst>
                </a:gridCol>
                <a:gridCol w="728472">
                  <a:extLst>
                    <a:ext uri="{9D8B030D-6E8A-4147-A177-3AD203B41FA5}">
                      <a16:colId xmlns:a16="http://schemas.microsoft.com/office/drawing/2014/main" val="1362805138"/>
                    </a:ext>
                  </a:extLst>
                </a:gridCol>
                <a:gridCol w="579805">
                  <a:extLst>
                    <a:ext uri="{9D8B030D-6E8A-4147-A177-3AD203B41FA5}">
                      <a16:colId xmlns:a16="http://schemas.microsoft.com/office/drawing/2014/main" val="514230294"/>
                    </a:ext>
                  </a:extLst>
                </a:gridCol>
                <a:gridCol w="728472">
                  <a:extLst>
                    <a:ext uri="{9D8B030D-6E8A-4147-A177-3AD203B41FA5}">
                      <a16:colId xmlns:a16="http://schemas.microsoft.com/office/drawing/2014/main" val="3697391703"/>
                    </a:ext>
                  </a:extLst>
                </a:gridCol>
                <a:gridCol w="460871">
                  <a:extLst>
                    <a:ext uri="{9D8B030D-6E8A-4147-A177-3AD203B41FA5}">
                      <a16:colId xmlns:a16="http://schemas.microsoft.com/office/drawing/2014/main" val="313762501"/>
                    </a:ext>
                  </a:extLst>
                </a:gridCol>
              </a:tblGrid>
              <a:tr h="408079"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none" strike="noStrike" dirty="0">
                          <a:effectLst/>
                        </a:rPr>
                        <a:t>MIP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3"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none" strike="noStrike" dirty="0" err="1">
                          <a:effectLst/>
                        </a:rPr>
                        <a:t>Lagrangian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2"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none" strike="noStrike" dirty="0">
                          <a:effectLst/>
                        </a:rPr>
                        <a:t>PELT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2"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none" strike="noStrike" dirty="0">
                          <a:effectLst/>
                        </a:rPr>
                        <a:t>BINSEG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2"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none" strike="noStrike" dirty="0">
                          <a:effectLst/>
                        </a:rPr>
                        <a:t>DYNP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53655628"/>
                  </a:ext>
                </a:extLst>
              </a:tr>
              <a:tr h="373641">
                <a:tc>
                  <a:txBody>
                    <a:bodyPr/>
                    <a:lstStyle/>
                    <a:p>
                      <a:pPr algn="l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 err="1">
                          <a:effectLst/>
                        </a:rPr>
                        <a:t>zlb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 err="1">
                          <a:effectLst/>
                        </a:rPr>
                        <a:t>zub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 err="1">
                          <a:effectLst/>
                        </a:rPr>
                        <a:t>t.zub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8145669"/>
                  </a:ext>
                </a:extLst>
              </a:tr>
              <a:tr h="373641">
                <a:tc>
                  <a:txBody>
                    <a:bodyPr/>
                    <a:lstStyle/>
                    <a:p>
                      <a:pPr algn="l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 err="1">
                          <a:effectLst/>
                        </a:rPr>
                        <a:t>IBatt_Min</a:t>
                      </a:r>
                      <a:r>
                        <a:rPr lang="en-US" sz="1600" i="1" u="none" strike="noStrike" dirty="0">
                          <a:effectLst/>
                        </a:rPr>
                        <a:t> 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-12.29%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>
                          <a:effectLst/>
                        </a:rPr>
                        <a:t>21.27%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155.08%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113.72%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101.31%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3423821"/>
                  </a:ext>
                </a:extLst>
              </a:tr>
              <a:tr h="373641">
                <a:tc>
                  <a:txBody>
                    <a:bodyPr/>
                    <a:lstStyle/>
                    <a:p>
                      <a:pPr algn="l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 err="1">
                          <a:effectLst/>
                        </a:rPr>
                        <a:t>PTemp_C_Avg</a:t>
                      </a:r>
                      <a:r>
                        <a:rPr lang="en-US" sz="1600" i="1" u="none" strike="noStrike" dirty="0">
                          <a:effectLst/>
                        </a:rPr>
                        <a:t> 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18.01%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-3.55%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>
                          <a:effectLst/>
                        </a:rPr>
                        <a:t>5.95%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42.67%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36.04%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4.88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106449"/>
                  </a:ext>
                </a:extLst>
              </a:tr>
              <a:tr h="373641">
                <a:tc>
                  <a:txBody>
                    <a:bodyPr/>
                    <a:lstStyle/>
                    <a:p>
                      <a:pPr algn="l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 err="1">
                          <a:effectLst/>
                        </a:rPr>
                        <a:t>PTemp_C_Max</a:t>
                      </a:r>
                      <a:r>
                        <a:rPr lang="en-US" sz="1600" i="1" u="none" strike="noStrike" dirty="0">
                          <a:effectLst/>
                        </a:rPr>
                        <a:t> 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-1.31%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18.16%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16.98%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2.65%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604113"/>
                  </a:ext>
                </a:extLst>
              </a:tr>
              <a:tr h="373641">
                <a:tc>
                  <a:txBody>
                    <a:bodyPr/>
                    <a:lstStyle/>
                    <a:p>
                      <a:pPr algn="l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>
                          <a:effectLst/>
                        </a:rPr>
                        <a:t>SDI_Temp_1m </a:t>
                      </a:r>
                      <a:endParaRPr lang="en-US" sz="1600" b="0" i="1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18.50%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357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-59.66%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5.93%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273.81%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273.81%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>
                          <a:effectLst/>
                        </a:rPr>
                        <a:t>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9607253"/>
                  </a:ext>
                </a:extLst>
              </a:tr>
              <a:tr h="373641">
                <a:tc>
                  <a:txBody>
                    <a:bodyPr/>
                    <a:lstStyle/>
                    <a:p>
                      <a:pPr algn="l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>
                          <a:effectLst/>
                        </a:rPr>
                        <a:t>ThermTemp1_Avg 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15.09%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-48.96%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4.45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920.51%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920.51%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13.05%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5369888"/>
                  </a:ext>
                </a:extLst>
              </a:tr>
              <a:tr h="373641">
                <a:tc>
                  <a:txBody>
                    <a:bodyPr/>
                    <a:lstStyle/>
                    <a:p>
                      <a:pPr algn="l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>
                          <a:effectLst/>
                        </a:rPr>
                        <a:t>V_in_chg_Avg </a:t>
                      </a:r>
                      <a:endParaRPr lang="en-US" sz="1600" b="0" i="1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-12.75%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>
                          <a:effectLst/>
                        </a:rPr>
                        <a:t>8.88%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84.19%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84.19%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33.43%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4496561"/>
                  </a:ext>
                </a:extLst>
              </a:tr>
              <a:tr h="373641">
                <a:tc>
                  <a:txBody>
                    <a:bodyPr/>
                    <a:lstStyle/>
                    <a:p>
                      <a:pPr algn="l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 err="1">
                          <a:effectLst/>
                        </a:rPr>
                        <a:t>Vapor_Press_Avg</a:t>
                      </a:r>
                      <a:r>
                        <a:rPr lang="en-US" sz="1600" i="1" u="none" strike="noStrike" dirty="0">
                          <a:effectLst/>
                        </a:rPr>
                        <a:t> 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41.97%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-4.17%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141.06%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141.06%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20.10%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0005606"/>
                  </a:ext>
                </a:extLst>
              </a:tr>
              <a:tr h="412309">
                <a:tc>
                  <a:txBody>
                    <a:bodyPr/>
                    <a:lstStyle/>
                    <a:p>
                      <a:pPr algn="l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>
                          <a:effectLst/>
                        </a:rPr>
                        <a:t>Vapor_Press_Avg_2 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362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-14.48%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46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45.23%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45.23%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0.27%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925346"/>
                  </a:ext>
                </a:extLst>
              </a:tr>
              <a:tr h="373641">
                <a:tc>
                  <a:txBody>
                    <a:bodyPr/>
                    <a:lstStyle/>
                    <a:p>
                      <a:pPr algn="l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 err="1">
                          <a:effectLst/>
                        </a:rPr>
                        <a:t>WS_ms_Avg</a:t>
                      </a:r>
                      <a:r>
                        <a:rPr lang="en-US" sz="1600" i="1" u="none" strike="noStrike" dirty="0">
                          <a:effectLst/>
                        </a:rPr>
                        <a:t> 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358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dirty="0">
                          <a:solidFill>
                            <a:srgbClr val="C00000"/>
                          </a:solidFill>
                          <a:effectLst/>
                        </a:rPr>
                        <a:t>0.00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rgbClr val="C00000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14.51%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>
                          <a:effectLst/>
                        </a:rPr>
                        <a:t>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9796571"/>
                  </a:ext>
                </a:extLst>
              </a:tr>
              <a:tr h="373641">
                <a:tc>
                  <a:txBody>
                    <a:bodyPr/>
                    <a:lstStyle/>
                    <a:p>
                      <a:pPr algn="l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>
                          <a:effectLst/>
                        </a:rPr>
                        <a:t>WTemp_C1_Avg 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10.10%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349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-59.44%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>
                          <a:effectLst/>
                        </a:rPr>
                        <a:t>19.63%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55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299.05%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299.05%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152546"/>
                  </a:ext>
                </a:extLst>
              </a:tr>
              <a:tr h="373641">
                <a:tc>
                  <a:txBody>
                    <a:bodyPr/>
                    <a:lstStyle/>
                    <a:p>
                      <a:pPr algn="l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i="1" u="none" strike="noStrike" dirty="0">
                          <a:effectLst/>
                        </a:rPr>
                        <a:t>WTemp_C2_Avg 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b="1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1.03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-28.84%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6.63%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87.30%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123.16%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61.77%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0387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08632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B2777F3-C053-2737-16BE-6735343696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1546834"/>
              </p:ext>
            </p:extLst>
          </p:nvPr>
        </p:nvGraphicFramePr>
        <p:xfrm>
          <a:off x="478876" y="1310587"/>
          <a:ext cx="8181648" cy="44700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77126">
                  <a:extLst>
                    <a:ext uri="{9D8B030D-6E8A-4147-A177-3AD203B41FA5}">
                      <a16:colId xmlns:a16="http://schemas.microsoft.com/office/drawing/2014/main" val="114981102"/>
                    </a:ext>
                  </a:extLst>
                </a:gridCol>
                <a:gridCol w="687309">
                  <a:extLst>
                    <a:ext uri="{9D8B030D-6E8A-4147-A177-3AD203B41FA5}">
                      <a16:colId xmlns:a16="http://schemas.microsoft.com/office/drawing/2014/main" val="963960691"/>
                    </a:ext>
                  </a:extLst>
                </a:gridCol>
                <a:gridCol w="432374">
                  <a:extLst>
                    <a:ext uri="{9D8B030D-6E8A-4147-A177-3AD203B41FA5}">
                      <a16:colId xmlns:a16="http://schemas.microsoft.com/office/drawing/2014/main" val="1238777008"/>
                    </a:ext>
                  </a:extLst>
                </a:gridCol>
                <a:gridCol w="794069">
                  <a:extLst>
                    <a:ext uri="{9D8B030D-6E8A-4147-A177-3AD203B41FA5}">
                      <a16:colId xmlns:a16="http://schemas.microsoft.com/office/drawing/2014/main" val="879074341"/>
                    </a:ext>
                  </a:extLst>
                </a:gridCol>
                <a:gridCol w="731858">
                  <a:extLst>
                    <a:ext uri="{9D8B030D-6E8A-4147-A177-3AD203B41FA5}">
                      <a16:colId xmlns:a16="http://schemas.microsoft.com/office/drawing/2014/main" val="889483529"/>
                    </a:ext>
                  </a:extLst>
                </a:gridCol>
                <a:gridCol w="506592">
                  <a:extLst>
                    <a:ext uri="{9D8B030D-6E8A-4147-A177-3AD203B41FA5}">
                      <a16:colId xmlns:a16="http://schemas.microsoft.com/office/drawing/2014/main" val="2470528816"/>
                    </a:ext>
                  </a:extLst>
                </a:gridCol>
                <a:gridCol w="839645">
                  <a:extLst>
                    <a:ext uri="{9D8B030D-6E8A-4147-A177-3AD203B41FA5}">
                      <a16:colId xmlns:a16="http://schemas.microsoft.com/office/drawing/2014/main" val="1144743973"/>
                    </a:ext>
                  </a:extLst>
                </a:gridCol>
                <a:gridCol w="554941">
                  <a:extLst>
                    <a:ext uri="{9D8B030D-6E8A-4147-A177-3AD203B41FA5}">
                      <a16:colId xmlns:a16="http://schemas.microsoft.com/office/drawing/2014/main" val="2734595676"/>
                    </a:ext>
                  </a:extLst>
                </a:gridCol>
                <a:gridCol w="795220">
                  <a:extLst>
                    <a:ext uri="{9D8B030D-6E8A-4147-A177-3AD203B41FA5}">
                      <a16:colId xmlns:a16="http://schemas.microsoft.com/office/drawing/2014/main" val="4027117567"/>
                    </a:ext>
                  </a:extLst>
                </a:gridCol>
                <a:gridCol w="594635">
                  <a:extLst>
                    <a:ext uri="{9D8B030D-6E8A-4147-A177-3AD203B41FA5}">
                      <a16:colId xmlns:a16="http://schemas.microsoft.com/office/drawing/2014/main" val="671792471"/>
                    </a:ext>
                  </a:extLst>
                </a:gridCol>
                <a:gridCol w="795220">
                  <a:extLst>
                    <a:ext uri="{9D8B030D-6E8A-4147-A177-3AD203B41FA5}">
                      <a16:colId xmlns:a16="http://schemas.microsoft.com/office/drawing/2014/main" val="4015606536"/>
                    </a:ext>
                  </a:extLst>
                </a:gridCol>
                <a:gridCol w="472659">
                  <a:extLst>
                    <a:ext uri="{9D8B030D-6E8A-4147-A177-3AD203B41FA5}">
                      <a16:colId xmlns:a16="http://schemas.microsoft.com/office/drawing/2014/main" val="2205332133"/>
                    </a:ext>
                  </a:extLst>
                </a:gridCol>
              </a:tblGrid>
              <a:tr h="372508"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</a:rPr>
                        <a:t>MIP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 err="1">
                          <a:effectLst/>
                        </a:rPr>
                        <a:t>Lagrangian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</a:rPr>
                        <a:t>PELT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</a:rPr>
                        <a:t>BINSEG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</a:rPr>
                        <a:t>DYNP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267567620"/>
                  </a:ext>
                </a:extLst>
              </a:tr>
              <a:tr h="372508"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zlb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zub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t.zub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2273393"/>
                  </a:ext>
                </a:extLst>
              </a:tr>
              <a:tr h="3725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N1879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-2.07%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17.89%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2.80%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6.33%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93273552"/>
                  </a:ext>
                </a:extLst>
              </a:tr>
              <a:tr h="3725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N1881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1.48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-6.55%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1.49%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19.84%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effectLst/>
                        </a:rPr>
                        <a:t>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6.73%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7.43%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effectLst/>
                        </a:rPr>
                        <a:t>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030015881"/>
                  </a:ext>
                </a:extLst>
              </a:tr>
              <a:tr h="3725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N1882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2.56%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-3.13%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36.10%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38.40%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24.26%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93273939"/>
                  </a:ext>
                </a:extLst>
              </a:tr>
              <a:tr h="3725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N1883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-24.51%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1.54%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84.93%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89.84%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42.75%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233832686"/>
                  </a:ext>
                </a:extLst>
              </a:tr>
              <a:tr h="3725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N1884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31.42%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-41.57%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11.82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46.27%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44.99%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28.46%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349705200"/>
                  </a:ext>
                </a:extLst>
              </a:tr>
              <a:tr h="3725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N2830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20.05%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-1.65%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60.29%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87.55%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63.44%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effectLst/>
                        </a:rPr>
                        <a:t>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752447885"/>
                  </a:ext>
                </a:extLst>
              </a:tr>
              <a:tr h="3725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N2831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36.20%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-21.46%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29.47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112.33%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65.80%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122.90%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29355932"/>
                  </a:ext>
                </a:extLst>
              </a:tr>
              <a:tr h="3725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N2832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27.47%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0.00%</a:t>
                      </a:r>
                      <a:endParaRPr lang="en-US" sz="1600" b="1" i="1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89.42%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45.24%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57.79%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04295361"/>
                  </a:ext>
                </a:extLst>
              </a:tr>
              <a:tr h="3725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N2833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22.88%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-9.70%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49.37%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70.68%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75.08%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45060113"/>
                  </a:ext>
                </a:extLst>
              </a:tr>
              <a:tr h="3725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N2834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81.03%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-4.84%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16.86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194.79%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194.79%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113.19%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450787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BED57414-DCE3-B7CD-F277-9F9E22A8B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 M3, </a:t>
            </a:r>
            <a:r>
              <a:rPr lang="it-IT" dirty="0" err="1"/>
              <a:t>various</a:t>
            </a:r>
            <a:r>
              <a:rPr lang="it-IT" dirty="0"/>
              <a:t> domains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110F48-5265-81CD-B0C4-06282499E2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9B0136-409F-3EF1-E2CC-5ACB665EE4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180504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91D3D6A-ACAF-1EDF-A625-049013671B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9268040"/>
              </p:ext>
            </p:extLst>
          </p:nvPr>
        </p:nvGraphicFramePr>
        <p:xfrm>
          <a:off x="462455" y="1148210"/>
          <a:ext cx="8345214" cy="50739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86013">
                  <a:extLst>
                    <a:ext uri="{9D8B030D-6E8A-4147-A177-3AD203B41FA5}">
                      <a16:colId xmlns:a16="http://schemas.microsoft.com/office/drawing/2014/main" val="1695072606"/>
                    </a:ext>
                  </a:extLst>
                </a:gridCol>
                <a:gridCol w="719526">
                  <a:extLst>
                    <a:ext uri="{9D8B030D-6E8A-4147-A177-3AD203B41FA5}">
                      <a16:colId xmlns:a16="http://schemas.microsoft.com/office/drawing/2014/main" val="2215984915"/>
                    </a:ext>
                  </a:extLst>
                </a:gridCol>
                <a:gridCol w="462311">
                  <a:extLst>
                    <a:ext uri="{9D8B030D-6E8A-4147-A177-3AD203B41FA5}">
                      <a16:colId xmlns:a16="http://schemas.microsoft.com/office/drawing/2014/main" val="4033412864"/>
                    </a:ext>
                  </a:extLst>
                </a:gridCol>
                <a:gridCol w="804126">
                  <a:extLst>
                    <a:ext uri="{9D8B030D-6E8A-4147-A177-3AD203B41FA5}">
                      <a16:colId xmlns:a16="http://schemas.microsoft.com/office/drawing/2014/main" val="3100828834"/>
                    </a:ext>
                  </a:extLst>
                </a:gridCol>
                <a:gridCol w="734896">
                  <a:extLst>
                    <a:ext uri="{9D8B030D-6E8A-4147-A177-3AD203B41FA5}">
                      <a16:colId xmlns:a16="http://schemas.microsoft.com/office/drawing/2014/main" val="3696149253"/>
                    </a:ext>
                  </a:extLst>
                </a:gridCol>
                <a:gridCol w="502277">
                  <a:extLst>
                    <a:ext uri="{9D8B030D-6E8A-4147-A177-3AD203B41FA5}">
                      <a16:colId xmlns:a16="http://schemas.microsoft.com/office/drawing/2014/main" val="2811333886"/>
                    </a:ext>
                  </a:extLst>
                </a:gridCol>
                <a:gridCol w="965661">
                  <a:extLst>
                    <a:ext uri="{9D8B030D-6E8A-4147-A177-3AD203B41FA5}">
                      <a16:colId xmlns:a16="http://schemas.microsoft.com/office/drawing/2014/main" val="754503241"/>
                    </a:ext>
                  </a:extLst>
                </a:gridCol>
                <a:gridCol w="473315">
                  <a:extLst>
                    <a:ext uri="{9D8B030D-6E8A-4147-A177-3AD203B41FA5}">
                      <a16:colId xmlns:a16="http://schemas.microsoft.com/office/drawing/2014/main" val="2601628350"/>
                    </a:ext>
                  </a:extLst>
                </a:gridCol>
                <a:gridCol w="965661">
                  <a:extLst>
                    <a:ext uri="{9D8B030D-6E8A-4147-A177-3AD203B41FA5}">
                      <a16:colId xmlns:a16="http://schemas.microsoft.com/office/drawing/2014/main" val="2617084224"/>
                    </a:ext>
                  </a:extLst>
                </a:gridCol>
                <a:gridCol w="425539">
                  <a:extLst>
                    <a:ext uri="{9D8B030D-6E8A-4147-A177-3AD203B41FA5}">
                      <a16:colId xmlns:a16="http://schemas.microsoft.com/office/drawing/2014/main" val="3893054206"/>
                    </a:ext>
                  </a:extLst>
                </a:gridCol>
                <a:gridCol w="965661">
                  <a:extLst>
                    <a:ext uri="{9D8B030D-6E8A-4147-A177-3AD203B41FA5}">
                      <a16:colId xmlns:a16="http://schemas.microsoft.com/office/drawing/2014/main" val="2318535568"/>
                    </a:ext>
                  </a:extLst>
                </a:gridCol>
                <a:gridCol w="440228">
                  <a:extLst>
                    <a:ext uri="{9D8B030D-6E8A-4147-A177-3AD203B41FA5}">
                      <a16:colId xmlns:a16="http://schemas.microsoft.com/office/drawing/2014/main" val="542039812"/>
                    </a:ext>
                  </a:extLst>
                </a:gridCol>
              </a:tblGrid>
              <a:tr h="422826"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</a:rPr>
                        <a:t>MIP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 err="1">
                          <a:effectLst/>
                        </a:rPr>
                        <a:t>Lagrangian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</a:rPr>
                        <a:t>PELT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</a:rPr>
                        <a:t>BINSEG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</a:rPr>
                        <a:t>DYNP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94454689"/>
                  </a:ext>
                </a:extLst>
              </a:tr>
              <a:tr h="422826"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zlb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zub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t.zub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045051"/>
                  </a:ext>
                </a:extLst>
              </a:tr>
              <a:tr h="4228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Q2002 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6.78%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-1.88%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58.12%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41.62%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32.72%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35825357"/>
                  </a:ext>
                </a:extLst>
              </a:tr>
              <a:tr h="4228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Q5109 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26.69%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92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-72.90%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7.89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125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916.13%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861.14%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868.30%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83115292"/>
                  </a:ext>
                </a:extLst>
              </a:tr>
              <a:tr h="4228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Q8030 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-99.79%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23.45%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5559.62%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3797.48%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5126.12%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652837260"/>
                  </a:ext>
                </a:extLst>
              </a:tr>
              <a:tr h="4228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Q14640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0.00%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effectLst/>
                        </a:rPr>
                        <a:t>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29029914"/>
                  </a:ext>
                </a:extLst>
              </a:tr>
              <a:tr h="4228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Q15444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0.05%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-0.94%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9.69%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9.69%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11.96%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20661909"/>
                  </a:ext>
                </a:extLst>
              </a:tr>
              <a:tr h="4228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Q18148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0.00%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52.65%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27.41%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31.18%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796336304"/>
                  </a:ext>
                </a:extLst>
              </a:tr>
              <a:tr h="4228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Q18496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-0.02%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1.11%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26.76%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33.97%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18.13%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841614523"/>
                  </a:ext>
                </a:extLst>
              </a:tr>
              <a:tr h="4228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Q19604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4.68%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-99.02%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2.87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261.96%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73.64%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72.84%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72679638"/>
                  </a:ext>
                </a:extLst>
              </a:tr>
              <a:tr h="4228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Q19637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6.28%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-5.64%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212.55%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181.90%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173.02%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046208591"/>
                  </a:ext>
                </a:extLst>
              </a:tr>
              <a:tr h="4228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Q22221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76.41%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52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-7.76%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34.43%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44.66%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3.92%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5147314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F78D4C66-B74B-C33A-1313-B9483B532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 M4, </a:t>
            </a:r>
            <a:r>
              <a:rPr lang="it-IT" dirty="0" err="1"/>
              <a:t>various</a:t>
            </a:r>
            <a:r>
              <a:rPr lang="it-IT" dirty="0"/>
              <a:t> domains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4D2412-C2FF-0F80-D8B1-B2437516FA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B8ECAD-72A5-CC1F-2A01-28895E7185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00071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CF5F150E-4398-5083-5677-F137FA9416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7059121"/>
              </p:ext>
            </p:extLst>
          </p:nvPr>
        </p:nvGraphicFramePr>
        <p:xfrm>
          <a:off x="352753" y="1055385"/>
          <a:ext cx="8528487" cy="507214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52885">
                  <a:extLst>
                    <a:ext uri="{9D8B030D-6E8A-4147-A177-3AD203B41FA5}">
                      <a16:colId xmlns:a16="http://schemas.microsoft.com/office/drawing/2014/main" val="1494569161"/>
                    </a:ext>
                  </a:extLst>
                </a:gridCol>
                <a:gridCol w="882357">
                  <a:extLst>
                    <a:ext uri="{9D8B030D-6E8A-4147-A177-3AD203B41FA5}">
                      <a16:colId xmlns:a16="http://schemas.microsoft.com/office/drawing/2014/main" val="3889839439"/>
                    </a:ext>
                  </a:extLst>
                </a:gridCol>
                <a:gridCol w="479752">
                  <a:extLst>
                    <a:ext uri="{9D8B030D-6E8A-4147-A177-3AD203B41FA5}">
                      <a16:colId xmlns:a16="http://schemas.microsoft.com/office/drawing/2014/main" val="2027456172"/>
                    </a:ext>
                  </a:extLst>
                </a:gridCol>
                <a:gridCol w="834463">
                  <a:extLst>
                    <a:ext uri="{9D8B030D-6E8A-4147-A177-3AD203B41FA5}">
                      <a16:colId xmlns:a16="http://schemas.microsoft.com/office/drawing/2014/main" val="43818802"/>
                    </a:ext>
                  </a:extLst>
                </a:gridCol>
                <a:gridCol w="762623">
                  <a:extLst>
                    <a:ext uri="{9D8B030D-6E8A-4147-A177-3AD203B41FA5}">
                      <a16:colId xmlns:a16="http://schemas.microsoft.com/office/drawing/2014/main" val="3267137622"/>
                    </a:ext>
                  </a:extLst>
                </a:gridCol>
                <a:gridCol w="478807">
                  <a:extLst>
                    <a:ext uri="{9D8B030D-6E8A-4147-A177-3AD203B41FA5}">
                      <a16:colId xmlns:a16="http://schemas.microsoft.com/office/drawing/2014/main" val="3775276196"/>
                    </a:ext>
                  </a:extLst>
                </a:gridCol>
                <a:gridCol w="1002093">
                  <a:extLst>
                    <a:ext uri="{9D8B030D-6E8A-4147-A177-3AD203B41FA5}">
                      <a16:colId xmlns:a16="http://schemas.microsoft.com/office/drawing/2014/main" val="2862771990"/>
                    </a:ext>
                  </a:extLst>
                </a:gridCol>
                <a:gridCol w="479752">
                  <a:extLst>
                    <a:ext uri="{9D8B030D-6E8A-4147-A177-3AD203B41FA5}">
                      <a16:colId xmlns:a16="http://schemas.microsoft.com/office/drawing/2014/main" val="3889640754"/>
                    </a:ext>
                  </a:extLst>
                </a:gridCol>
                <a:gridCol w="1002093">
                  <a:extLst>
                    <a:ext uri="{9D8B030D-6E8A-4147-A177-3AD203B41FA5}">
                      <a16:colId xmlns:a16="http://schemas.microsoft.com/office/drawing/2014/main" val="3398521550"/>
                    </a:ext>
                  </a:extLst>
                </a:gridCol>
                <a:gridCol w="574730">
                  <a:extLst>
                    <a:ext uri="{9D8B030D-6E8A-4147-A177-3AD203B41FA5}">
                      <a16:colId xmlns:a16="http://schemas.microsoft.com/office/drawing/2014/main" val="3524660862"/>
                    </a:ext>
                  </a:extLst>
                </a:gridCol>
                <a:gridCol w="722096">
                  <a:extLst>
                    <a:ext uri="{9D8B030D-6E8A-4147-A177-3AD203B41FA5}">
                      <a16:colId xmlns:a16="http://schemas.microsoft.com/office/drawing/2014/main" val="1577310174"/>
                    </a:ext>
                  </a:extLst>
                </a:gridCol>
                <a:gridCol w="456836">
                  <a:extLst>
                    <a:ext uri="{9D8B030D-6E8A-4147-A177-3AD203B41FA5}">
                      <a16:colId xmlns:a16="http://schemas.microsoft.com/office/drawing/2014/main" val="3611849096"/>
                    </a:ext>
                  </a:extLst>
                </a:gridCol>
              </a:tblGrid>
              <a:tr h="338143"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</a:rPr>
                        <a:t>MIP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 err="1">
                          <a:effectLst/>
                        </a:rPr>
                        <a:t>Lagrangian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</a:rPr>
                        <a:t>PELT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</a:rPr>
                        <a:t>BINSEG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</a:rPr>
                        <a:t>DYNP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74256297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zlb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zub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t.zub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cost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tcpu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861207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ABBV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38.10%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0.00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%</a:t>
                      </a:r>
                      <a:endParaRPr lang="en-US" sz="1600" b="1" i="1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rgbClr val="C00000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%</a:t>
                      </a:r>
                      <a:endParaRPr lang="en-US" sz="1600" b="1" i="1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303.76%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428.81%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22.89%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560038556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BTCUSD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20.32%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-44.77%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3.53%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42.84%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8.07%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23234620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EURCHF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1.00%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-9.42%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0.03%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823.56%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823.56%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929155215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EURUSD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-6.82%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0.45%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428.05%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428.05%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21.07%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effectLst/>
                        </a:rPr>
                        <a:t>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86885494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EWG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13.16%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0.00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%</a:t>
                      </a:r>
                      <a:endParaRPr lang="en-US" sz="1600" b="1" i="1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rgbClr val="C00000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%</a:t>
                      </a:r>
                      <a:endParaRPr lang="en-US" sz="1600" b="1" i="1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1114.94%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1114.94%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7.58%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89324844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EWQ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-0.27%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1.47%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678.02%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678.02%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3.29%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893938706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EWZ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14.43%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-1.13%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3.44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336.95%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336.95%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21.71%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361182237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GBPUSD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0.00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%</a:t>
                      </a:r>
                      <a:endParaRPr lang="en-US" sz="1600" b="1" i="1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rgbClr val="C00000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%</a:t>
                      </a:r>
                      <a:endParaRPr lang="en-US" sz="1600" b="1" i="1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488.35%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488.35%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6.95%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136228642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PYPL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-2.33%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0.78%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235.19%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235.19%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40.25%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62938494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RBLX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8.71%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-11.77%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5.93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93.30%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211.80%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21.83%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22078187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ROST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7.12%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-3.76%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103.87%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319.71%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14.26%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903987783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SLV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107.86%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-6.81%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424.57%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424.57%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14.12%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83915681"/>
                  </a:ext>
                </a:extLst>
              </a:tr>
              <a:tr h="33814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USDJPY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26.61%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-10.13%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27.17%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469.71%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469.71%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u="sng" strike="noStrike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r>
                        <a:rPr lang="en-US" sz="1600" u="none" strike="noStrike" dirty="0">
                          <a:effectLst/>
                        </a:rPr>
                        <a:t>%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8849988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46B27316-33F0-BA2F-E736-3E38F206E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 err="1"/>
              <a:t>Results</a:t>
            </a:r>
            <a:r>
              <a:rPr lang="it-IT" dirty="0"/>
              <a:t> M6, </a:t>
            </a:r>
            <a:r>
              <a:rPr lang="it-IT" dirty="0" err="1"/>
              <a:t>financial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C3467A-4F03-C12E-408A-A38B515CA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DE7F49-7FC1-0254-13F1-763951E97E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027932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FDBDB36-1275-F2E9-08B3-F455FF7E46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8485" y="1112561"/>
            <a:ext cx="3835568" cy="3056698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E77AFAF-317E-1CED-DB49-D6E227498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IoT, environmental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D7A8E-E518-DA77-2589-71E791B727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D7BD37-4BF1-E9E9-149C-DD4868E829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B246D0-6E37-5D8B-D870-284C3513B2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983" y="3052625"/>
            <a:ext cx="4142908" cy="330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017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4360C52-1CF0-25C6-0658-5325BDE345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2003232"/>
            <a:ext cx="8547100" cy="352822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2D58F8A-9268-6259-78AC-F34D980FD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IoT, </a:t>
            </a:r>
            <a:r>
              <a:rPr lang="it-IT" dirty="0" err="1"/>
              <a:t>environmental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051C9-0192-B65B-617C-73E8348100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2124EA-B9D9-C153-DA2B-6FB0E5E1C6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172099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D46940F-C05A-E0CD-2E58-CAE5099DF5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7478" y="1288038"/>
            <a:ext cx="6729043" cy="5029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22A413F-B80D-3086-6990-5D5FE8FE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M6, bitcoin exchange rate vs USD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16D30-0ACA-53ED-5474-5B7ACEFA76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4863E-09D4-AA72-6471-7CFF16949C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743378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8572550-1A32-4ECF-80D0-A5F57FE46D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90429" y="1173163"/>
            <a:ext cx="7363142" cy="5259387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64EDD7C-BE80-460A-8EF8-1FB22928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AIC vs. QRMSE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830A19-86CB-4A16-B228-A79EB95B7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B9F60-2788-4DD1-8E2E-9DF135164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838136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728</TotalTime>
  <Words>1949</Words>
  <Application>Microsoft Office PowerPoint</Application>
  <PresentationFormat>On-screen Show (4:3)</PresentationFormat>
  <Paragraphs>722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40" baseType="lpstr">
      <vt:lpstr>AAchalk</vt:lpstr>
      <vt:lpstr>Aptos Narrow</vt:lpstr>
      <vt:lpstr>Arial</vt:lpstr>
      <vt:lpstr>Arial Rounded MT Bold</vt:lpstr>
      <vt:lpstr>Calibri Light</vt:lpstr>
      <vt:lpstr>Cambria</vt:lpstr>
      <vt:lpstr>Cambria Math</vt:lpstr>
      <vt:lpstr>CMBX9</vt:lpstr>
      <vt:lpstr>CMMI6</vt:lpstr>
      <vt:lpstr>CMMI9</vt:lpstr>
      <vt:lpstr>CMR6</vt:lpstr>
      <vt:lpstr>CMR9</vt:lpstr>
      <vt:lpstr>CMSY6</vt:lpstr>
      <vt:lpstr>CMSY9</vt:lpstr>
      <vt:lpstr>F41</vt:lpstr>
      <vt:lpstr>F61</vt:lpstr>
      <vt:lpstr>F62</vt:lpstr>
      <vt:lpstr>F63</vt:lpstr>
      <vt:lpstr>F64</vt:lpstr>
      <vt:lpstr>F69</vt:lpstr>
      <vt:lpstr>F88</vt:lpstr>
      <vt:lpstr>ManiezzoSlides</vt:lpstr>
      <vt:lpstr>Wingdings</vt:lpstr>
      <vt:lpstr>ThemeQuadretti</vt:lpstr>
      <vt:lpstr>Fore-and-Back for Changepoint Detection</vt:lpstr>
      <vt:lpstr>LION-1, Andalo, 2007 </vt:lpstr>
      <vt:lpstr>Time series segmentation</vt:lpstr>
      <vt:lpstr>Piecewise linear regression</vt:lpstr>
      <vt:lpstr>The SPP model</vt:lpstr>
      <vt:lpstr>Cost functions</vt:lpstr>
      <vt:lpstr>A real world application</vt:lpstr>
      <vt:lpstr>Testsets</vt:lpstr>
      <vt:lpstr>Results, IoT</vt:lpstr>
      <vt:lpstr>Results M3, various domains</vt:lpstr>
      <vt:lpstr>Results M4, various domains</vt:lpstr>
      <vt:lpstr>Results M6, financial</vt:lpstr>
      <vt:lpstr>IoT, environmental</vt:lpstr>
      <vt:lpstr>IoT, environmental</vt:lpstr>
      <vt:lpstr>M6, bitcoin exchange rate vs USD</vt:lpstr>
      <vt:lpstr>AIC vs. QRMSE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143</cp:revision>
  <dcterms:created xsi:type="dcterms:W3CDTF">2024-02-06T11:14:54Z</dcterms:created>
  <dcterms:modified xsi:type="dcterms:W3CDTF">2026-05-26T09:25:53Z</dcterms:modified>
</cp:coreProperties>
</file>