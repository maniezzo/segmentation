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78" r:id="rId3"/>
    <p:sldId id="280" r:id="rId4"/>
    <p:sldId id="281" r:id="rId5"/>
    <p:sldId id="282" r:id="rId6"/>
    <p:sldId id="283" r:id="rId7"/>
    <p:sldId id="265" r:id="rId8"/>
    <p:sldId id="292" r:id="rId9"/>
    <p:sldId id="286" r:id="rId10"/>
    <p:sldId id="279" r:id="rId11"/>
    <p:sldId id="270" r:id="rId12"/>
    <p:sldId id="284" r:id="rId13"/>
    <p:sldId id="287" r:id="rId14"/>
    <p:sldId id="288" r:id="rId15"/>
    <p:sldId id="285" r:id="rId16"/>
    <p:sldId id="289" r:id="rId17"/>
    <p:sldId id="291" r:id="rId18"/>
    <p:sldId id="290" r:id="rId19"/>
    <p:sldId id="262" r:id="rId20"/>
    <p:sldId id="259" r:id="rId21"/>
    <p:sldId id="261" r:id="rId22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60"/>
  </p:normalViewPr>
  <p:slideViewPr>
    <p:cSldViewPr snapToGrid="0">
      <p:cViewPr varScale="1">
        <p:scale>
          <a:sx n="94" d="100"/>
          <a:sy n="94" d="100"/>
        </p:scale>
        <p:origin x="768" y="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1365397"/>
            <a:ext cx="8014741" cy="264469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4400" dirty="0"/>
              <a:t>Fore-and-Back for Changepoint Detection</a:t>
            </a:r>
            <a:endParaRPr lang="it-IT" sz="44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5781039" y="5564083"/>
            <a:ext cx="3322029" cy="1202477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 Maniezzo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University of Bologna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vittorio.maniezzo@unibo.it</a:t>
            </a:r>
          </a:p>
        </p:txBody>
      </p:sp>
      <p:grpSp>
        <p:nvGrpSpPr>
          <p:cNvPr id="4" name="linea">
            <a:extLst>
              <a:ext uri="{FF2B5EF4-FFF2-40B4-BE49-F238E27FC236}">
                <a16:creationId xmlns:a16="http://schemas.microsoft.com/office/drawing/2014/main" id="{145D9C24-497C-441E-A3D3-331D06145CEE}"/>
              </a:ext>
            </a:extLst>
          </p:cNvPr>
          <p:cNvGrpSpPr/>
          <p:nvPr/>
        </p:nvGrpSpPr>
        <p:grpSpPr bwMode="invGray">
          <a:xfrm>
            <a:off x="396442" y="4010091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>
              <a:extLst>
                <a:ext uri="{FF2B5EF4-FFF2-40B4-BE49-F238E27FC236}">
                  <a16:creationId xmlns:a16="http://schemas.microsoft.com/office/drawing/2014/main" id="{D322C151-15B2-4E6A-8094-123F558A996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" name="Figura a mano libera 11">
              <a:extLst>
                <a:ext uri="{FF2B5EF4-FFF2-40B4-BE49-F238E27FC236}">
                  <a16:creationId xmlns:a16="http://schemas.microsoft.com/office/drawing/2014/main" id="{864BCB5A-138C-4EED-A084-89B52A615D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>
              <a:extLst>
                <a:ext uri="{FF2B5EF4-FFF2-40B4-BE49-F238E27FC236}">
                  <a16:creationId xmlns:a16="http://schemas.microsoft.com/office/drawing/2014/main" id="{FB2A8E7A-2A36-477F-9E96-ED0C634B29E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>
              <a:extLst>
                <a:ext uri="{FF2B5EF4-FFF2-40B4-BE49-F238E27FC236}">
                  <a16:creationId xmlns:a16="http://schemas.microsoft.com/office/drawing/2014/main" id="{C74CFF84-CFB4-41A8-8F02-59438256EAE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>
              <a:extLst>
                <a:ext uri="{FF2B5EF4-FFF2-40B4-BE49-F238E27FC236}">
                  <a16:creationId xmlns:a16="http://schemas.microsoft.com/office/drawing/2014/main" id="{A3152A92-80EA-4CDC-817E-50A54EFD3B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>
              <a:extLst>
                <a:ext uri="{FF2B5EF4-FFF2-40B4-BE49-F238E27FC236}">
                  <a16:creationId xmlns:a16="http://schemas.microsoft.com/office/drawing/2014/main" id="{88F34E46-1712-4E73-94E1-F182E06A68A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>
              <a:extLst>
                <a:ext uri="{FF2B5EF4-FFF2-40B4-BE49-F238E27FC236}">
                  <a16:creationId xmlns:a16="http://schemas.microsoft.com/office/drawing/2014/main" id="{F264C382-1F30-4D8E-91C6-1960D13A50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>
              <a:extLst>
                <a:ext uri="{FF2B5EF4-FFF2-40B4-BE49-F238E27FC236}">
                  <a16:creationId xmlns:a16="http://schemas.microsoft.com/office/drawing/2014/main" id="{25224C1B-2C6A-4F58-9835-5B6B0CD1CC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>
              <a:extLst>
                <a:ext uri="{FF2B5EF4-FFF2-40B4-BE49-F238E27FC236}">
                  <a16:creationId xmlns:a16="http://schemas.microsoft.com/office/drawing/2014/main" id="{99F95225-B0B8-4637-A794-8E8501A384B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>
              <a:extLst>
                <a:ext uri="{FF2B5EF4-FFF2-40B4-BE49-F238E27FC236}">
                  <a16:creationId xmlns:a16="http://schemas.microsoft.com/office/drawing/2014/main" id="{6A8B5657-BCD0-40CB-B9EA-EC999E03901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>
              <a:extLst>
                <a:ext uri="{FF2B5EF4-FFF2-40B4-BE49-F238E27FC236}">
                  <a16:creationId xmlns:a16="http://schemas.microsoft.com/office/drawing/2014/main" id="{545CA83B-7C9E-455F-95E4-35B7A056215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>
              <a:extLst>
                <a:ext uri="{FF2B5EF4-FFF2-40B4-BE49-F238E27FC236}">
                  <a16:creationId xmlns:a16="http://schemas.microsoft.com/office/drawing/2014/main" id="{86FD7A18-3334-4362-960C-2A6FC5F67E7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>
              <a:extLst>
                <a:ext uri="{FF2B5EF4-FFF2-40B4-BE49-F238E27FC236}">
                  <a16:creationId xmlns:a16="http://schemas.microsoft.com/office/drawing/2014/main" id="{86B8D299-9339-4702-A83B-038392EA13D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>
              <a:extLst>
                <a:ext uri="{FF2B5EF4-FFF2-40B4-BE49-F238E27FC236}">
                  <a16:creationId xmlns:a16="http://schemas.microsoft.com/office/drawing/2014/main" id="{C05CDB97-4132-4059-8025-49A497CA92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>
              <a:extLst>
                <a:ext uri="{FF2B5EF4-FFF2-40B4-BE49-F238E27FC236}">
                  <a16:creationId xmlns:a16="http://schemas.microsoft.com/office/drawing/2014/main" id="{1C100573-D882-4799-9BCF-5579DA8C826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>
              <a:extLst>
                <a:ext uri="{FF2B5EF4-FFF2-40B4-BE49-F238E27FC236}">
                  <a16:creationId xmlns:a16="http://schemas.microsoft.com/office/drawing/2014/main" id="{9F0FA0E2-2814-4DFA-B560-B92C2A0A467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>
              <a:extLst>
                <a:ext uri="{FF2B5EF4-FFF2-40B4-BE49-F238E27FC236}">
                  <a16:creationId xmlns:a16="http://schemas.microsoft.com/office/drawing/2014/main" id="{70B3B9A2-5543-4C1E-907D-7000782965D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>
              <a:extLst>
                <a:ext uri="{FF2B5EF4-FFF2-40B4-BE49-F238E27FC236}">
                  <a16:creationId xmlns:a16="http://schemas.microsoft.com/office/drawing/2014/main" id="{C795110E-FBDF-4C11-8FEC-7C8C79C3BE3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>
              <a:extLst>
                <a:ext uri="{FF2B5EF4-FFF2-40B4-BE49-F238E27FC236}">
                  <a16:creationId xmlns:a16="http://schemas.microsoft.com/office/drawing/2014/main" id="{C45300A0-C35F-4942-B14A-C4F8CE85F2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>
              <a:extLst>
                <a:ext uri="{FF2B5EF4-FFF2-40B4-BE49-F238E27FC236}">
                  <a16:creationId xmlns:a16="http://schemas.microsoft.com/office/drawing/2014/main" id="{427CC614-001E-4826-A460-64DB7D6A43A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>
              <a:extLst>
                <a:ext uri="{FF2B5EF4-FFF2-40B4-BE49-F238E27FC236}">
                  <a16:creationId xmlns:a16="http://schemas.microsoft.com/office/drawing/2014/main" id="{3CF50919-5802-4F73-A5FA-2F384C55EBF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>
              <a:extLst>
                <a:ext uri="{FF2B5EF4-FFF2-40B4-BE49-F238E27FC236}">
                  <a16:creationId xmlns:a16="http://schemas.microsoft.com/office/drawing/2014/main" id="{8881EC7A-6B0E-4240-B7DF-77E53A42028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>
              <a:extLst>
                <a:ext uri="{FF2B5EF4-FFF2-40B4-BE49-F238E27FC236}">
                  <a16:creationId xmlns:a16="http://schemas.microsoft.com/office/drawing/2014/main" id="{93ABCD5D-F355-4501-AED1-25C89C0E6F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>
              <a:extLst>
                <a:ext uri="{FF2B5EF4-FFF2-40B4-BE49-F238E27FC236}">
                  <a16:creationId xmlns:a16="http://schemas.microsoft.com/office/drawing/2014/main" id="{BBDCC998-4230-4F20-A2E5-37A005478F5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>
              <a:extLst>
                <a:ext uri="{FF2B5EF4-FFF2-40B4-BE49-F238E27FC236}">
                  <a16:creationId xmlns:a16="http://schemas.microsoft.com/office/drawing/2014/main" id="{92055003-E365-4C48-93BD-F68C52CA3F4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>
              <a:extLst>
                <a:ext uri="{FF2B5EF4-FFF2-40B4-BE49-F238E27FC236}">
                  <a16:creationId xmlns:a16="http://schemas.microsoft.com/office/drawing/2014/main" id="{864C159D-529A-4F18-A058-26F591C4E7C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>
              <a:extLst>
                <a:ext uri="{FF2B5EF4-FFF2-40B4-BE49-F238E27FC236}">
                  <a16:creationId xmlns:a16="http://schemas.microsoft.com/office/drawing/2014/main" id="{33D095F8-861D-466C-AE50-D8A2AAF2962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>
              <a:extLst>
                <a:ext uri="{FF2B5EF4-FFF2-40B4-BE49-F238E27FC236}">
                  <a16:creationId xmlns:a16="http://schemas.microsoft.com/office/drawing/2014/main" id="{1693B8CA-5F2C-4D68-B258-F2060C0AA67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>
              <a:extLst>
                <a:ext uri="{FF2B5EF4-FFF2-40B4-BE49-F238E27FC236}">
                  <a16:creationId xmlns:a16="http://schemas.microsoft.com/office/drawing/2014/main" id="{CF4CB899-72F1-471A-8827-C76CB3020AB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>
              <a:extLst>
                <a:ext uri="{FF2B5EF4-FFF2-40B4-BE49-F238E27FC236}">
                  <a16:creationId xmlns:a16="http://schemas.microsoft.com/office/drawing/2014/main" id="{ABB2800F-1B33-4062-A71E-4B610D8977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>
              <a:extLst>
                <a:ext uri="{FF2B5EF4-FFF2-40B4-BE49-F238E27FC236}">
                  <a16:creationId xmlns:a16="http://schemas.microsoft.com/office/drawing/2014/main" id="{6FFF9AA6-E7FC-4312-AD92-8C6E8AB5FAA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>
              <a:extLst>
                <a:ext uri="{FF2B5EF4-FFF2-40B4-BE49-F238E27FC236}">
                  <a16:creationId xmlns:a16="http://schemas.microsoft.com/office/drawing/2014/main" id="{7654282E-411D-47A4-BEDD-F1D36963D61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>
              <a:extLst>
                <a:ext uri="{FF2B5EF4-FFF2-40B4-BE49-F238E27FC236}">
                  <a16:creationId xmlns:a16="http://schemas.microsoft.com/office/drawing/2014/main" id="{BB64D69C-CAE2-4922-A4AF-662CF5AB17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>
              <a:extLst>
                <a:ext uri="{FF2B5EF4-FFF2-40B4-BE49-F238E27FC236}">
                  <a16:creationId xmlns:a16="http://schemas.microsoft.com/office/drawing/2014/main" id="{2ED80A6D-4378-441A-B270-796047A1C38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>
              <a:extLst>
                <a:ext uri="{FF2B5EF4-FFF2-40B4-BE49-F238E27FC236}">
                  <a16:creationId xmlns:a16="http://schemas.microsoft.com/office/drawing/2014/main" id="{0A86051E-8AAA-439F-B366-AEE843A3C1C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>
              <a:extLst>
                <a:ext uri="{FF2B5EF4-FFF2-40B4-BE49-F238E27FC236}">
                  <a16:creationId xmlns:a16="http://schemas.microsoft.com/office/drawing/2014/main" id="{6571B322-E3F3-42C3-AF20-854FF13493B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>
              <a:extLst>
                <a:ext uri="{FF2B5EF4-FFF2-40B4-BE49-F238E27FC236}">
                  <a16:creationId xmlns:a16="http://schemas.microsoft.com/office/drawing/2014/main" id="{C9C5DBCF-AD15-4C4B-8582-BCD483745B3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>
              <a:extLst>
                <a:ext uri="{FF2B5EF4-FFF2-40B4-BE49-F238E27FC236}">
                  <a16:creationId xmlns:a16="http://schemas.microsoft.com/office/drawing/2014/main" id="{B023E1B3-F129-43D8-8F04-43AFFDEC2A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>
              <a:extLst>
                <a:ext uri="{FF2B5EF4-FFF2-40B4-BE49-F238E27FC236}">
                  <a16:creationId xmlns:a16="http://schemas.microsoft.com/office/drawing/2014/main" id="{A44BE531-DC1E-4791-8B3F-FF2586CC777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>
              <a:extLst>
                <a:ext uri="{FF2B5EF4-FFF2-40B4-BE49-F238E27FC236}">
                  <a16:creationId xmlns:a16="http://schemas.microsoft.com/office/drawing/2014/main" id="{030105FD-9954-400B-90B6-3871CC4198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>
              <a:extLst>
                <a:ext uri="{FF2B5EF4-FFF2-40B4-BE49-F238E27FC236}">
                  <a16:creationId xmlns:a16="http://schemas.microsoft.com/office/drawing/2014/main" id="{7B8EB148-CE8F-4E9D-B4EC-7333FD9100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>
              <a:extLst>
                <a:ext uri="{FF2B5EF4-FFF2-40B4-BE49-F238E27FC236}">
                  <a16:creationId xmlns:a16="http://schemas.microsoft.com/office/drawing/2014/main" id="{AC05E91E-9EFF-47D7-A34E-F698DD9BCD1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>
              <a:extLst>
                <a:ext uri="{FF2B5EF4-FFF2-40B4-BE49-F238E27FC236}">
                  <a16:creationId xmlns:a16="http://schemas.microsoft.com/office/drawing/2014/main" id="{96F1C184-5F65-4577-B1DD-2B765CD6F1C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>
              <a:extLst>
                <a:ext uri="{FF2B5EF4-FFF2-40B4-BE49-F238E27FC236}">
                  <a16:creationId xmlns:a16="http://schemas.microsoft.com/office/drawing/2014/main" id="{4D5BFD5E-869B-4D2A-8398-725D90A2098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>
              <a:extLst>
                <a:ext uri="{FF2B5EF4-FFF2-40B4-BE49-F238E27FC236}">
                  <a16:creationId xmlns:a16="http://schemas.microsoft.com/office/drawing/2014/main" id="{AAD56FE7-6ADD-4C7B-BE6D-7A50412884C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>
              <a:extLst>
                <a:ext uri="{FF2B5EF4-FFF2-40B4-BE49-F238E27FC236}">
                  <a16:creationId xmlns:a16="http://schemas.microsoft.com/office/drawing/2014/main" id="{73FACDAE-D56F-4FE6-B31D-DC3A79D6D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>
              <a:extLst>
                <a:ext uri="{FF2B5EF4-FFF2-40B4-BE49-F238E27FC236}">
                  <a16:creationId xmlns:a16="http://schemas.microsoft.com/office/drawing/2014/main" id="{D94284AE-85BE-444E-B622-FF37C8A914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>
              <a:extLst>
                <a:ext uri="{FF2B5EF4-FFF2-40B4-BE49-F238E27FC236}">
                  <a16:creationId xmlns:a16="http://schemas.microsoft.com/office/drawing/2014/main" id="{98AAEA7A-F3F7-40C4-A2D6-4F82B7636AE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>
              <a:extLst>
                <a:ext uri="{FF2B5EF4-FFF2-40B4-BE49-F238E27FC236}">
                  <a16:creationId xmlns:a16="http://schemas.microsoft.com/office/drawing/2014/main" id="{AF51A35D-2FBA-4046-98B3-E208CF4C32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>
              <a:extLst>
                <a:ext uri="{FF2B5EF4-FFF2-40B4-BE49-F238E27FC236}">
                  <a16:creationId xmlns:a16="http://schemas.microsoft.com/office/drawing/2014/main" id="{FFBEF6AF-DFC2-43C9-9F26-2A510F6F2A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>
              <a:extLst>
                <a:ext uri="{FF2B5EF4-FFF2-40B4-BE49-F238E27FC236}">
                  <a16:creationId xmlns:a16="http://schemas.microsoft.com/office/drawing/2014/main" id="{8D649C56-0573-4634-AA61-E940650D8B99}"/>
                </a:ext>
              </a:extLst>
            </p:cNvPr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>
              <a:extLst>
                <a:ext uri="{FF2B5EF4-FFF2-40B4-BE49-F238E27FC236}">
                  <a16:creationId xmlns:a16="http://schemas.microsoft.com/office/drawing/2014/main" id="{6C083D07-F662-4B88-A7AD-D2A3001A7A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>
              <a:extLst>
                <a:ext uri="{FF2B5EF4-FFF2-40B4-BE49-F238E27FC236}">
                  <a16:creationId xmlns:a16="http://schemas.microsoft.com/office/drawing/2014/main" id="{52719EEC-4A5A-4B27-AF60-54D11F4CC9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>
              <a:extLst>
                <a:ext uri="{FF2B5EF4-FFF2-40B4-BE49-F238E27FC236}">
                  <a16:creationId xmlns:a16="http://schemas.microsoft.com/office/drawing/2014/main" id="{497702AA-B85C-43F5-8191-1EE8B9EB392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>
              <a:extLst>
                <a:ext uri="{FF2B5EF4-FFF2-40B4-BE49-F238E27FC236}">
                  <a16:creationId xmlns:a16="http://schemas.microsoft.com/office/drawing/2014/main" id="{DC6FAF18-E30C-4311-80B3-BA1CB010124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>
              <a:extLst>
                <a:ext uri="{FF2B5EF4-FFF2-40B4-BE49-F238E27FC236}">
                  <a16:creationId xmlns:a16="http://schemas.microsoft.com/office/drawing/2014/main" id="{9B06496D-42D9-4B23-AA94-0DF6F47EAB7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>
              <a:extLst>
                <a:ext uri="{FF2B5EF4-FFF2-40B4-BE49-F238E27FC236}">
                  <a16:creationId xmlns:a16="http://schemas.microsoft.com/office/drawing/2014/main" id="{4E23B2FC-7FDB-492C-97FE-8D6CC5FCD28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>
              <a:extLst>
                <a:ext uri="{FF2B5EF4-FFF2-40B4-BE49-F238E27FC236}">
                  <a16:creationId xmlns:a16="http://schemas.microsoft.com/office/drawing/2014/main" id="{9DEDC81D-E949-4266-9944-35BFA0DB695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>
              <a:extLst>
                <a:ext uri="{FF2B5EF4-FFF2-40B4-BE49-F238E27FC236}">
                  <a16:creationId xmlns:a16="http://schemas.microsoft.com/office/drawing/2014/main" id="{0FE9C02B-9BE5-4C0A-AB91-626F2E7C37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>
              <a:extLst>
                <a:ext uri="{FF2B5EF4-FFF2-40B4-BE49-F238E27FC236}">
                  <a16:creationId xmlns:a16="http://schemas.microsoft.com/office/drawing/2014/main" id="{106CEB60-669D-4F08-B9A7-2E4D35D8EAF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>
              <a:extLst>
                <a:ext uri="{FF2B5EF4-FFF2-40B4-BE49-F238E27FC236}">
                  <a16:creationId xmlns:a16="http://schemas.microsoft.com/office/drawing/2014/main" id="{B8238780-CAD2-4991-B1A3-F3AF2ECA47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>
              <a:extLst>
                <a:ext uri="{FF2B5EF4-FFF2-40B4-BE49-F238E27FC236}">
                  <a16:creationId xmlns:a16="http://schemas.microsoft.com/office/drawing/2014/main" id="{DF31B18A-1226-49FC-B8F3-A71F6F7B5D2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>
              <a:extLst>
                <a:ext uri="{FF2B5EF4-FFF2-40B4-BE49-F238E27FC236}">
                  <a16:creationId xmlns:a16="http://schemas.microsoft.com/office/drawing/2014/main" id="{FDF82FA3-3896-4FCB-981C-E596BA9FE1F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>
              <a:extLst>
                <a:ext uri="{FF2B5EF4-FFF2-40B4-BE49-F238E27FC236}">
                  <a16:creationId xmlns:a16="http://schemas.microsoft.com/office/drawing/2014/main" id="{97343E89-E6C3-4C21-BBA6-3CE199E953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>
              <a:extLst>
                <a:ext uri="{FF2B5EF4-FFF2-40B4-BE49-F238E27FC236}">
                  <a16:creationId xmlns:a16="http://schemas.microsoft.com/office/drawing/2014/main" id="{5E10BDFB-3013-4973-BB77-F7EB4C9D81E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>
              <a:extLst>
                <a:ext uri="{FF2B5EF4-FFF2-40B4-BE49-F238E27FC236}">
                  <a16:creationId xmlns:a16="http://schemas.microsoft.com/office/drawing/2014/main" id="{654753FC-11FF-4DFC-8341-C03E5B7D08C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>
              <a:extLst>
                <a:ext uri="{FF2B5EF4-FFF2-40B4-BE49-F238E27FC236}">
                  <a16:creationId xmlns:a16="http://schemas.microsoft.com/office/drawing/2014/main" id="{5B3789F8-AD2E-4DB4-A477-90E2D90CB7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>
              <a:extLst>
                <a:ext uri="{FF2B5EF4-FFF2-40B4-BE49-F238E27FC236}">
                  <a16:creationId xmlns:a16="http://schemas.microsoft.com/office/drawing/2014/main" id="{D9D37BE8-9EA6-41C6-BABD-6A1865E68E8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>
              <a:extLst>
                <a:ext uri="{FF2B5EF4-FFF2-40B4-BE49-F238E27FC236}">
                  <a16:creationId xmlns:a16="http://schemas.microsoft.com/office/drawing/2014/main" id="{97368B78-3BC7-4D1C-8BE1-803E4A1D632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>
              <a:extLst>
                <a:ext uri="{FF2B5EF4-FFF2-40B4-BE49-F238E27FC236}">
                  <a16:creationId xmlns:a16="http://schemas.microsoft.com/office/drawing/2014/main" id="{CD5DEB82-90EE-4B03-9557-B57E844C1C8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>
              <a:extLst>
                <a:ext uri="{FF2B5EF4-FFF2-40B4-BE49-F238E27FC236}">
                  <a16:creationId xmlns:a16="http://schemas.microsoft.com/office/drawing/2014/main" id="{9CAA0EB0-2610-4A85-ABBA-BA80571DF29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>
              <a:extLst>
                <a:ext uri="{FF2B5EF4-FFF2-40B4-BE49-F238E27FC236}">
                  <a16:creationId xmlns:a16="http://schemas.microsoft.com/office/drawing/2014/main" id="{955C439C-F3A0-4AF9-BD5D-73ABEB989A0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>
              <a:extLst>
                <a:ext uri="{FF2B5EF4-FFF2-40B4-BE49-F238E27FC236}">
                  <a16:creationId xmlns:a16="http://schemas.microsoft.com/office/drawing/2014/main" id="{E7DDF141-6537-4E0D-BF78-43F8680569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>
              <a:extLst>
                <a:ext uri="{FF2B5EF4-FFF2-40B4-BE49-F238E27FC236}">
                  <a16:creationId xmlns:a16="http://schemas.microsoft.com/office/drawing/2014/main" id="{789A3C03-E670-4FC6-AC2C-871A522A852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9D94A-411D-49D2-93C8-DE6206F8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CBA538B-C756-4EC0-87B0-9AFA748B6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LION-1, </a:t>
            </a:r>
            <a:r>
              <a:rPr lang="en-US" dirty="0" err="1"/>
              <a:t>Andalo</a:t>
            </a:r>
            <a:r>
              <a:rPr lang="en-US" dirty="0"/>
              <a:t>, 2007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C2DD2E-5050-4900-AD8A-9C6A3FB84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29C4B8-72AD-4EDD-B2C5-00E8B3B1E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480" y="1015365"/>
            <a:ext cx="7061200" cy="551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816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9C0EB8-C386-D1C7-1D4C-FA04D4663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8C4D4D-77B9-328C-739B-8748FC666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intuition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86DD5D-54EE-282D-56F2-466927E6E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5CDE3B9-C618-DE42-31B9-38BD02419823}"/>
              </a:ext>
            </a:extLst>
          </p:cNvPr>
          <p:cNvCxnSpPr/>
          <p:nvPr/>
        </p:nvCxnSpPr>
        <p:spPr>
          <a:xfrm flipV="1">
            <a:off x="1406766" y="1274881"/>
            <a:ext cx="0" cy="4572000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54DD902-9380-E0C6-39A7-6C480157E9E7}"/>
              </a:ext>
            </a:extLst>
          </p:cNvPr>
          <p:cNvCxnSpPr>
            <a:cxnSpLocks/>
          </p:cNvCxnSpPr>
          <p:nvPr/>
        </p:nvCxnSpPr>
        <p:spPr>
          <a:xfrm flipV="1">
            <a:off x="1406766" y="5776543"/>
            <a:ext cx="6433039" cy="73269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Free-form: Shape 8">
            <a:extLst>
              <a:ext uri="{FF2B5EF4-FFF2-40B4-BE49-F238E27FC236}">
                <a16:creationId xmlns:a16="http://schemas.microsoft.com/office/drawing/2014/main" id="{2C96862C-1702-9C6C-53C2-F6CC900E94E2}"/>
              </a:ext>
            </a:extLst>
          </p:cNvPr>
          <p:cNvSpPr/>
          <p:nvPr/>
        </p:nvSpPr>
        <p:spPr>
          <a:xfrm>
            <a:off x="1389182" y="1644158"/>
            <a:ext cx="5785338" cy="4193931"/>
          </a:xfrm>
          <a:custGeom>
            <a:avLst/>
            <a:gdLst>
              <a:gd name="connsiteX0" fmla="*/ 0 w 5785338"/>
              <a:gd name="connsiteY0" fmla="*/ 4193931 h 4193931"/>
              <a:gd name="connsiteX1" fmla="*/ 1890346 w 5785338"/>
              <a:gd name="connsiteY1" fmla="*/ 4018085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4013"/>
              <a:gd name="connsiteX1" fmla="*/ 1943100 w 5785338"/>
              <a:gd name="connsiteY1" fmla="*/ 4044462 h 4194013"/>
              <a:gd name="connsiteX2" fmla="*/ 4106007 w 5785338"/>
              <a:gd name="connsiteY2" fmla="*/ 3165231 h 4194013"/>
              <a:gd name="connsiteX3" fmla="*/ 5785338 w 5785338"/>
              <a:gd name="connsiteY3" fmla="*/ 0 h 4194013"/>
              <a:gd name="connsiteX4" fmla="*/ 5785338 w 5785338"/>
              <a:gd name="connsiteY4" fmla="*/ 0 h 4194013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5896"/>
              <a:gd name="connsiteX1" fmla="*/ 1943100 w 5785338"/>
              <a:gd name="connsiteY1" fmla="*/ 4044462 h 4195896"/>
              <a:gd name="connsiteX2" fmla="*/ 4088423 w 5785338"/>
              <a:gd name="connsiteY2" fmla="*/ 3077308 h 4195896"/>
              <a:gd name="connsiteX3" fmla="*/ 5785338 w 5785338"/>
              <a:gd name="connsiteY3" fmla="*/ 0 h 4195896"/>
              <a:gd name="connsiteX4" fmla="*/ 5785338 w 5785338"/>
              <a:gd name="connsiteY4" fmla="*/ 0 h 4195896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088423 w 5785338"/>
              <a:gd name="connsiteY2" fmla="*/ 3077308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85338" h="4193931">
                <a:moveTo>
                  <a:pt x="0" y="4193931"/>
                </a:moveTo>
                <a:cubicBezTo>
                  <a:pt x="603006" y="4191733"/>
                  <a:pt x="1288073" y="4195397"/>
                  <a:pt x="1943100" y="4044462"/>
                </a:cubicBezTo>
                <a:cubicBezTo>
                  <a:pt x="2598127" y="3893527"/>
                  <a:pt x="3448050" y="3751385"/>
                  <a:pt x="4088423" y="3077308"/>
                </a:cubicBezTo>
                <a:cubicBezTo>
                  <a:pt x="4728796" y="2403231"/>
                  <a:pt x="5785338" y="0"/>
                  <a:pt x="5785338" y="0"/>
                </a:cubicBezTo>
                <a:lnTo>
                  <a:pt x="5785338" y="0"/>
                </a:ln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-form: Shape 9">
            <a:extLst>
              <a:ext uri="{FF2B5EF4-FFF2-40B4-BE49-F238E27FC236}">
                <a16:creationId xmlns:a16="http://schemas.microsoft.com/office/drawing/2014/main" id="{CFDF18E2-B28D-5F36-E1F4-FFC497EE74E9}"/>
              </a:ext>
            </a:extLst>
          </p:cNvPr>
          <p:cNvSpPr/>
          <p:nvPr/>
        </p:nvSpPr>
        <p:spPr>
          <a:xfrm flipH="1">
            <a:off x="1418490" y="1603129"/>
            <a:ext cx="5785338" cy="4193931"/>
          </a:xfrm>
          <a:custGeom>
            <a:avLst/>
            <a:gdLst>
              <a:gd name="connsiteX0" fmla="*/ 0 w 5785338"/>
              <a:gd name="connsiteY0" fmla="*/ 4193931 h 4193931"/>
              <a:gd name="connsiteX1" fmla="*/ 1890346 w 5785338"/>
              <a:gd name="connsiteY1" fmla="*/ 4018085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4013"/>
              <a:gd name="connsiteX1" fmla="*/ 1943100 w 5785338"/>
              <a:gd name="connsiteY1" fmla="*/ 4044462 h 4194013"/>
              <a:gd name="connsiteX2" fmla="*/ 4106007 w 5785338"/>
              <a:gd name="connsiteY2" fmla="*/ 3165231 h 4194013"/>
              <a:gd name="connsiteX3" fmla="*/ 5785338 w 5785338"/>
              <a:gd name="connsiteY3" fmla="*/ 0 h 4194013"/>
              <a:gd name="connsiteX4" fmla="*/ 5785338 w 5785338"/>
              <a:gd name="connsiteY4" fmla="*/ 0 h 4194013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5896"/>
              <a:gd name="connsiteX1" fmla="*/ 1943100 w 5785338"/>
              <a:gd name="connsiteY1" fmla="*/ 4044462 h 4195896"/>
              <a:gd name="connsiteX2" fmla="*/ 4088423 w 5785338"/>
              <a:gd name="connsiteY2" fmla="*/ 3077308 h 4195896"/>
              <a:gd name="connsiteX3" fmla="*/ 5785338 w 5785338"/>
              <a:gd name="connsiteY3" fmla="*/ 0 h 4195896"/>
              <a:gd name="connsiteX4" fmla="*/ 5785338 w 5785338"/>
              <a:gd name="connsiteY4" fmla="*/ 0 h 4195896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088423 w 5785338"/>
              <a:gd name="connsiteY2" fmla="*/ 3077308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85338" h="4193931">
                <a:moveTo>
                  <a:pt x="0" y="4193931"/>
                </a:moveTo>
                <a:cubicBezTo>
                  <a:pt x="603006" y="4191733"/>
                  <a:pt x="1288073" y="4195397"/>
                  <a:pt x="1943100" y="4044462"/>
                </a:cubicBezTo>
                <a:cubicBezTo>
                  <a:pt x="2598127" y="3893527"/>
                  <a:pt x="3448050" y="3751385"/>
                  <a:pt x="4088423" y="3077308"/>
                </a:cubicBezTo>
                <a:cubicBezTo>
                  <a:pt x="4728796" y="2403231"/>
                  <a:pt x="5785338" y="0"/>
                  <a:pt x="5785338" y="0"/>
                </a:cubicBezTo>
                <a:lnTo>
                  <a:pt x="5785338" y="0"/>
                </a:ln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6533B69-3A2A-040F-E242-90B5462E0E23}"/>
              </a:ext>
            </a:extLst>
          </p:cNvPr>
          <p:cNvCxnSpPr>
            <a:cxnSpLocks/>
          </p:cNvCxnSpPr>
          <p:nvPr/>
        </p:nvCxnSpPr>
        <p:spPr>
          <a:xfrm>
            <a:off x="4363911" y="5398474"/>
            <a:ext cx="0" cy="439615"/>
          </a:xfrm>
          <a:prstGeom prst="line">
            <a:avLst/>
          </a:prstGeom>
          <a:ln w="762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45B568A-1936-F0A5-9566-02900FDC49F2}"/>
              </a:ext>
            </a:extLst>
          </p:cNvPr>
          <p:cNvSpPr txBox="1"/>
          <p:nvPr/>
        </p:nvSpPr>
        <p:spPr>
          <a:xfrm>
            <a:off x="1012600" y="1274881"/>
            <a:ext cx="316514" cy="422031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i="1" dirty="0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endParaRPr lang="en-US" sz="2400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F46041-57C9-0F87-A154-1894E5DEB478}"/>
              </a:ext>
            </a:extLst>
          </p:cNvPr>
          <p:cNvSpPr txBox="1"/>
          <p:nvPr/>
        </p:nvSpPr>
        <p:spPr>
          <a:xfrm>
            <a:off x="7452958" y="5762410"/>
            <a:ext cx="316514" cy="422031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i="1" dirty="0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endParaRPr lang="en-US" sz="2400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9789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4088A1-2479-CD03-6F92-E03230BF7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it-IT" sz="2400" dirty="0" err="1"/>
              <a:t>Basically</a:t>
            </a:r>
            <a:r>
              <a:rPr lang="it-IT" sz="2400" dirty="0"/>
              <a:t>, </a:t>
            </a:r>
            <a:r>
              <a:rPr lang="it-IT" sz="2400" dirty="0">
                <a:solidFill>
                  <a:schemeClr val="accent2"/>
                </a:solidFill>
              </a:rPr>
              <a:t>an extension of </a:t>
            </a:r>
            <a:r>
              <a:rPr lang="it-IT" sz="2400" dirty="0" err="1">
                <a:solidFill>
                  <a:schemeClr val="accent2"/>
                </a:solidFill>
              </a:rPr>
              <a:t>Beam</a:t>
            </a:r>
            <a:r>
              <a:rPr lang="it-IT" sz="2400" dirty="0">
                <a:solidFill>
                  <a:schemeClr val="accent2"/>
                </a:solidFill>
              </a:rPr>
              <a:t> </a:t>
            </a:r>
            <a:r>
              <a:rPr lang="it-IT" sz="2400" dirty="0" err="1">
                <a:solidFill>
                  <a:schemeClr val="accent2"/>
                </a:solidFill>
              </a:rPr>
              <a:t>Search</a:t>
            </a:r>
            <a:r>
              <a:rPr lang="it-IT" sz="2400" dirty="0">
                <a:solidFill>
                  <a:schemeClr val="accent2"/>
                </a:solidFill>
              </a:rPr>
              <a:t> </a:t>
            </a:r>
            <a:r>
              <a:rPr lang="it-IT" sz="2400" dirty="0"/>
              <a:t>(BS).</a:t>
            </a:r>
          </a:p>
          <a:p>
            <a:r>
              <a:rPr lang="en-US" sz="2400" b="1" dirty="0">
                <a:solidFill>
                  <a:schemeClr val="accent2"/>
                </a:solidFill>
              </a:rPr>
              <a:t>BS</a:t>
            </a:r>
            <a:r>
              <a:rPr lang="en-US" sz="2400" dirty="0"/>
              <a:t>: At each level of the search tree, generates all successors of the current states, but expands only the δ best (δ is the </a:t>
            </a:r>
            <a:r>
              <a:rPr lang="en-US" sz="2400" i="1" dirty="0"/>
              <a:t>beam width</a:t>
            </a:r>
            <a:r>
              <a:rPr lang="en-US" sz="2400" dirty="0"/>
              <a:t>).</a:t>
            </a:r>
          </a:p>
          <a:p>
            <a:r>
              <a:rPr lang="en-US" sz="2400" b="1" dirty="0">
                <a:solidFill>
                  <a:schemeClr val="accent2"/>
                </a:solidFill>
              </a:rPr>
              <a:t>F&amp;B</a:t>
            </a:r>
            <a:r>
              <a:rPr lang="en-US" sz="2400" dirty="0"/>
              <a:t> extends BS by </a:t>
            </a:r>
            <a:r>
              <a:rPr lang="en-US" sz="2400" dirty="0">
                <a:solidFill>
                  <a:schemeClr val="accent2"/>
                </a:solidFill>
              </a:rPr>
              <a:t>alternating expansions in opposite search directions </a:t>
            </a:r>
            <a:r>
              <a:rPr lang="en-US" sz="2400" dirty="0"/>
              <a:t>and by </a:t>
            </a:r>
            <a:r>
              <a:rPr lang="en-US" sz="2400" dirty="0">
                <a:solidFill>
                  <a:schemeClr val="accent2"/>
                </a:solidFill>
              </a:rPr>
              <a:t>learning from partial solutions generated in previous iterations</a:t>
            </a:r>
            <a:r>
              <a:rPr lang="en-US" sz="2400" dirty="0"/>
              <a:t>. </a:t>
            </a:r>
          </a:p>
          <a:p>
            <a:pPr>
              <a:spcBef>
                <a:spcPts val="0"/>
              </a:spcBef>
            </a:pPr>
            <a:r>
              <a:rPr lang="en-US" sz="2400" dirty="0"/>
              <a:t>These learned partial results are then used as a </a:t>
            </a:r>
            <a:r>
              <a:rPr lang="en-US" sz="2400" dirty="0">
                <a:solidFill>
                  <a:schemeClr val="accent2"/>
                </a:solidFill>
              </a:rPr>
              <a:t>look-ahead mechanism</a:t>
            </a:r>
            <a:r>
              <a:rPr lang="en-US" sz="2400" dirty="0"/>
              <a:t> to complete partial solutions when the search proceeds in the opposite direction.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It becomes an </a:t>
            </a:r>
            <a:r>
              <a:rPr lang="en-US" sz="2400" dirty="0">
                <a:solidFill>
                  <a:schemeClr val="accent2"/>
                </a:solidFill>
              </a:rPr>
              <a:t>exact approach </a:t>
            </a:r>
            <a:r>
              <a:rPr lang="en-US" sz="2400" dirty="0"/>
              <a:t>when unlimited computational power is allowed,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it generates </a:t>
            </a:r>
            <a:r>
              <a:rPr lang="en-US" sz="2400" dirty="0">
                <a:solidFill>
                  <a:schemeClr val="accent2"/>
                </a:solidFill>
              </a:rPr>
              <a:t>bounds on the cost </a:t>
            </a:r>
            <a:r>
              <a:rPr lang="en-US" sz="2400" dirty="0"/>
              <a:t>required to complete partial solutions, even though it operates as a primal-only method.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BA8AA0-8EBD-2DC2-B935-96AA49CCA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Fore-and-Back </a:t>
            </a:r>
            <a:r>
              <a:rPr lang="it-IT" dirty="0" err="1"/>
              <a:t>matheuristic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710B67-B75C-38CD-50C6-C5F2A591E0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D49220-1FD1-0086-0CF5-582E5DEE25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53356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3593B87-B564-266C-01C5-EA5BB66F76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8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Arial" panose="020B0604020202020204" pitchFamily="34" charset="0"/>
                  </a:rPr>
                  <a:t>Pseudocode (sketch)</a:t>
                </a:r>
              </a:p>
              <a:p>
                <a:pPr>
                  <a:lnSpc>
                    <a:spcPct val="107000"/>
                  </a:lnSpc>
                  <a:spcBef>
                    <a:spcPts val="600"/>
                  </a:spcBef>
                  <a:spcAft>
                    <a:spcPts val="800"/>
                  </a:spcAft>
                </a:pPr>
                <a:r>
                  <a:rPr lang="en-US" sz="1800" b="1" dirty="0">
                    <a:solidFill>
                      <a:srgbClr val="00B0F0"/>
                    </a:solidFill>
                    <a:latin typeface="Lekton" panose="02000000000000000000" pitchFamily="2" charset="0"/>
                    <a:cs typeface="Arial" panose="020B0604020202020204" pitchFamily="34" charset="0"/>
                  </a:rPr>
                  <a:t>Foreach</a:t>
                </a:r>
                <a:r>
                  <a:rPr lang="en-US" sz="1800" b="1" dirty="0">
                    <a:latin typeface="Lekton" panose="02000000000000000000" pitchFamily="2" charset="0"/>
                    <a:cs typeface="Arial" panose="020B0604020202020204" pitchFamily="34" charset="0"/>
                  </a:rPr>
                  <a:t> iteration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t</a:t>
                </a:r>
              </a:p>
              <a:p>
                <a:pPr marL="342900" indent="-342900">
                  <a:lnSpc>
                    <a:spcPct val="107000"/>
                  </a:lnSpc>
                  <a:spcBef>
                    <a:spcPts val="600"/>
                  </a:spcBef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en-US" sz="1800" b="1" dirty="0">
                    <a:solidFill>
                      <a:srgbClr val="00B0F0"/>
                    </a:solidFill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construct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en-US" sz="1800" b="1" dirty="0">
                    <a:solidFill>
                      <a:schemeClr val="accent2"/>
                    </a:solidFill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forward tree </a:t>
                </a:r>
                <a:r>
                  <a:rPr lang="en-US" sz="18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F</a:t>
                </a:r>
                <a:r>
                  <a:rPr lang="en-US" sz="1800" b="1" dirty="0">
                    <a:solidFill>
                      <a:schemeClr val="accent2"/>
                    </a:solidFill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if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t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is odd, a </a:t>
                </a:r>
                <a:r>
                  <a:rPr lang="en-US" sz="1800" b="1" dirty="0">
                    <a:solidFill>
                      <a:schemeClr val="accent2"/>
                    </a:solidFill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backward tree </a:t>
                </a:r>
                <a:r>
                  <a:rPr lang="en-US" sz="18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B</a:t>
                </a:r>
                <a:r>
                  <a:rPr lang="en-US" sz="1800" b="1" dirty="0">
                    <a:solidFill>
                      <a:schemeClr val="accent2"/>
                    </a:solidFill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if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t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is even</a:t>
                </a: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(e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ach node at level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h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corresponds to a partial solution setting the first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h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decision variables).</a:t>
                </a:r>
              </a:p>
              <a:p>
                <a:pPr marL="342900" indent="-342900">
                  <a:lnSpc>
                    <a:spcPct val="107000"/>
                  </a:lnSpc>
                  <a:spcBef>
                    <a:spcPts val="600"/>
                  </a:spcBef>
                  <a:buFont typeface="+mj-lt"/>
                  <a:buAutoNum type="arabicPeriod"/>
                </a:pPr>
                <a:r>
                  <a:rPr lang="en-US" sz="1800" b="1" dirty="0">
                    <a:solidFill>
                      <a:srgbClr val="00B0F0"/>
                    </a:solidFill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associate</a:t>
                </a: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en-US" sz="1800" b="1" dirty="0">
                    <a:solidFill>
                      <a:schemeClr val="accent2"/>
                    </a:solidFill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list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𝑳</m:t>
                        </m:r>
                      </m:e>
                      <m:sub>
                        <m:r>
                          <a:rPr lang="it-IT" sz="1800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𝒕</m:t>
                        </m:r>
                      </m:sup>
                    </m:sSubSup>
                    <m:r>
                      <a:rPr lang="it-IT" sz="1800" b="1" i="1">
                        <a:latin typeface="Cambria Math" panose="02040503050406030204" pitchFamily="18" charset="0"/>
                        <a:ea typeface="Aptos" panose="020B00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⊑</m:t>
                    </m:r>
                    <m:sSubSup>
                      <m:sSubSupPr>
                        <m:ctrlPr>
                          <a:rPr lang="it-IT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𝑭</m:t>
                        </m:r>
                      </m:e>
                      <m:sub>
                        <m:r>
                          <a:rPr lang="it-IT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𝒕</m:t>
                        </m:r>
                      </m:sup>
                    </m:sSubSup>
                  </m:oMath>
                </a14:m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𝑳</m:t>
                        </m:r>
                      </m:e>
                      <m:sub>
                        <m:r>
                          <a:rPr lang="it-IT" sz="1800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𝒏</m:t>
                        </m:r>
                        <m:r>
                          <a:rPr lang="it-IT" sz="1800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1800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𝒕</m:t>
                        </m:r>
                      </m:sup>
                    </m:sSubSup>
                    <m:r>
                      <a:rPr lang="it-IT" sz="1800" b="1" i="1">
                        <a:latin typeface="Cambria Math" panose="02040503050406030204" pitchFamily="18" charset="0"/>
                        <a:ea typeface="Aptos" panose="020B00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⊑</m:t>
                    </m:r>
                    <m:sSubSup>
                      <m:sSubSupPr>
                        <m:ctrlPr>
                          <a:rPr lang="it-IT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𝑩</m:t>
                        </m:r>
                      </m:e>
                      <m:sub>
                        <m:r>
                          <a:rPr lang="it-IT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𝒕</m:t>
                        </m:r>
                      </m:sup>
                    </m:sSubSup>
                  </m:oMath>
                </a14:m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) with each level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h</a:t>
                </a: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of each tree, sorting by increasing cost values the nodes generated but not yet expanded at level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h</a:t>
                </a: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marL="346075">
                  <a:lnSpc>
                    <a:spcPct val="107000"/>
                  </a:lnSpc>
                  <a:spcBef>
                    <a:spcPts val="0"/>
                  </a:spcBef>
                  <a:spcAft>
                    <a:spcPts val="800"/>
                  </a:spcAft>
                </a:pP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Only the </a:t>
                </a:r>
                <a:r>
                  <a:rPr lang="en-US" sz="1800" b="1" dirty="0">
                    <a:solidFill>
                      <a:schemeClr val="accent2"/>
                    </a:solidFill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δ nodes</a:t>
                </a: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having the smallest cost will be further expanded (and removed from the lists).</a:t>
                </a:r>
              </a:p>
              <a:p>
                <a:pPr marL="342900" indent="-342900">
                  <a:lnSpc>
                    <a:spcPct val="107000"/>
                  </a:lnSpc>
                  <a:spcBef>
                    <a:spcPts val="600"/>
                  </a:spcBef>
                  <a:spcAft>
                    <a:spcPts val="800"/>
                  </a:spcAft>
                  <a:buFont typeface="+mj-lt"/>
                  <a:buAutoNum type="arabicPeriod" startAt="3"/>
                </a:pPr>
                <a:r>
                  <a:rPr lang="en-US" sz="1800" b="1" dirty="0">
                    <a:solidFill>
                      <a:srgbClr val="00B0F0"/>
                    </a:solidFill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evaluate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the </a:t>
                </a:r>
                <a:r>
                  <a:rPr lang="en-US" sz="1800" b="1" dirty="0">
                    <a:solidFill>
                      <a:schemeClr val="accent2"/>
                    </a:solidFill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completion cost 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of partial solutions stored at level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h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F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tree by means of the learned partial solutions stored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𝑳</m:t>
                        </m:r>
                      </m:e>
                      <m:sub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𝒏</m:t>
                        </m:r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𝒕</m:t>
                        </m:r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𝟏</m:t>
                        </m:r>
                      </m:sup>
                    </m:sSubSup>
                  </m:oMath>
                </a14:m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, (of partial </a:t>
                </a: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solutions of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B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by means of solutions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𝑳</m:t>
                        </m:r>
                      </m:e>
                      <m:sub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𝒕</m:t>
                        </m:r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𝟏</m:t>
                        </m:r>
                      </m:sup>
                    </m:sSubSup>
                  </m:oMath>
                </a14:m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).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3593B87-B564-266C-01C5-EA5BB66F76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3" t="-464" r="-1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52CF5A7-FF5F-A9C2-B21D-643D42BF1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Fore-and-Back </a:t>
            </a:r>
            <a:r>
              <a:rPr lang="it-IT" dirty="0" err="1"/>
              <a:t>matheuristic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AECA01-5F6A-422B-2500-7F98DCB1AF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113180-0B08-630A-71C7-A62CF0D2CD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0929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7F0AB5-7A8A-42FE-5DDF-D044C40A0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Fore-and-Back </a:t>
            </a:r>
            <a:r>
              <a:rPr lang="it-IT" dirty="0" err="1"/>
              <a:t>matheuristic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BD3598-EFE8-4C2E-A348-DDE3ECCB57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8CDD58-00D0-7445-0027-081618BF23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400036-9C0F-20B9-2C5D-5DD9AB74736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409278" y="4092395"/>
            <a:ext cx="4389500" cy="23700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ECB146-E4A7-0401-B543-D30CF3239BF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4450" y="1459414"/>
            <a:ext cx="4305673" cy="251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923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249462-D8D2-7F95-D278-1AEAFB44F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5414974"/>
          </a:xfrm>
        </p:spPr>
        <p:txBody>
          <a:bodyPr>
            <a:normAutofit/>
          </a:bodyPr>
          <a:lstStyle/>
          <a:p>
            <a:r>
              <a:rPr lang="en-US" sz="2600" dirty="0"/>
              <a:t>Time series segmentation asks to </a:t>
            </a:r>
            <a:r>
              <a:rPr lang="en-US" sz="2600" dirty="0">
                <a:solidFill>
                  <a:srgbClr val="C00000"/>
                </a:solidFill>
              </a:rPr>
              <a:t>partition a time series </a:t>
            </a:r>
            <a:r>
              <a:rPr lang="en-US" sz="2600" dirty="0"/>
              <a:t>into distinct, </a:t>
            </a:r>
            <a:r>
              <a:rPr lang="en-US" sz="2600" dirty="0">
                <a:solidFill>
                  <a:srgbClr val="C00000"/>
                </a:solidFill>
              </a:rPr>
              <a:t>non-overlapping time segments</a:t>
            </a:r>
            <a:r>
              <a:rPr lang="en-US" sz="2600" dirty="0"/>
              <a:t>, each characterized by homogeneous patterns or behaviors.</a:t>
            </a:r>
          </a:p>
          <a:p>
            <a:r>
              <a:rPr lang="en-US" sz="2600" dirty="0"/>
              <a:t>Segmenting a time series entails identifying </a:t>
            </a:r>
            <a:r>
              <a:rPr lang="en-US" sz="2600" dirty="0">
                <a:solidFill>
                  <a:srgbClr val="C00000"/>
                </a:solidFill>
              </a:rPr>
              <a:t>points of change </a:t>
            </a:r>
            <a:r>
              <a:rPr lang="en-US" sz="2600" dirty="0"/>
              <a:t>in the series: temporal shifts, transitions, or abrupt changes that </a:t>
            </a:r>
            <a:r>
              <a:rPr lang="en-US" sz="2600" dirty="0">
                <a:solidFill>
                  <a:srgbClr val="C00000"/>
                </a:solidFill>
              </a:rPr>
              <a:t>carry critical information</a:t>
            </a:r>
            <a:r>
              <a:rPr lang="en-US" sz="2600" dirty="0"/>
              <a:t>. </a:t>
            </a:r>
          </a:p>
          <a:p>
            <a:r>
              <a:rPr lang="en-US" sz="2600" dirty="0"/>
              <a:t>Change points </a:t>
            </a:r>
            <a:r>
              <a:rPr lang="en-US" sz="2600" dirty="0">
                <a:solidFill>
                  <a:srgbClr val="C00000"/>
                </a:solidFill>
              </a:rPr>
              <a:t>identify events </a:t>
            </a:r>
            <a:r>
              <a:rPr lang="en-US" sz="2600" dirty="0"/>
              <a:t>in a time series where the statistical properties of the data undergo a significant change, contributing to the understanding of: 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evolving trends, 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prediction of future behavior,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identification of anomalous events.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segmentation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D199AA-3A98-6D71-00E1-C4B32A9D7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Italian</a:t>
            </a:r>
            <a:r>
              <a:rPr lang="it-IT" dirty="0"/>
              <a:t> GDP per capita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AD5F58-7367-9110-E5D2-6001DEF889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C3F1AE-A9F0-F230-089A-35902A20B7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06B6F1-C059-9FE1-9674-C2CBE6A5105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42900" y="1632503"/>
            <a:ext cx="8337486" cy="4513322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56CCCA-6C30-1598-B4BB-1B492A66ABD4}"/>
              </a:ext>
            </a:extLst>
          </p:cNvPr>
          <p:cNvCxnSpPr/>
          <p:nvPr/>
        </p:nvCxnSpPr>
        <p:spPr>
          <a:xfrm flipV="1">
            <a:off x="852856" y="5345724"/>
            <a:ext cx="2787161" cy="167054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DCB17A1-78BB-BF67-184B-2821506F1617}"/>
              </a:ext>
            </a:extLst>
          </p:cNvPr>
          <p:cNvCxnSpPr>
            <a:cxnSpLocks/>
          </p:cNvCxnSpPr>
          <p:nvPr/>
        </p:nvCxnSpPr>
        <p:spPr>
          <a:xfrm flipH="1">
            <a:off x="3719146" y="1797574"/>
            <a:ext cx="3956539" cy="3838292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D4CA6CD-F0BC-75FC-231C-B9D8CC586872}"/>
              </a:ext>
            </a:extLst>
          </p:cNvPr>
          <p:cNvCxnSpPr>
            <a:cxnSpLocks/>
          </p:cNvCxnSpPr>
          <p:nvPr/>
        </p:nvCxnSpPr>
        <p:spPr>
          <a:xfrm>
            <a:off x="7675685" y="1925515"/>
            <a:ext cx="881021" cy="87923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04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6063C71-2CD8-4EE2-B54C-07292D2590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6341" y="1371600"/>
            <a:ext cx="6982044" cy="344612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B2F9554-738A-47A2-8DC3-C6857E9CE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Sub-super-</a:t>
            </a:r>
            <a:r>
              <a:rPr lang="en-US" dirty="0" err="1"/>
              <a:t>addittivity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4D634E-A5FD-4995-AF03-29D603DE8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DC865-9B9C-4024-953A-0EF3FC10D1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8182F2-26EC-45C7-9680-EFE38937D08E}"/>
              </a:ext>
            </a:extLst>
          </p:cNvPr>
          <p:cNvSpPr txBox="1"/>
          <p:nvPr/>
        </p:nvSpPr>
        <p:spPr>
          <a:xfrm>
            <a:off x="640080" y="5059680"/>
            <a:ext cx="7579360" cy="12700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en-US" sz="2400" dirty="0"/>
              <a:t>Green can be better or worse.</a:t>
            </a:r>
          </a:p>
          <a:p>
            <a:r>
              <a:rPr lang="en-US" sz="2400" dirty="0"/>
              <a:t>It depends on the cost function.</a:t>
            </a:r>
          </a:p>
          <a:p>
            <a:r>
              <a:rPr lang="en-US" sz="2400" dirty="0"/>
              <a:t>It depends on how much you penalize the number of lines.</a:t>
            </a:r>
          </a:p>
        </p:txBody>
      </p:sp>
    </p:spTree>
    <p:extLst>
      <p:ext uri="{BB962C8B-B14F-4D97-AF65-F5344CB8AC3E}">
        <p14:creationId xmlns:p14="http://schemas.microsoft.com/office/powerpoint/2010/main" val="14871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8572550-1A32-4ECF-80D0-A5F57FE46D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90429" y="1173163"/>
            <a:ext cx="7363142" cy="5259387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64EDD7C-BE80-460A-8EF8-1FB22928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AIC vs. QRMSE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830A19-86CB-4A16-B228-A79EB95B7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B9F60-2788-4DD1-8E2E-9DF135164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83813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BF42E2-88E9-CF37-0415-596CF6751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7285"/>
            <a:ext cx="8546175" cy="5551606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/>
              <a:t>Four benchmark sets from the </a:t>
            </a:r>
            <a:r>
              <a:rPr lang="en-US" sz="2600" dirty="0">
                <a:solidFill>
                  <a:srgbClr val="C00000"/>
                </a:solidFill>
              </a:rPr>
              <a:t>M competitions</a:t>
            </a:r>
            <a:r>
              <a:rPr lang="en-US" sz="2600" i="1" baseline="30000" dirty="0">
                <a:solidFill>
                  <a:srgbClr val="C00000"/>
                </a:solidFill>
              </a:rPr>
              <a:t>1</a:t>
            </a:r>
            <a:r>
              <a:rPr lang="en-US" sz="2600" dirty="0">
                <a:solidFill>
                  <a:srgbClr val="C00000"/>
                </a:solidFill>
              </a:rPr>
              <a:t> </a:t>
            </a:r>
            <a:r>
              <a:rPr lang="en-US" sz="2600" dirty="0"/>
              <a:t>on time series forecasting: 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M3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M4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M5 (retail data)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M6 (daily adjusted close prices of the financial M6 assets)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A set of </a:t>
            </a:r>
            <a:r>
              <a:rPr lang="en-US" sz="2600" dirty="0">
                <a:solidFill>
                  <a:srgbClr val="C00000"/>
                </a:solidFill>
              </a:rPr>
              <a:t>IoT series </a:t>
            </a:r>
            <a:r>
              <a:rPr lang="en-US" sz="2600" dirty="0"/>
              <a:t>on different physical variables at different sampling frequency (daily or every 60 mins).</a:t>
            </a:r>
          </a:p>
          <a:p>
            <a:pPr>
              <a:lnSpc>
                <a:spcPct val="120000"/>
              </a:lnSpc>
            </a:pPr>
            <a:r>
              <a:rPr lang="en-US" sz="2600" dirty="0">
                <a:solidFill>
                  <a:srgbClr val="C00000"/>
                </a:solidFill>
              </a:rPr>
              <a:t>Comparison</a:t>
            </a:r>
            <a:r>
              <a:rPr lang="en-US" sz="2600" dirty="0"/>
              <a:t> against codes in </a:t>
            </a:r>
            <a:r>
              <a:rPr lang="en-US" sz="2600" b="1" i="1" dirty="0"/>
              <a:t>ruptures</a:t>
            </a:r>
            <a:r>
              <a:rPr lang="en-US" sz="2600" b="1" i="1" baseline="30000" dirty="0"/>
              <a:t>2</a:t>
            </a:r>
            <a:r>
              <a:rPr lang="en-US" sz="2600" i="1" baseline="30000" dirty="0"/>
              <a:t> </a:t>
            </a:r>
            <a:r>
              <a:rPr lang="en-US" sz="2600" dirty="0"/>
              <a:t>(Truong et al., 2020): </a:t>
            </a:r>
            <a:r>
              <a:rPr lang="en-US" sz="2600" b="1" i="1" dirty="0"/>
              <a:t>DYNP</a:t>
            </a:r>
            <a:r>
              <a:rPr lang="en-US" sz="2600" dirty="0"/>
              <a:t> (needs the number of breaks in input), </a:t>
            </a:r>
            <a:r>
              <a:rPr lang="en-US" sz="2600" b="1" i="1" dirty="0"/>
              <a:t>PELT</a:t>
            </a:r>
            <a:r>
              <a:rPr lang="en-US" sz="2600" dirty="0"/>
              <a:t> (</a:t>
            </a:r>
            <a:r>
              <a:rPr lang="en-US" sz="2600" i="1" dirty="0"/>
              <a:t>Killick et al., 2012</a:t>
            </a:r>
            <a:r>
              <a:rPr lang="en-US" sz="2600" dirty="0"/>
              <a:t>) optimal only with AIC cost</a:t>
            </a:r>
            <a:r>
              <a:rPr lang="da-DK" sz="2600" dirty="0"/>
              <a:t>. 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Code</a:t>
            </a:r>
            <a:r>
              <a:rPr lang="en-US" sz="2600" dirty="0"/>
              <a:t> in C++, platform desktop Windows 11.</a:t>
            </a:r>
          </a:p>
          <a:p>
            <a:pPr>
              <a:lnSpc>
                <a:spcPct val="120000"/>
              </a:lnSpc>
            </a:pPr>
            <a:r>
              <a:rPr lang="en-US" sz="2200" i="1" baseline="30000" dirty="0"/>
              <a:t>1</a:t>
            </a:r>
            <a:r>
              <a:rPr lang="en-US" sz="1600" dirty="0"/>
              <a:t> https://en.wikipedia.org/wiki/Makridakis_Competitions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i="1" baseline="30000" dirty="0"/>
              <a:t>2</a:t>
            </a:r>
            <a:r>
              <a:rPr lang="en-US" sz="1600" dirty="0"/>
              <a:t> https://centre-borelli.github.io/ruptures-docs/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076A18-B4A4-A350-FFBF-1B9602B7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Testsets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D1E5F-152B-B376-E87E-EDB6374A1A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0E8CF-948D-D45B-4090-98FC2F2300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9786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30CB979-9492-8B86-72D1-13B6F7AD0B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40146468"/>
              </p:ext>
            </p:extLst>
          </p:nvPr>
        </p:nvGraphicFramePr>
        <p:xfrm>
          <a:off x="278771" y="1366853"/>
          <a:ext cx="8277935" cy="316992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996118">
                  <a:extLst>
                    <a:ext uri="{9D8B030D-6E8A-4147-A177-3AD203B41FA5}">
                      <a16:colId xmlns:a16="http://schemas.microsoft.com/office/drawing/2014/main" val="1677443305"/>
                    </a:ext>
                  </a:extLst>
                </a:gridCol>
                <a:gridCol w="842090">
                  <a:extLst>
                    <a:ext uri="{9D8B030D-6E8A-4147-A177-3AD203B41FA5}">
                      <a16:colId xmlns:a16="http://schemas.microsoft.com/office/drawing/2014/main" val="2463057625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2991941247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4193560891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2927222695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2167118472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2476655549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1699640681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3032813774"/>
                    </a:ext>
                  </a:extLst>
                </a:gridCol>
              </a:tblGrid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 err="1">
                          <a:solidFill>
                            <a:srgbClr val="0070C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FnB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PELT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DYNP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1682369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en-US" sz="1600" i="1" dirty="0">
                          <a:effectLst/>
                        </a:rPr>
                        <a:t>Name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en-US" sz="1600" i="1" dirty="0">
                          <a:effectLst/>
                        </a:rPr>
                        <a:t>category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en-US" sz="1600" i="1" dirty="0">
                          <a:effectLst/>
                        </a:rPr>
                        <a:t>n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n.segm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t.cpu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 err="1">
                          <a:effectLst/>
                        </a:rPr>
                        <a:t>n.segm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en-US" sz="1600" i="1" dirty="0" err="1">
                          <a:effectLst/>
                        </a:rPr>
                        <a:t>t.cpu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n.segm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t.cpu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319299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M3/N1879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Industry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0.052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0.062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0.0156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549277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M3/N1881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0.054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0.109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0.0156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91497134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M3/N1882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0.052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0.015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9209246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M3/N1883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0.042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0.015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2052486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M3/N1884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0.060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0.031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60704647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M3/N1918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0.064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0.078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0.015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414791879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M3/N2830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104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0.024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7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solidFill>
                            <a:srgbClr val="0070C0"/>
                          </a:solidFill>
                          <a:effectLst/>
                        </a:rPr>
                        <a:t>0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669071908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M3/N2831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104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0.022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10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solidFill>
                            <a:srgbClr val="0070C0"/>
                          </a:solidFill>
                          <a:effectLst/>
                        </a:rPr>
                        <a:t>0.015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727420417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M3/N2832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104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solidFill>
                            <a:srgbClr val="0070C0"/>
                          </a:solidFill>
                          <a:effectLst/>
                        </a:rPr>
                        <a:t>6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0.024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0.062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solidFill>
                            <a:srgbClr val="0070C0"/>
                          </a:solidFill>
                          <a:effectLst/>
                        </a:rPr>
                        <a:t>0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623913290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M3/N2833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104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0.022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7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solidFill>
                            <a:srgbClr val="0070C0"/>
                          </a:solidFill>
                          <a:effectLst/>
                        </a:rPr>
                        <a:t>0.015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95162881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M3/N2834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0.026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0.046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087752927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AABF489-5606-2102-0D05-82878A8D7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AIC – M3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38C33F-47C1-858F-B4EA-1274E39A8F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B611EB-94A4-9F5F-9115-A9FAEAC40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4508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30CB979-9492-8B86-72D1-13B6F7AD0B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9177749"/>
              </p:ext>
            </p:extLst>
          </p:nvPr>
        </p:nvGraphicFramePr>
        <p:xfrm>
          <a:off x="465996" y="1762280"/>
          <a:ext cx="8090710" cy="316992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090245">
                  <a:extLst>
                    <a:ext uri="{9D8B030D-6E8A-4147-A177-3AD203B41FA5}">
                      <a16:colId xmlns:a16="http://schemas.microsoft.com/office/drawing/2014/main" val="1677443305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2463057625"/>
                    </a:ext>
                  </a:extLst>
                </a:gridCol>
                <a:gridCol w="814233">
                  <a:extLst>
                    <a:ext uri="{9D8B030D-6E8A-4147-A177-3AD203B41FA5}">
                      <a16:colId xmlns:a16="http://schemas.microsoft.com/office/drawing/2014/main" val="2991941247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4193560891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927222695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167118472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476655549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1699640681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3032813774"/>
                    </a:ext>
                  </a:extLst>
                </a:gridCol>
              </a:tblGrid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 err="1">
                          <a:solidFill>
                            <a:srgbClr val="0070C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FnB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PELT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DYNP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1682369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>
                          <a:effectLst/>
                        </a:rPr>
                        <a:t>Name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>
                          <a:effectLst/>
                        </a:rPr>
                        <a:t>category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>
                          <a:effectLst/>
                        </a:rPr>
                        <a:t>n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n.segm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t.cpu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 err="1">
                          <a:effectLst/>
                        </a:rPr>
                        <a:t>n.segm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 err="1">
                          <a:effectLst/>
                        </a:rPr>
                        <a:t>t.cpu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n.segm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t.cpu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319299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Q14640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115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2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0.036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2160475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Q15444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126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4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0.050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0.015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203586230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Q18148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71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5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0.006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0.015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4895072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Q18496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126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0.038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34529027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Q19604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123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0.038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0.015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478174587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Q19637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123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3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0.044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0.015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43010567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Q2002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Macro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170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0.094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0.078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0.031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97068128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Q22221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738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0.713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58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0.359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0.593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2333129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Q5109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Macro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866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1.074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102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0.296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0.828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4264538592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Q7774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115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6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solidFill>
                            <a:srgbClr val="0070C0"/>
                          </a:solidFill>
                          <a:effectLst/>
                        </a:rPr>
                        <a:t>0.026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0.078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solidFill>
                            <a:srgbClr val="0070C0"/>
                          </a:solidFill>
                          <a:effectLst/>
                        </a:rPr>
                        <a:t>0.015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389227737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Q8030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97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0.022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</a:rPr>
                        <a:t>0.015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042422778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AABF489-5606-2102-0D05-82878A8D7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AIC – M4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38C33F-47C1-858F-B4EA-1274E39A8F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B611EB-94A4-9F5F-9115-A9FAEAC40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8016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30CB979-9492-8B86-72D1-13B6F7AD0B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73716976"/>
              </p:ext>
            </p:extLst>
          </p:nvPr>
        </p:nvGraphicFramePr>
        <p:xfrm>
          <a:off x="465996" y="1542473"/>
          <a:ext cx="8090710" cy="316992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125415">
                  <a:extLst>
                    <a:ext uri="{9D8B030D-6E8A-4147-A177-3AD203B41FA5}">
                      <a16:colId xmlns:a16="http://schemas.microsoft.com/office/drawing/2014/main" val="1677443305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463057625"/>
                    </a:ext>
                  </a:extLst>
                </a:gridCol>
                <a:gridCol w="770271">
                  <a:extLst>
                    <a:ext uri="{9D8B030D-6E8A-4147-A177-3AD203B41FA5}">
                      <a16:colId xmlns:a16="http://schemas.microsoft.com/office/drawing/2014/main" val="2991941247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4193560891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927222695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167118472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476655549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1699640681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3032813774"/>
                    </a:ext>
                  </a:extLst>
                </a:gridCol>
              </a:tblGrid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 err="1">
                          <a:solidFill>
                            <a:srgbClr val="0070C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FnB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PELT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solidFill>
                            <a:srgbClr val="0070C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DYNP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1682369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>
                          <a:effectLst/>
                        </a:rPr>
                        <a:t>Name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>
                          <a:effectLst/>
                        </a:rPr>
                        <a:t>category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>
                          <a:effectLst/>
                        </a:rPr>
                        <a:t>n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n.segm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t.cpu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 err="1">
                          <a:effectLst/>
                        </a:rPr>
                        <a:t>n.segm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 err="1">
                          <a:effectLst/>
                        </a:rPr>
                        <a:t>t.cpu</a:t>
                      </a:r>
                      <a:endParaRPr lang="en-US" sz="1600" i="1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n.segm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i="1" dirty="0" err="1">
                          <a:solidFill>
                            <a:srgbClr val="0070C0"/>
                          </a:solidFill>
                          <a:effectLst/>
                        </a:rPr>
                        <a:t>t.cpu</a:t>
                      </a:r>
                      <a:endParaRPr lang="en-US" sz="1600" i="1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319299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M6/ABBV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253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0.196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0.109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0.062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9520909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M6/BTCUSD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367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0.246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0.156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0.125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65592587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M6/EWG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0.176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0.109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0.046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977252742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M6/EWQ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0.168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0.125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0.062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550251558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M6/EWZ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0.182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0.125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0.046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70319916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M6/GBPUSD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263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0.184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17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0.093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0.078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757301408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M6/PYPL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0.162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0.109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0.062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848229579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M6/RBLX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Finance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0.170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0.093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0.046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87236143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M6/ROST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0.172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20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0.078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0.062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207760055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M6/SLV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0.168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0.109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70C0"/>
                          </a:solidFill>
                          <a:effectLst/>
                        </a:rPr>
                        <a:t>0.078</a:t>
                      </a:r>
                      <a:endParaRPr lang="en-US" sz="16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380483340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M6/USDJPY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Finance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263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0.182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0.109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8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0.062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779688604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AABF489-5606-2102-0D05-82878A8D7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AIC – M6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38C33F-47C1-858F-B4EA-1274E39A8F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B611EB-94A4-9F5F-9115-A9FAEAC40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4336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DFCD8F-4E5F-E2B9-CA0B-8C5BEF5F4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QRMSE – M3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990AD9-5311-D146-5E25-C4D3C969A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EF62C-4E86-9813-0964-46661C3FC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382D50BF-6293-73E6-8929-905C3294B5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793102"/>
              </p:ext>
            </p:extLst>
          </p:nvPr>
        </p:nvGraphicFramePr>
        <p:xfrm>
          <a:off x="536330" y="1026290"/>
          <a:ext cx="7877911" cy="5486400"/>
        </p:xfrm>
        <a:graphic>
          <a:graphicData uri="http://schemas.openxmlformats.org/drawingml/2006/table">
            <a:tbl>
              <a:tblPr/>
              <a:tblGrid>
                <a:gridCol w="787791">
                  <a:extLst>
                    <a:ext uri="{9D8B030D-6E8A-4147-A177-3AD203B41FA5}">
                      <a16:colId xmlns:a16="http://schemas.microsoft.com/office/drawing/2014/main" val="975091188"/>
                    </a:ext>
                  </a:extLst>
                </a:gridCol>
                <a:gridCol w="1116996">
                  <a:extLst>
                    <a:ext uri="{9D8B030D-6E8A-4147-A177-3AD203B41FA5}">
                      <a16:colId xmlns:a16="http://schemas.microsoft.com/office/drawing/2014/main" val="1786249198"/>
                    </a:ext>
                  </a:extLst>
                </a:gridCol>
                <a:gridCol w="458587">
                  <a:extLst>
                    <a:ext uri="{9D8B030D-6E8A-4147-A177-3AD203B41FA5}">
                      <a16:colId xmlns:a16="http://schemas.microsoft.com/office/drawing/2014/main" val="986308607"/>
                    </a:ext>
                  </a:extLst>
                </a:gridCol>
                <a:gridCol w="787791">
                  <a:extLst>
                    <a:ext uri="{9D8B030D-6E8A-4147-A177-3AD203B41FA5}">
                      <a16:colId xmlns:a16="http://schemas.microsoft.com/office/drawing/2014/main" val="2541881096"/>
                    </a:ext>
                  </a:extLst>
                </a:gridCol>
                <a:gridCol w="787791">
                  <a:extLst>
                    <a:ext uri="{9D8B030D-6E8A-4147-A177-3AD203B41FA5}">
                      <a16:colId xmlns:a16="http://schemas.microsoft.com/office/drawing/2014/main" val="4000169385"/>
                    </a:ext>
                  </a:extLst>
                </a:gridCol>
                <a:gridCol w="787791">
                  <a:extLst>
                    <a:ext uri="{9D8B030D-6E8A-4147-A177-3AD203B41FA5}">
                      <a16:colId xmlns:a16="http://schemas.microsoft.com/office/drawing/2014/main" val="2482934876"/>
                    </a:ext>
                  </a:extLst>
                </a:gridCol>
                <a:gridCol w="891539">
                  <a:extLst>
                    <a:ext uri="{9D8B030D-6E8A-4147-A177-3AD203B41FA5}">
                      <a16:colId xmlns:a16="http://schemas.microsoft.com/office/drawing/2014/main" val="3031009284"/>
                    </a:ext>
                  </a:extLst>
                </a:gridCol>
                <a:gridCol w="684043">
                  <a:extLst>
                    <a:ext uri="{9D8B030D-6E8A-4147-A177-3AD203B41FA5}">
                      <a16:colId xmlns:a16="http://schemas.microsoft.com/office/drawing/2014/main" val="1923648231"/>
                    </a:ext>
                  </a:extLst>
                </a:gridCol>
                <a:gridCol w="787791">
                  <a:extLst>
                    <a:ext uri="{9D8B030D-6E8A-4147-A177-3AD203B41FA5}">
                      <a16:colId xmlns:a16="http://schemas.microsoft.com/office/drawing/2014/main" val="1189549570"/>
                    </a:ext>
                  </a:extLst>
                </a:gridCol>
                <a:gridCol w="787791">
                  <a:extLst>
                    <a:ext uri="{9D8B030D-6E8A-4147-A177-3AD203B41FA5}">
                      <a16:colId xmlns:a16="http://schemas.microsoft.com/office/drawing/2014/main" val="404582462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it-IT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Name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it-IT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Category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t.prec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t.cpu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topt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num.matches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n.fathomed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n.brk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b-f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89476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N1879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INDUSTRY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34124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12274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N1881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INDUSTRY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61701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035498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N1882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INDUSTRY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88413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52597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N1883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INDUSTRY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267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117019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480859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N2270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149421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09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N2459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174193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50653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N2460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210921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8818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N2461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240255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68514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N2523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FINANCE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584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266915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557475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N2524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FINANCE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646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293345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984707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N2525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FINANCE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318483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6876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N2526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FINANCE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346194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349839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N2773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368531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0614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N2774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892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387848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09310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N2775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406769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5465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N2776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426722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011621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N1679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MICRO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1070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450831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51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N1680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MICRO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1131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475371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161147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N1681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MICRO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1192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497600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733788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N1682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MICRO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1250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520971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637742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N2778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1291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530569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807606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N2779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541209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41174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N2781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550652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736902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N2782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560034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45495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6791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DFCD8F-4E5F-E2B9-CA0B-8C5BEF5F4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QRMSE – M4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990AD9-5311-D146-5E25-C4D3C969A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EF62C-4E86-9813-0964-46661C3FC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D7D8BD02-9280-9D12-83C9-4BC2B7E89E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9584130"/>
              </p:ext>
            </p:extLst>
          </p:nvPr>
        </p:nvGraphicFramePr>
        <p:xfrm>
          <a:off x="677010" y="1073357"/>
          <a:ext cx="7921866" cy="5450525"/>
        </p:xfrm>
        <a:graphic>
          <a:graphicData uri="http://schemas.openxmlformats.org/drawingml/2006/table">
            <a:tbl>
              <a:tblPr/>
              <a:tblGrid>
                <a:gridCol w="937152">
                  <a:extLst>
                    <a:ext uri="{9D8B030D-6E8A-4147-A177-3AD203B41FA5}">
                      <a16:colId xmlns:a16="http://schemas.microsoft.com/office/drawing/2014/main" val="2881022058"/>
                    </a:ext>
                  </a:extLst>
                </a:gridCol>
                <a:gridCol w="925928">
                  <a:extLst>
                    <a:ext uri="{9D8B030D-6E8A-4147-A177-3AD203B41FA5}">
                      <a16:colId xmlns:a16="http://schemas.microsoft.com/office/drawing/2014/main" val="1045430401"/>
                    </a:ext>
                  </a:extLst>
                </a:gridCol>
                <a:gridCol w="626232">
                  <a:extLst>
                    <a:ext uri="{9D8B030D-6E8A-4147-A177-3AD203B41FA5}">
                      <a16:colId xmlns:a16="http://schemas.microsoft.com/office/drawing/2014/main" val="1946882423"/>
                    </a:ext>
                  </a:extLst>
                </a:gridCol>
                <a:gridCol w="776079">
                  <a:extLst>
                    <a:ext uri="{9D8B030D-6E8A-4147-A177-3AD203B41FA5}">
                      <a16:colId xmlns:a16="http://schemas.microsoft.com/office/drawing/2014/main" val="3533093124"/>
                    </a:ext>
                  </a:extLst>
                </a:gridCol>
                <a:gridCol w="776079">
                  <a:extLst>
                    <a:ext uri="{9D8B030D-6E8A-4147-A177-3AD203B41FA5}">
                      <a16:colId xmlns:a16="http://schemas.microsoft.com/office/drawing/2014/main" val="3015743991"/>
                    </a:ext>
                  </a:extLst>
                </a:gridCol>
                <a:gridCol w="531486">
                  <a:extLst>
                    <a:ext uri="{9D8B030D-6E8A-4147-A177-3AD203B41FA5}">
                      <a16:colId xmlns:a16="http://schemas.microsoft.com/office/drawing/2014/main" val="827283757"/>
                    </a:ext>
                  </a:extLst>
                </a:gridCol>
                <a:gridCol w="1020673">
                  <a:extLst>
                    <a:ext uri="{9D8B030D-6E8A-4147-A177-3AD203B41FA5}">
                      <a16:colId xmlns:a16="http://schemas.microsoft.com/office/drawing/2014/main" val="907998233"/>
                    </a:ext>
                  </a:extLst>
                </a:gridCol>
                <a:gridCol w="776079">
                  <a:extLst>
                    <a:ext uri="{9D8B030D-6E8A-4147-A177-3AD203B41FA5}">
                      <a16:colId xmlns:a16="http://schemas.microsoft.com/office/drawing/2014/main" val="1862198725"/>
                    </a:ext>
                  </a:extLst>
                </a:gridCol>
                <a:gridCol w="776079">
                  <a:extLst>
                    <a:ext uri="{9D8B030D-6E8A-4147-A177-3AD203B41FA5}">
                      <a16:colId xmlns:a16="http://schemas.microsoft.com/office/drawing/2014/main" val="1883616590"/>
                    </a:ext>
                  </a:extLst>
                </a:gridCol>
                <a:gridCol w="776079">
                  <a:extLst>
                    <a:ext uri="{9D8B030D-6E8A-4147-A177-3AD203B41FA5}">
                      <a16:colId xmlns:a16="http://schemas.microsoft.com/office/drawing/2014/main" val="3516175185"/>
                    </a:ext>
                  </a:extLst>
                </a:gridCol>
              </a:tblGrid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it-IT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Name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it-IT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Category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t.prec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t.cpu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topt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num.matches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n.fathomed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n.brk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b-f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5514869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Q13050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0.172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294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2205557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12999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Q13073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699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0.456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0.172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642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3674339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931192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Q13086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699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0.445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1027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5447070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09799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Q13075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598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0.307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0.127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1331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6721769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19281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Q22221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9604633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730920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Q23114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10933843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6857714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Q22468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0.288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2445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12130699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138988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Q22451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12716218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703990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Q15697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Industry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0.524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0.271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3141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15384120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303022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Q15691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Industry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0.496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0.212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3481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17432186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188353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Q15651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Industry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0.498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0.185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3803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18968434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73404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Q15643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Industry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0.224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4152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20856708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7471388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Q5109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4897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25540190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356424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Q4810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5255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28122257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8919446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Q4803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5618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29977489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626549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Q4802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0.187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5987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32004632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232849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Q10414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Micro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0.537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0.189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6702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36207186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94300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Q10412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Micro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0.509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0.191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7068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37999942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839085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Q10403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Micro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688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0.461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0.177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0.171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7420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39544803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6106591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Q10691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Micro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542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0.237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0.086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7622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40716701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92342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Q23661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8110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42867141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488543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Q23601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0.187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8500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44411181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4030148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Q23646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0.183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8830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46223265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83455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Q23673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9096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47125866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784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1599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B1CC1C4-DE75-6746-6EA7-1FF080B217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5232692"/>
              </p:ext>
            </p:extLst>
          </p:nvPr>
        </p:nvGraphicFramePr>
        <p:xfrm>
          <a:off x="316483" y="1765330"/>
          <a:ext cx="8240225" cy="2514600"/>
        </p:xfrm>
        <a:graphic>
          <a:graphicData uri="http://schemas.openxmlformats.org/drawingml/2006/table">
            <a:tbl>
              <a:tblPr/>
              <a:tblGrid>
                <a:gridCol w="1258637">
                  <a:extLst>
                    <a:ext uri="{9D8B030D-6E8A-4147-A177-3AD203B41FA5}">
                      <a16:colId xmlns:a16="http://schemas.microsoft.com/office/drawing/2014/main" val="138050090"/>
                    </a:ext>
                  </a:extLst>
                </a:gridCol>
                <a:gridCol w="673046">
                  <a:extLst>
                    <a:ext uri="{9D8B030D-6E8A-4147-A177-3AD203B41FA5}">
                      <a16:colId xmlns:a16="http://schemas.microsoft.com/office/drawing/2014/main" val="3040741961"/>
                    </a:ext>
                  </a:extLst>
                </a:gridCol>
                <a:gridCol w="676559">
                  <a:extLst>
                    <a:ext uri="{9D8B030D-6E8A-4147-A177-3AD203B41FA5}">
                      <a16:colId xmlns:a16="http://schemas.microsoft.com/office/drawing/2014/main" val="2981291566"/>
                    </a:ext>
                  </a:extLst>
                </a:gridCol>
                <a:gridCol w="627367">
                  <a:extLst>
                    <a:ext uri="{9D8B030D-6E8A-4147-A177-3AD203B41FA5}">
                      <a16:colId xmlns:a16="http://schemas.microsoft.com/office/drawing/2014/main" val="238078827"/>
                    </a:ext>
                  </a:extLst>
                </a:gridCol>
                <a:gridCol w="694593">
                  <a:extLst>
                    <a:ext uri="{9D8B030D-6E8A-4147-A177-3AD203B41FA5}">
                      <a16:colId xmlns:a16="http://schemas.microsoft.com/office/drawing/2014/main" val="2063564169"/>
                    </a:ext>
                  </a:extLst>
                </a:gridCol>
                <a:gridCol w="1406769">
                  <a:extLst>
                    <a:ext uri="{9D8B030D-6E8A-4147-A177-3AD203B41FA5}">
                      <a16:colId xmlns:a16="http://schemas.microsoft.com/office/drawing/2014/main" val="1251695786"/>
                    </a:ext>
                  </a:extLst>
                </a:gridCol>
                <a:gridCol w="1266092">
                  <a:extLst>
                    <a:ext uri="{9D8B030D-6E8A-4147-A177-3AD203B41FA5}">
                      <a16:colId xmlns:a16="http://schemas.microsoft.com/office/drawing/2014/main" val="2703297787"/>
                    </a:ext>
                  </a:extLst>
                </a:gridCol>
                <a:gridCol w="771959">
                  <a:extLst>
                    <a:ext uri="{9D8B030D-6E8A-4147-A177-3AD203B41FA5}">
                      <a16:colId xmlns:a16="http://schemas.microsoft.com/office/drawing/2014/main" val="76678809"/>
                    </a:ext>
                  </a:extLst>
                </a:gridCol>
                <a:gridCol w="865203">
                  <a:extLst>
                    <a:ext uri="{9D8B030D-6E8A-4147-A177-3AD203B41FA5}">
                      <a16:colId xmlns:a16="http://schemas.microsoft.com/office/drawing/2014/main" val="1508616684"/>
                    </a:ext>
                  </a:extLst>
                </a:gridCol>
              </a:tblGrid>
              <a:tr h="198120">
                <a:tc>
                  <a:txBody>
                    <a:bodyPr/>
                    <a:lstStyle/>
                    <a:p>
                      <a:pPr algn="ctr" fontAlgn="b"/>
                      <a:r>
                        <a:rPr lang="it-IT" sz="16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Name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t.prec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topt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num.matches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n.fathomed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n.brk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b-f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3867017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M5/5859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1.243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18552797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52483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M5/18055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41416657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233959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M5/23793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6.986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1.176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64324064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450021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M5/6344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6.785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2.049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93861549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4446091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M5/15559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1.131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110859792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8171922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M5/27444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1.628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133856002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9721006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M5/6776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1.62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157277412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6490319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M5/13272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1.636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7983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185133115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548797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M5/28437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1.479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8933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206245302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215511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8EB32C7-7BCD-F7CA-9881-1D2BC758B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QRMSE – M5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3AE9EF-9E10-00AC-60CC-EB3CA592DB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4AE86F-F11A-5B85-450E-B5E05557E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186377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DFCD8F-4E5F-E2B9-CA0B-8C5BEF5F4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QRMSE – M6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990AD9-5311-D146-5E25-C4D3C969A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EF62C-4E86-9813-0964-46661C3FC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40608760-8AC9-30DD-9677-0619416CE9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0151208"/>
              </p:ext>
            </p:extLst>
          </p:nvPr>
        </p:nvGraphicFramePr>
        <p:xfrm>
          <a:off x="712177" y="1345222"/>
          <a:ext cx="7844526" cy="4651127"/>
        </p:xfrm>
        <a:graphic>
          <a:graphicData uri="http://schemas.openxmlformats.org/drawingml/2006/table">
            <a:tbl>
              <a:tblPr/>
              <a:tblGrid>
                <a:gridCol w="817685">
                  <a:extLst>
                    <a:ext uri="{9D8B030D-6E8A-4147-A177-3AD203B41FA5}">
                      <a16:colId xmlns:a16="http://schemas.microsoft.com/office/drawing/2014/main" val="1146925112"/>
                    </a:ext>
                  </a:extLst>
                </a:gridCol>
                <a:gridCol w="659423">
                  <a:extLst>
                    <a:ext uri="{9D8B030D-6E8A-4147-A177-3AD203B41FA5}">
                      <a16:colId xmlns:a16="http://schemas.microsoft.com/office/drawing/2014/main" val="1667763237"/>
                    </a:ext>
                  </a:extLst>
                </a:gridCol>
                <a:gridCol w="826477">
                  <a:extLst>
                    <a:ext uri="{9D8B030D-6E8A-4147-A177-3AD203B41FA5}">
                      <a16:colId xmlns:a16="http://schemas.microsoft.com/office/drawing/2014/main" val="303226282"/>
                    </a:ext>
                  </a:extLst>
                </a:gridCol>
                <a:gridCol w="826476">
                  <a:extLst>
                    <a:ext uri="{9D8B030D-6E8A-4147-A177-3AD203B41FA5}">
                      <a16:colId xmlns:a16="http://schemas.microsoft.com/office/drawing/2014/main" val="80370117"/>
                    </a:ext>
                  </a:extLst>
                </a:gridCol>
                <a:gridCol w="756139">
                  <a:extLst>
                    <a:ext uri="{9D8B030D-6E8A-4147-A177-3AD203B41FA5}">
                      <a16:colId xmlns:a16="http://schemas.microsoft.com/office/drawing/2014/main" val="2116812748"/>
                    </a:ext>
                  </a:extLst>
                </a:gridCol>
                <a:gridCol w="1343484">
                  <a:extLst>
                    <a:ext uri="{9D8B030D-6E8A-4147-A177-3AD203B41FA5}">
                      <a16:colId xmlns:a16="http://schemas.microsoft.com/office/drawing/2014/main" val="3084602848"/>
                    </a:ext>
                  </a:extLst>
                </a:gridCol>
                <a:gridCol w="986477">
                  <a:extLst>
                    <a:ext uri="{9D8B030D-6E8A-4147-A177-3AD203B41FA5}">
                      <a16:colId xmlns:a16="http://schemas.microsoft.com/office/drawing/2014/main" val="2380512273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6582010"/>
                    </a:ext>
                  </a:extLst>
                </a:gridCol>
                <a:gridCol w="837057">
                  <a:extLst>
                    <a:ext uri="{9D8B030D-6E8A-4147-A177-3AD203B41FA5}">
                      <a16:colId xmlns:a16="http://schemas.microsoft.com/office/drawing/2014/main" val="576863470"/>
                    </a:ext>
                  </a:extLst>
                </a:gridCol>
              </a:tblGrid>
              <a:tr h="490119">
                <a:tc>
                  <a:txBody>
                    <a:bodyPr/>
                    <a:lstStyle/>
                    <a:p>
                      <a:pPr algn="l" fontAlgn="b"/>
                      <a:r>
                        <a:rPr lang="it-IT" sz="16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Name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t.prec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t.cpu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topt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num.matches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n.fathomed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n.brk</a:t>
                      </a:r>
                      <a:endParaRPr lang="en-US" sz="16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b-f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228667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ABBV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122013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8451647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276124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698110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HST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294184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449917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PYPL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423530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3989613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ROST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550858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586064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RBLX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672188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415308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EWG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690884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866170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EWQ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711664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565082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EWZ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730103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71413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SLV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749526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8980962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VXX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782110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8829052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BTCUSD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1100469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5958389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EURCHF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1100723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0131432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EURUSD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1100977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7130427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GBPUSD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1101231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6527630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USDJPY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1122824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792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5038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FDBDB36-1275-F2E9-08B3-F455FF7E46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485" y="1112561"/>
            <a:ext cx="3835568" cy="3056698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E77AFAF-317E-1CED-DB49-D6E227498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IoT, environmental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D7A8E-E518-DA77-2589-71E791B727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D7BD37-4BF1-E9E9-149C-DD4868E829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B246D0-6E37-5D8B-D870-284C3513B2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983" y="3052625"/>
            <a:ext cx="4142908" cy="330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0176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4360C52-1CF0-25C6-0658-5325BDE345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2003232"/>
            <a:ext cx="8547100" cy="352822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2D58F8A-9268-6259-78AC-F34D980FD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IoT, </a:t>
            </a:r>
            <a:r>
              <a:rPr lang="it-IT" dirty="0" err="1"/>
              <a:t>environmental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051C9-0192-B65B-617C-73E8348100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2124EA-B9D9-C153-DA2B-6FB0E5E1C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172099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D46940F-C05A-E0CD-2E58-CAE5099DF5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7478" y="1288038"/>
            <a:ext cx="6729043" cy="5029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22A413F-B80D-3086-6990-5D5FE8FE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bitcoin vs USD exchange rate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16D30-0ACA-53ED-5474-5B7ACEFA76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4863E-09D4-AA72-6471-7CFF16949C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743378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2534</TotalTime>
  <Words>1931</Words>
  <Application>Microsoft Office PowerPoint</Application>
  <PresentationFormat>On-screen Show (4:3)</PresentationFormat>
  <Paragraphs>1173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AAchalk</vt:lpstr>
      <vt:lpstr>Aptos</vt:lpstr>
      <vt:lpstr>Aptos Narrow</vt:lpstr>
      <vt:lpstr>Arial</vt:lpstr>
      <vt:lpstr>Calibri Light</vt:lpstr>
      <vt:lpstr>Cambria</vt:lpstr>
      <vt:lpstr>Cambria Math</vt:lpstr>
      <vt:lpstr>Lekton</vt:lpstr>
      <vt:lpstr>ManiezzoSlides</vt:lpstr>
      <vt:lpstr>Wingdings</vt:lpstr>
      <vt:lpstr>ThemeQuadretti</vt:lpstr>
      <vt:lpstr>Fore-and-Back for Changepoint Detection</vt:lpstr>
      <vt:lpstr>LION-1, Andalo, 2007 </vt:lpstr>
      <vt:lpstr>The intuition</vt:lpstr>
      <vt:lpstr>Fore-and-Back matheuristic</vt:lpstr>
      <vt:lpstr>Fore-and-Back matheuristic</vt:lpstr>
      <vt:lpstr>Fore-and-Back matheuristic</vt:lpstr>
      <vt:lpstr>Time series segmentation</vt:lpstr>
      <vt:lpstr>Italian GDP per capita</vt:lpstr>
      <vt:lpstr>Sub-super-addittivity</vt:lpstr>
      <vt:lpstr>AIC vs. QRMSE</vt:lpstr>
      <vt:lpstr>Testsets</vt:lpstr>
      <vt:lpstr>AIC – M3</vt:lpstr>
      <vt:lpstr>AIC – M4</vt:lpstr>
      <vt:lpstr>AIC – M6</vt:lpstr>
      <vt:lpstr>QRMSE – M3</vt:lpstr>
      <vt:lpstr>QRMSE – M4</vt:lpstr>
      <vt:lpstr>QRMSE – M5</vt:lpstr>
      <vt:lpstr>QRMSE – M6</vt:lpstr>
      <vt:lpstr>IoT, environmental</vt:lpstr>
      <vt:lpstr>IoT, environmental</vt:lpstr>
      <vt:lpstr>bitcoin vs USD exchange rate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223</cp:revision>
  <dcterms:created xsi:type="dcterms:W3CDTF">2024-02-06T11:14:54Z</dcterms:created>
  <dcterms:modified xsi:type="dcterms:W3CDTF">2026-06-12T09:06:08Z</dcterms:modified>
</cp:coreProperties>
</file>