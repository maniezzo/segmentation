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69" r:id="rId3"/>
    <p:sldId id="270" r:id="rId4"/>
    <p:sldId id="271" r:id="rId5"/>
    <p:sldId id="273" r:id="rId6"/>
    <p:sldId id="268" r:id="rId7"/>
    <p:sldId id="272" r:id="rId8"/>
    <p:sldId id="261" r:id="rId9"/>
    <p:sldId id="262" r:id="rId10"/>
    <p:sldId id="263" r:id="rId11"/>
    <p:sldId id="264" r:id="rId12"/>
    <p:sldId id="265" r:id="rId13"/>
    <p:sldId id="267" r:id="rId14"/>
    <p:sldId id="266" r:id="rId15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60"/>
  </p:normalViewPr>
  <p:slideViewPr>
    <p:cSldViewPr snapToGrid="0">
      <p:cViewPr varScale="1">
        <p:scale>
          <a:sx n="87" d="100"/>
          <a:sy n="87" d="100"/>
        </p:scale>
        <p:origin x="749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1365397"/>
            <a:ext cx="8014741" cy="264469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4400" dirty="0"/>
              <a:t>Forecasting-oriented changepoint detection</a:t>
            </a:r>
            <a:endParaRPr lang="it-IT" sz="44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2080" y="5655523"/>
            <a:ext cx="3322029" cy="1202477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 Maniezzo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University of Bologna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vittorio.maniezzo@unibo.it</a:t>
            </a:r>
          </a:p>
        </p:txBody>
      </p:sp>
      <p:grpSp>
        <p:nvGrpSpPr>
          <p:cNvPr id="4" name="linea">
            <a:extLst>
              <a:ext uri="{FF2B5EF4-FFF2-40B4-BE49-F238E27FC236}">
                <a16:creationId xmlns:a16="http://schemas.microsoft.com/office/drawing/2014/main" id="{145D9C24-497C-441E-A3D3-331D06145CEE}"/>
              </a:ext>
            </a:extLst>
          </p:cNvPr>
          <p:cNvGrpSpPr/>
          <p:nvPr/>
        </p:nvGrpSpPr>
        <p:grpSpPr bwMode="invGray">
          <a:xfrm>
            <a:off x="396442" y="4010091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>
              <a:extLst>
                <a:ext uri="{FF2B5EF4-FFF2-40B4-BE49-F238E27FC236}">
                  <a16:creationId xmlns:a16="http://schemas.microsoft.com/office/drawing/2014/main" id="{D322C151-15B2-4E6A-8094-123F558A996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" name="Figura a mano libera 11">
              <a:extLst>
                <a:ext uri="{FF2B5EF4-FFF2-40B4-BE49-F238E27FC236}">
                  <a16:creationId xmlns:a16="http://schemas.microsoft.com/office/drawing/2014/main" id="{864BCB5A-138C-4EED-A084-89B52A615D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>
              <a:extLst>
                <a:ext uri="{FF2B5EF4-FFF2-40B4-BE49-F238E27FC236}">
                  <a16:creationId xmlns:a16="http://schemas.microsoft.com/office/drawing/2014/main" id="{FB2A8E7A-2A36-477F-9E96-ED0C634B29E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>
              <a:extLst>
                <a:ext uri="{FF2B5EF4-FFF2-40B4-BE49-F238E27FC236}">
                  <a16:creationId xmlns:a16="http://schemas.microsoft.com/office/drawing/2014/main" id="{C74CFF84-CFB4-41A8-8F02-59438256EAE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>
              <a:extLst>
                <a:ext uri="{FF2B5EF4-FFF2-40B4-BE49-F238E27FC236}">
                  <a16:creationId xmlns:a16="http://schemas.microsoft.com/office/drawing/2014/main" id="{A3152A92-80EA-4CDC-817E-50A54EFD3B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>
              <a:extLst>
                <a:ext uri="{FF2B5EF4-FFF2-40B4-BE49-F238E27FC236}">
                  <a16:creationId xmlns:a16="http://schemas.microsoft.com/office/drawing/2014/main" id="{88F34E46-1712-4E73-94E1-F182E06A68A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>
              <a:extLst>
                <a:ext uri="{FF2B5EF4-FFF2-40B4-BE49-F238E27FC236}">
                  <a16:creationId xmlns:a16="http://schemas.microsoft.com/office/drawing/2014/main" id="{F264C382-1F30-4D8E-91C6-1960D13A50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>
              <a:extLst>
                <a:ext uri="{FF2B5EF4-FFF2-40B4-BE49-F238E27FC236}">
                  <a16:creationId xmlns:a16="http://schemas.microsoft.com/office/drawing/2014/main" id="{25224C1B-2C6A-4F58-9835-5B6B0CD1CC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>
              <a:extLst>
                <a:ext uri="{FF2B5EF4-FFF2-40B4-BE49-F238E27FC236}">
                  <a16:creationId xmlns:a16="http://schemas.microsoft.com/office/drawing/2014/main" id="{99F95225-B0B8-4637-A794-8E8501A384B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>
              <a:extLst>
                <a:ext uri="{FF2B5EF4-FFF2-40B4-BE49-F238E27FC236}">
                  <a16:creationId xmlns:a16="http://schemas.microsoft.com/office/drawing/2014/main" id="{6A8B5657-BCD0-40CB-B9EA-EC999E03901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>
              <a:extLst>
                <a:ext uri="{FF2B5EF4-FFF2-40B4-BE49-F238E27FC236}">
                  <a16:creationId xmlns:a16="http://schemas.microsoft.com/office/drawing/2014/main" id="{545CA83B-7C9E-455F-95E4-35B7A056215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>
              <a:extLst>
                <a:ext uri="{FF2B5EF4-FFF2-40B4-BE49-F238E27FC236}">
                  <a16:creationId xmlns:a16="http://schemas.microsoft.com/office/drawing/2014/main" id="{86FD7A18-3334-4362-960C-2A6FC5F67E7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>
              <a:extLst>
                <a:ext uri="{FF2B5EF4-FFF2-40B4-BE49-F238E27FC236}">
                  <a16:creationId xmlns:a16="http://schemas.microsoft.com/office/drawing/2014/main" id="{86B8D299-9339-4702-A83B-038392EA13D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>
              <a:extLst>
                <a:ext uri="{FF2B5EF4-FFF2-40B4-BE49-F238E27FC236}">
                  <a16:creationId xmlns:a16="http://schemas.microsoft.com/office/drawing/2014/main" id="{C05CDB97-4132-4059-8025-49A497CA92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>
              <a:extLst>
                <a:ext uri="{FF2B5EF4-FFF2-40B4-BE49-F238E27FC236}">
                  <a16:creationId xmlns:a16="http://schemas.microsoft.com/office/drawing/2014/main" id="{1C100573-D882-4799-9BCF-5579DA8C826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>
              <a:extLst>
                <a:ext uri="{FF2B5EF4-FFF2-40B4-BE49-F238E27FC236}">
                  <a16:creationId xmlns:a16="http://schemas.microsoft.com/office/drawing/2014/main" id="{9F0FA0E2-2814-4DFA-B560-B92C2A0A467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>
              <a:extLst>
                <a:ext uri="{FF2B5EF4-FFF2-40B4-BE49-F238E27FC236}">
                  <a16:creationId xmlns:a16="http://schemas.microsoft.com/office/drawing/2014/main" id="{70B3B9A2-5543-4C1E-907D-7000782965D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>
              <a:extLst>
                <a:ext uri="{FF2B5EF4-FFF2-40B4-BE49-F238E27FC236}">
                  <a16:creationId xmlns:a16="http://schemas.microsoft.com/office/drawing/2014/main" id="{C795110E-FBDF-4C11-8FEC-7C8C79C3BE3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>
              <a:extLst>
                <a:ext uri="{FF2B5EF4-FFF2-40B4-BE49-F238E27FC236}">
                  <a16:creationId xmlns:a16="http://schemas.microsoft.com/office/drawing/2014/main" id="{C45300A0-C35F-4942-B14A-C4F8CE85F2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>
              <a:extLst>
                <a:ext uri="{FF2B5EF4-FFF2-40B4-BE49-F238E27FC236}">
                  <a16:creationId xmlns:a16="http://schemas.microsoft.com/office/drawing/2014/main" id="{427CC614-001E-4826-A460-64DB7D6A43A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>
              <a:extLst>
                <a:ext uri="{FF2B5EF4-FFF2-40B4-BE49-F238E27FC236}">
                  <a16:creationId xmlns:a16="http://schemas.microsoft.com/office/drawing/2014/main" id="{3CF50919-5802-4F73-A5FA-2F384C55EBF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>
              <a:extLst>
                <a:ext uri="{FF2B5EF4-FFF2-40B4-BE49-F238E27FC236}">
                  <a16:creationId xmlns:a16="http://schemas.microsoft.com/office/drawing/2014/main" id="{8881EC7A-6B0E-4240-B7DF-77E53A42028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>
              <a:extLst>
                <a:ext uri="{FF2B5EF4-FFF2-40B4-BE49-F238E27FC236}">
                  <a16:creationId xmlns:a16="http://schemas.microsoft.com/office/drawing/2014/main" id="{93ABCD5D-F355-4501-AED1-25C89C0E6F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>
              <a:extLst>
                <a:ext uri="{FF2B5EF4-FFF2-40B4-BE49-F238E27FC236}">
                  <a16:creationId xmlns:a16="http://schemas.microsoft.com/office/drawing/2014/main" id="{BBDCC998-4230-4F20-A2E5-37A005478F5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>
              <a:extLst>
                <a:ext uri="{FF2B5EF4-FFF2-40B4-BE49-F238E27FC236}">
                  <a16:creationId xmlns:a16="http://schemas.microsoft.com/office/drawing/2014/main" id="{92055003-E365-4C48-93BD-F68C52CA3F4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>
              <a:extLst>
                <a:ext uri="{FF2B5EF4-FFF2-40B4-BE49-F238E27FC236}">
                  <a16:creationId xmlns:a16="http://schemas.microsoft.com/office/drawing/2014/main" id="{864C159D-529A-4F18-A058-26F591C4E7C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>
              <a:extLst>
                <a:ext uri="{FF2B5EF4-FFF2-40B4-BE49-F238E27FC236}">
                  <a16:creationId xmlns:a16="http://schemas.microsoft.com/office/drawing/2014/main" id="{33D095F8-861D-466C-AE50-D8A2AAF2962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>
              <a:extLst>
                <a:ext uri="{FF2B5EF4-FFF2-40B4-BE49-F238E27FC236}">
                  <a16:creationId xmlns:a16="http://schemas.microsoft.com/office/drawing/2014/main" id="{1693B8CA-5F2C-4D68-B258-F2060C0AA67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>
              <a:extLst>
                <a:ext uri="{FF2B5EF4-FFF2-40B4-BE49-F238E27FC236}">
                  <a16:creationId xmlns:a16="http://schemas.microsoft.com/office/drawing/2014/main" id="{CF4CB899-72F1-471A-8827-C76CB3020AB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>
              <a:extLst>
                <a:ext uri="{FF2B5EF4-FFF2-40B4-BE49-F238E27FC236}">
                  <a16:creationId xmlns:a16="http://schemas.microsoft.com/office/drawing/2014/main" id="{ABB2800F-1B33-4062-A71E-4B610D8977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>
              <a:extLst>
                <a:ext uri="{FF2B5EF4-FFF2-40B4-BE49-F238E27FC236}">
                  <a16:creationId xmlns:a16="http://schemas.microsoft.com/office/drawing/2014/main" id="{6FFF9AA6-E7FC-4312-AD92-8C6E8AB5FAA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>
              <a:extLst>
                <a:ext uri="{FF2B5EF4-FFF2-40B4-BE49-F238E27FC236}">
                  <a16:creationId xmlns:a16="http://schemas.microsoft.com/office/drawing/2014/main" id="{7654282E-411D-47A4-BEDD-F1D36963D61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>
              <a:extLst>
                <a:ext uri="{FF2B5EF4-FFF2-40B4-BE49-F238E27FC236}">
                  <a16:creationId xmlns:a16="http://schemas.microsoft.com/office/drawing/2014/main" id="{BB64D69C-CAE2-4922-A4AF-662CF5AB17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>
              <a:extLst>
                <a:ext uri="{FF2B5EF4-FFF2-40B4-BE49-F238E27FC236}">
                  <a16:creationId xmlns:a16="http://schemas.microsoft.com/office/drawing/2014/main" id="{2ED80A6D-4378-441A-B270-796047A1C38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>
              <a:extLst>
                <a:ext uri="{FF2B5EF4-FFF2-40B4-BE49-F238E27FC236}">
                  <a16:creationId xmlns:a16="http://schemas.microsoft.com/office/drawing/2014/main" id="{0A86051E-8AAA-439F-B366-AEE843A3C1C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>
              <a:extLst>
                <a:ext uri="{FF2B5EF4-FFF2-40B4-BE49-F238E27FC236}">
                  <a16:creationId xmlns:a16="http://schemas.microsoft.com/office/drawing/2014/main" id="{6571B322-E3F3-42C3-AF20-854FF13493B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>
              <a:extLst>
                <a:ext uri="{FF2B5EF4-FFF2-40B4-BE49-F238E27FC236}">
                  <a16:creationId xmlns:a16="http://schemas.microsoft.com/office/drawing/2014/main" id="{C9C5DBCF-AD15-4C4B-8582-BCD483745B3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>
              <a:extLst>
                <a:ext uri="{FF2B5EF4-FFF2-40B4-BE49-F238E27FC236}">
                  <a16:creationId xmlns:a16="http://schemas.microsoft.com/office/drawing/2014/main" id="{B023E1B3-F129-43D8-8F04-43AFFDEC2A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>
              <a:extLst>
                <a:ext uri="{FF2B5EF4-FFF2-40B4-BE49-F238E27FC236}">
                  <a16:creationId xmlns:a16="http://schemas.microsoft.com/office/drawing/2014/main" id="{A44BE531-DC1E-4791-8B3F-FF2586CC777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>
              <a:extLst>
                <a:ext uri="{FF2B5EF4-FFF2-40B4-BE49-F238E27FC236}">
                  <a16:creationId xmlns:a16="http://schemas.microsoft.com/office/drawing/2014/main" id="{030105FD-9954-400B-90B6-3871CC4198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>
              <a:extLst>
                <a:ext uri="{FF2B5EF4-FFF2-40B4-BE49-F238E27FC236}">
                  <a16:creationId xmlns:a16="http://schemas.microsoft.com/office/drawing/2014/main" id="{7B8EB148-CE8F-4E9D-B4EC-7333FD9100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>
              <a:extLst>
                <a:ext uri="{FF2B5EF4-FFF2-40B4-BE49-F238E27FC236}">
                  <a16:creationId xmlns:a16="http://schemas.microsoft.com/office/drawing/2014/main" id="{AC05E91E-9EFF-47D7-A34E-F698DD9BCD1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>
              <a:extLst>
                <a:ext uri="{FF2B5EF4-FFF2-40B4-BE49-F238E27FC236}">
                  <a16:creationId xmlns:a16="http://schemas.microsoft.com/office/drawing/2014/main" id="{96F1C184-5F65-4577-B1DD-2B765CD6F1C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>
              <a:extLst>
                <a:ext uri="{FF2B5EF4-FFF2-40B4-BE49-F238E27FC236}">
                  <a16:creationId xmlns:a16="http://schemas.microsoft.com/office/drawing/2014/main" id="{4D5BFD5E-869B-4D2A-8398-725D90A2098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>
              <a:extLst>
                <a:ext uri="{FF2B5EF4-FFF2-40B4-BE49-F238E27FC236}">
                  <a16:creationId xmlns:a16="http://schemas.microsoft.com/office/drawing/2014/main" id="{AAD56FE7-6ADD-4C7B-BE6D-7A50412884C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>
              <a:extLst>
                <a:ext uri="{FF2B5EF4-FFF2-40B4-BE49-F238E27FC236}">
                  <a16:creationId xmlns:a16="http://schemas.microsoft.com/office/drawing/2014/main" id="{73FACDAE-D56F-4FE6-B31D-DC3A79D6D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>
              <a:extLst>
                <a:ext uri="{FF2B5EF4-FFF2-40B4-BE49-F238E27FC236}">
                  <a16:creationId xmlns:a16="http://schemas.microsoft.com/office/drawing/2014/main" id="{D94284AE-85BE-444E-B622-FF37C8A914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>
              <a:extLst>
                <a:ext uri="{FF2B5EF4-FFF2-40B4-BE49-F238E27FC236}">
                  <a16:creationId xmlns:a16="http://schemas.microsoft.com/office/drawing/2014/main" id="{98AAEA7A-F3F7-40C4-A2D6-4F82B7636AE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>
              <a:extLst>
                <a:ext uri="{FF2B5EF4-FFF2-40B4-BE49-F238E27FC236}">
                  <a16:creationId xmlns:a16="http://schemas.microsoft.com/office/drawing/2014/main" id="{AF51A35D-2FBA-4046-98B3-E208CF4C32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>
              <a:extLst>
                <a:ext uri="{FF2B5EF4-FFF2-40B4-BE49-F238E27FC236}">
                  <a16:creationId xmlns:a16="http://schemas.microsoft.com/office/drawing/2014/main" id="{FFBEF6AF-DFC2-43C9-9F26-2A510F6F2A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>
              <a:extLst>
                <a:ext uri="{FF2B5EF4-FFF2-40B4-BE49-F238E27FC236}">
                  <a16:creationId xmlns:a16="http://schemas.microsoft.com/office/drawing/2014/main" id="{8D649C56-0573-4634-AA61-E940650D8B99}"/>
                </a:ext>
              </a:extLst>
            </p:cNvPr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>
              <a:extLst>
                <a:ext uri="{FF2B5EF4-FFF2-40B4-BE49-F238E27FC236}">
                  <a16:creationId xmlns:a16="http://schemas.microsoft.com/office/drawing/2014/main" id="{6C083D07-F662-4B88-A7AD-D2A3001A7A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>
              <a:extLst>
                <a:ext uri="{FF2B5EF4-FFF2-40B4-BE49-F238E27FC236}">
                  <a16:creationId xmlns:a16="http://schemas.microsoft.com/office/drawing/2014/main" id="{52719EEC-4A5A-4B27-AF60-54D11F4CC9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>
              <a:extLst>
                <a:ext uri="{FF2B5EF4-FFF2-40B4-BE49-F238E27FC236}">
                  <a16:creationId xmlns:a16="http://schemas.microsoft.com/office/drawing/2014/main" id="{497702AA-B85C-43F5-8191-1EE8B9EB392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>
              <a:extLst>
                <a:ext uri="{FF2B5EF4-FFF2-40B4-BE49-F238E27FC236}">
                  <a16:creationId xmlns:a16="http://schemas.microsoft.com/office/drawing/2014/main" id="{DC6FAF18-E30C-4311-80B3-BA1CB010124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>
              <a:extLst>
                <a:ext uri="{FF2B5EF4-FFF2-40B4-BE49-F238E27FC236}">
                  <a16:creationId xmlns:a16="http://schemas.microsoft.com/office/drawing/2014/main" id="{9B06496D-42D9-4B23-AA94-0DF6F47EAB7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>
              <a:extLst>
                <a:ext uri="{FF2B5EF4-FFF2-40B4-BE49-F238E27FC236}">
                  <a16:creationId xmlns:a16="http://schemas.microsoft.com/office/drawing/2014/main" id="{4E23B2FC-7FDB-492C-97FE-8D6CC5FCD28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>
              <a:extLst>
                <a:ext uri="{FF2B5EF4-FFF2-40B4-BE49-F238E27FC236}">
                  <a16:creationId xmlns:a16="http://schemas.microsoft.com/office/drawing/2014/main" id="{9DEDC81D-E949-4266-9944-35BFA0DB695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>
              <a:extLst>
                <a:ext uri="{FF2B5EF4-FFF2-40B4-BE49-F238E27FC236}">
                  <a16:creationId xmlns:a16="http://schemas.microsoft.com/office/drawing/2014/main" id="{0FE9C02B-9BE5-4C0A-AB91-626F2E7C37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>
              <a:extLst>
                <a:ext uri="{FF2B5EF4-FFF2-40B4-BE49-F238E27FC236}">
                  <a16:creationId xmlns:a16="http://schemas.microsoft.com/office/drawing/2014/main" id="{106CEB60-669D-4F08-B9A7-2E4D35D8EAF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>
              <a:extLst>
                <a:ext uri="{FF2B5EF4-FFF2-40B4-BE49-F238E27FC236}">
                  <a16:creationId xmlns:a16="http://schemas.microsoft.com/office/drawing/2014/main" id="{B8238780-CAD2-4991-B1A3-F3AF2ECA47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>
              <a:extLst>
                <a:ext uri="{FF2B5EF4-FFF2-40B4-BE49-F238E27FC236}">
                  <a16:creationId xmlns:a16="http://schemas.microsoft.com/office/drawing/2014/main" id="{DF31B18A-1226-49FC-B8F3-A71F6F7B5D2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>
              <a:extLst>
                <a:ext uri="{FF2B5EF4-FFF2-40B4-BE49-F238E27FC236}">
                  <a16:creationId xmlns:a16="http://schemas.microsoft.com/office/drawing/2014/main" id="{FDF82FA3-3896-4FCB-981C-E596BA9FE1F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>
              <a:extLst>
                <a:ext uri="{FF2B5EF4-FFF2-40B4-BE49-F238E27FC236}">
                  <a16:creationId xmlns:a16="http://schemas.microsoft.com/office/drawing/2014/main" id="{97343E89-E6C3-4C21-BBA6-3CE199E953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>
              <a:extLst>
                <a:ext uri="{FF2B5EF4-FFF2-40B4-BE49-F238E27FC236}">
                  <a16:creationId xmlns:a16="http://schemas.microsoft.com/office/drawing/2014/main" id="{5E10BDFB-3013-4973-BB77-F7EB4C9D81E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>
              <a:extLst>
                <a:ext uri="{FF2B5EF4-FFF2-40B4-BE49-F238E27FC236}">
                  <a16:creationId xmlns:a16="http://schemas.microsoft.com/office/drawing/2014/main" id="{654753FC-11FF-4DFC-8341-C03E5B7D08C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>
              <a:extLst>
                <a:ext uri="{FF2B5EF4-FFF2-40B4-BE49-F238E27FC236}">
                  <a16:creationId xmlns:a16="http://schemas.microsoft.com/office/drawing/2014/main" id="{5B3789F8-AD2E-4DB4-A477-90E2D90CB7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>
              <a:extLst>
                <a:ext uri="{FF2B5EF4-FFF2-40B4-BE49-F238E27FC236}">
                  <a16:creationId xmlns:a16="http://schemas.microsoft.com/office/drawing/2014/main" id="{D9D37BE8-9EA6-41C6-BABD-6A1865E68E8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>
              <a:extLst>
                <a:ext uri="{FF2B5EF4-FFF2-40B4-BE49-F238E27FC236}">
                  <a16:creationId xmlns:a16="http://schemas.microsoft.com/office/drawing/2014/main" id="{97368B78-3BC7-4D1C-8BE1-803E4A1D632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>
              <a:extLst>
                <a:ext uri="{FF2B5EF4-FFF2-40B4-BE49-F238E27FC236}">
                  <a16:creationId xmlns:a16="http://schemas.microsoft.com/office/drawing/2014/main" id="{CD5DEB82-90EE-4B03-9557-B57E844C1C8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>
              <a:extLst>
                <a:ext uri="{FF2B5EF4-FFF2-40B4-BE49-F238E27FC236}">
                  <a16:creationId xmlns:a16="http://schemas.microsoft.com/office/drawing/2014/main" id="{9CAA0EB0-2610-4A85-ABBA-BA80571DF29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>
              <a:extLst>
                <a:ext uri="{FF2B5EF4-FFF2-40B4-BE49-F238E27FC236}">
                  <a16:creationId xmlns:a16="http://schemas.microsoft.com/office/drawing/2014/main" id="{955C439C-F3A0-4AF9-BD5D-73ABEB989A0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>
              <a:extLst>
                <a:ext uri="{FF2B5EF4-FFF2-40B4-BE49-F238E27FC236}">
                  <a16:creationId xmlns:a16="http://schemas.microsoft.com/office/drawing/2014/main" id="{E7DDF141-6537-4E0D-BF78-43F8680569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>
              <a:extLst>
                <a:ext uri="{FF2B5EF4-FFF2-40B4-BE49-F238E27FC236}">
                  <a16:creationId xmlns:a16="http://schemas.microsoft.com/office/drawing/2014/main" id="{789A3C03-E670-4FC6-AC2C-871A522A852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2" name="Rectangle 3">
            <a:extLst>
              <a:ext uri="{FF2B5EF4-FFF2-40B4-BE49-F238E27FC236}">
                <a16:creationId xmlns:a16="http://schemas.microsoft.com/office/drawing/2014/main" id="{33476957-E834-5898-12F1-45F860C68BA7}"/>
              </a:ext>
            </a:extLst>
          </p:cNvPr>
          <p:cNvSpPr txBox="1">
            <a:spLocks noChangeArrowheads="1"/>
          </p:cNvSpPr>
          <p:nvPr/>
        </p:nvSpPr>
        <p:spPr>
          <a:xfrm>
            <a:off x="6125209" y="5655523"/>
            <a:ext cx="3004050" cy="12024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ClrTx/>
              <a:buFont typeface="Arial" panose="020B0604020202020204" pitchFamily="34" charset="0"/>
              <a:buNone/>
              <a:defRPr sz="2400" kern="1200" cap="none" baseline="0">
                <a:solidFill>
                  <a:srgbClr val="002060"/>
                </a:solidFill>
                <a:latin typeface="AAchalk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altLang="en-US" b="1" dirty="0">
                <a:latin typeface="ManiezzoSlides" pitchFamily="2" charset="0"/>
              </a:rPr>
              <a:t>Livio </a:t>
            </a:r>
            <a:r>
              <a:rPr lang="it-IT" altLang="en-US" b="1" dirty="0" err="1">
                <a:latin typeface="ManiezzoSlides" pitchFamily="2" charset="0"/>
              </a:rPr>
              <a:t>Fenga</a:t>
            </a:r>
            <a:endParaRPr lang="it-IT" altLang="en-US" b="1" dirty="0">
              <a:latin typeface="ManiezzoSlides" pitchFamily="2" charset="0"/>
            </a:endParaRPr>
          </a:p>
          <a:p>
            <a:pPr algn="l"/>
            <a:r>
              <a:rPr lang="it-IT" altLang="en-US" b="1" dirty="0">
                <a:latin typeface="ManiezzoSlides" pitchFamily="2" charset="0"/>
              </a:rPr>
              <a:t>University of Exeter</a:t>
            </a:r>
          </a:p>
          <a:p>
            <a:pPr algn="l"/>
            <a:r>
              <a:rPr lang="it-IT" altLang="en-US" b="1" dirty="0">
                <a:latin typeface="ManiezzoSlides" pitchFamily="2" charset="0"/>
              </a:rPr>
              <a:t>L.Fenga@exeter.ac.uk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69984B-DF76-A78D-01B2-FC4B36C71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Given a </a:t>
            </a:r>
            <a:r>
              <a:rPr lang="it-IT" sz="2400" dirty="0" err="1"/>
              <a:t>univariate</a:t>
            </a:r>
            <a:r>
              <a:rPr lang="it-IT" sz="2400" dirty="0"/>
              <a:t> time </a:t>
            </a:r>
            <a:r>
              <a:rPr lang="it-IT" sz="2400" dirty="0" err="1"/>
              <a:t>series</a:t>
            </a:r>
            <a:r>
              <a:rPr lang="it-IT" sz="2400" dirty="0"/>
              <a:t> T, </a:t>
            </a:r>
            <a:r>
              <a:rPr lang="it-IT" sz="2400" dirty="0" err="1"/>
              <a:t>changepoint</a:t>
            </a:r>
            <a:r>
              <a:rPr lang="it-IT" sz="2400" dirty="0"/>
              <a:t> </a:t>
            </a:r>
            <a:r>
              <a:rPr lang="it-IT" sz="2400" dirty="0" err="1"/>
              <a:t>detection</a:t>
            </a:r>
            <a:r>
              <a:rPr lang="it-IT" sz="2400" dirty="0"/>
              <a:t> </a:t>
            </a:r>
            <a:r>
              <a:rPr lang="it-IT" sz="2400" dirty="0" err="1"/>
              <a:t>identifies</a:t>
            </a:r>
            <a:r>
              <a:rPr lang="it-IT" sz="2400" dirty="0"/>
              <a:t> time points</a:t>
            </a:r>
            <a:r>
              <a:rPr lang="en-US" sz="2400" dirty="0"/>
              <a:t> where the statistical properties of the data undergo a significant change.</a:t>
            </a:r>
          </a:p>
          <a:p>
            <a:r>
              <a:rPr lang="en-US" sz="2400" dirty="0"/>
              <a:t>Most common use case is linear piecewise approximation, where the subseries between changepoints are approximated by best fit linear segments.</a:t>
            </a:r>
          </a:p>
          <a:p>
            <a:r>
              <a:rPr lang="en-US" sz="2400" dirty="0"/>
              <a:t>State-of-the-art methods are implemented in the ruptures package (Truong et al., 2020). Two DP-based examples: </a:t>
            </a:r>
            <a:r>
              <a:rPr lang="en-US" sz="2400" dirty="0" err="1"/>
              <a:t>Dynp</a:t>
            </a:r>
            <a:r>
              <a:rPr lang="en-US" sz="2400" dirty="0"/>
              <a:t> (requires the number of breakpoints as input) and PELT (Killick et al., 2012), which selects the number of breakpoints automatically via a penalized cost (e.g. AIC/BIC)</a:t>
            </a:r>
            <a:r>
              <a:rPr lang="da-DK" sz="2400" dirty="0"/>
              <a:t> 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894D63-7AE2-58CA-5CD8-6E209D73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Changepoint</a:t>
            </a:r>
            <a:r>
              <a:rPr lang="it-IT" dirty="0"/>
              <a:t>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0E3FE2-D6E9-C7D6-C7BF-7E2102340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EF2CD6-D9BD-4733-FAE9-2127F0649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80811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F43367-177D-9F29-4DE7-4827FCD2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200" b="1" dirty="0"/>
              <a:t>Changepoint detection </a:t>
            </a:r>
            <a:r>
              <a:rPr lang="en-US" sz="2200" dirty="0"/>
              <a:t>assumes a finite number of shifts, each permanent (the series settles into a new regime and doesn't return to the old one).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Regime-switching </a:t>
            </a:r>
            <a:r>
              <a:rPr lang="en-US" sz="2200" dirty="0"/>
              <a:t>models allow the process to revisit earlier regimes, with switches governed by some rule rather than treated as isolated breaks.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Two classical families: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Threshold-based (deterministic switching rule). SETAR (Tong 1978/1990), TAR, STAR: the AR regime in force at time t is determined by whether a lagged value of the series crosses a threshold (or smoothly transitions in case of STAR).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Markov-switching (latent stochastic switching rule). Markov-Switching Autoregressive model (Hamilton, 1989): regime is an unobserved discrete state following a Markov chain. Used for business-cycle identification (expansion / recession) and, in finance, for volatility regimes (e.g. Markov-switching GARCH).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B23E29-0E70-A065-C719-73E2FEDD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Regime switching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F471F2-13D0-D919-3BF0-99ABAB8C7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7314E3-C629-6B24-C7F7-BA376C4EF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87363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22D1EC-D93A-0840-F427-96A124F322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984" y="980484"/>
            <a:ext cx="8546175" cy="5600099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it-IT" sz="2000" dirty="0" err="1"/>
              <a:t>Segmenting</a:t>
            </a:r>
            <a:r>
              <a:rPr lang="it-IT" sz="2000" dirty="0"/>
              <a:t> the time </a:t>
            </a:r>
            <a:r>
              <a:rPr lang="it-IT" sz="2000" dirty="0" err="1"/>
              <a:t>series</a:t>
            </a:r>
            <a:r>
              <a:rPr lang="it-IT" sz="2000" dirty="0"/>
              <a:t> in </a:t>
            </a:r>
            <a:r>
              <a:rPr lang="it-IT" sz="2000" dirty="0" err="1"/>
              <a:t>order</a:t>
            </a:r>
            <a:r>
              <a:rPr lang="it-IT" sz="2000" dirty="0"/>
              <a:t> </a:t>
            </a:r>
            <a:r>
              <a:rPr lang="it-IT" sz="2000" dirty="0" err="1"/>
              <a:t>both</a:t>
            </a:r>
            <a:r>
              <a:rPr lang="it-IT" sz="2000" dirty="0"/>
              <a:t> to model </a:t>
            </a:r>
            <a:r>
              <a:rPr lang="it-IT" sz="2000" dirty="0" err="1"/>
              <a:t>active</a:t>
            </a:r>
            <a:r>
              <a:rPr lang="it-IT" sz="2000" dirty="0"/>
              <a:t> </a:t>
            </a:r>
            <a:r>
              <a:rPr lang="it-IT" sz="2000" dirty="0" err="1"/>
              <a:t>regimes</a:t>
            </a:r>
            <a:r>
              <a:rPr lang="it-IT" sz="2000" dirty="0"/>
              <a:t> in the </a:t>
            </a:r>
            <a:r>
              <a:rPr lang="it-IT" sz="2000" dirty="0" err="1"/>
              <a:t>past</a:t>
            </a:r>
            <a:r>
              <a:rPr lang="it-IT" sz="2000" dirty="0"/>
              <a:t> and forecast future </a:t>
            </a:r>
            <a:r>
              <a:rPr lang="it-IT" sz="2000" dirty="0" err="1"/>
              <a:t>behavior</a:t>
            </a:r>
            <a:r>
              <a:rPr lang="it-IT" sz="2000" dirty="0"/>
              <a:t> </a:t>
            </a:r>
            <a:r>
              <a:rPr lang="it-IT" sz="2000" dirty="0" err="1"/>
              <a:t>is</a:t>
            </a:r>
            <a:r>
              <a:rPr lang="it-IT" sz="2000" dirty="0"/>
              <a:t> </a:t>
            </a:r>
            <a:r>
              <a:rPr lang="it-IT" sz="2000" dirty="0" err="1"/>
              <a:t>largely</a:t>
            </a:r>
            <a:r>
              <a:rPr lang="it-IT" sz="2000" dirty="0"/>
              <a:t> </a:t>
            </a:r>
            <a:r>
              <a:rPr lang="it-IT" sz="2000" dirty="0" err="1"/>
              <a:t>unexplored</a:t>
            </a:r>
            <a:r>
              <a:rPr lang="it-IT" sz="20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Current changepoint detection methods are designed to model the time series in-sample; segmentation is chosen with no out-of-sample forecasting intent</a:t>
            </a:r>
            <a:r>
              <a:rPr lang="it-IT" sz="20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Even regime-switching models are built for description, not forecasting.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SETAR: switches deterministically between a fixed, predefined set of regimes — cannot represent structural changes beyond that fixed parametric set.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Markov-switching: regime is latent and only known probabilistically at the forecast origin; multi-step forecasts average over regimes, diluting the regime-specific dynamics of interest for in-sample analysis. 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(Clements &amp; Krolzig,1998, find no clear forecasting advantage over linear benchmarks for either SETAR or MS models of US GNP).</a:t>
            </a:r>
            <a:r>
              <a:rPr lang="it-IT" sz="2000" dirty="0"/>
              <a:t> </a:t>
            </a:r>
          </a:p>
          <a:p>
            <a:pPr>
              <a:spcBef>
                <a:spcPts val="600"/>
              </a:spcBef>
            </a:pPr>
            <a:r>
              <a:rPr lang="it-IT" sz="2000" dirty="0" err="1"/>
              <a:t>We</a:t>
            </a:r>
            <a:r>
              <a:rPr lang="it-IT" sz="2000" dirty="0"/>
              <a:t> propose to </a:t>
            </a:r>
            <a:r>
              <a:rPr lang="it-IT" sz="2000" dirty="0" err="1"/>
              <a:t>identify</a:t>
            </a:r>
            <a:r>
              <a:rPr lang="it-IT" sz="2000" dirty="0"/>
              <a:t> time </a:t>
            </a:r>
            <a:r>
              <a:rPr lang="it-IT" sz="2000" dirty="0" err="1"/>
              <a:t>segments</a:t>
            </a:r>
            <a:r>
              <a:rPr lang="it-IT" sz="2000" dirty="0"/>
              <a:t> </a:t>
            </a:r>
            <a:r>
              <a:rPr lang="it-IT" sz="2000" dirty="0" err="1"/>
              <a:t>using</a:t>
            </a:r>
            <a:r>
              <a:rPr lang="it-IT" sz="2000" dirty="0"/>
              <a:t> the </a:t>
            </a:r>
            <a:r>
              <a:rPr lang="it-IT" sz="2000" dirty="0" err="1"/>
              <a:t>predictive</a:t>
            </a:r>
            <a:r>
              <a:rPr lang="it-IT" sz="2000" dirty="0"/>
              <a:t> </a:t>
            </a:r>
            <a:r>
              <a:rPr lang="it-IT" sz="2000" dirty="0" err="1"/>
              <a:t>accuracy</a:t>
            </a:r>
            <a:r>
              <a:rPr lang="it-IT" sz="2000" dirty="0"/>
              <a:t> of a forecasting model (AR, theta, MLP, … ) </a:t>
            </a:r>
            <a:r>
              <a:rPr lang="it-IT" sz="2000" dirty="0" err="1"/>
              <a:t>as</a:t>
            </a:r>
            <a:r>
              <a:rPr lang="it-IT" sz="2000" dirty="0"/>
              <a:t> a cost </a:t>
            </a:r>
            <a:r>
              <a:rPr lang="it-IT" sz="2000" dirty="0" err="1"/>
              <a:t>function</a:t>
            </a:r>
            <a:r>
              <a:rPr lang="it-IT" sz="2000" dirty="0"/>
              <a:t>, </a:t>
            </a:r>
            <a:r>
              <a:rPr lang="en-US" sz="2000" dirty="0"/>
              <a:t>in place of the standard in-sample fit criteria (e.g. RSS/likelihood) used by existing segmentation methods</a:t>
            </a:r>
            <a:r>
              <a:rPr lang="it-IT" sz="2000" dirty="0"/>
              <a:t>.</a:t>
            </a:r>
          </a:p>
          <a:p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26C9AB-1D10-A54D-01BA-123273E9D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Modelling</a:t>
            </a:r>
            <a:r>
              <a:rPr lang="it-IT" dirty="0"/>
              <a:t> and forecasting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8308F5-E23D-03CC-8FE1-D1F8C430F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12120D-E22B-84A0-BB50-666DBE375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51182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sz="2400"/>
                  <a:t>We generate all feasible time segments (suitable length and other segment-level constraints).</a:t>
                </a:r>
              </a:p>
              <a:p>
                <a:r>
                  <a:rPr lang="en-US" sz="2400" dirty="0"/>
                  <a:t>We apply the forecasting model of interest to each segment.</a:t>
                </a:r>
              </a:p>
              <a:p>
                <a:r>
                  <a:rPr lang="en-US" sz="2400" dirty="0"/>
                  <a:t>Each segment cost is the RMSE of the forecast on its following validation interval.</a:t>
                </a:r>
              </a:p>
              <a:p>
                <a:r>
                  <a:rPr lang="en-US" sz="2400" dirty="0"/>
                  <a:t>We identify the subset of segments  that collectively partitions the whole input series of minimum average cost, solving – and possibly extending – the SPP-like formulation</a:t>
                </a:r>
              </a:p>
              <a:p>
                <a:pPr>
                  <a:tabLst>
                    <a:tab pos="1257300" algn="l"/>
                    <a:tab pos="2171700" algn="l"/>
                  </a:tabLst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40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lim>
                    </m:limLow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s.t.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en-US" sz="2400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400" smtClean="0"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1, … , </a:t>
                </a:r>
                <a:r>
                  <a:rPr lang="en-US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npoints</a:t>
                </a:r>
                <a:endParaRPr lang="en-US" sz="2400" i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0,1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624" b="-6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6477BA4-3C01-F1A8-C90B-50E2D5492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Segment</a:t>
            </a:r>
            <a:r>
              <a:rPr lang="it-IT" dirty="0"/>
              <a:t> and forecast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DF49CE-7140-FD6A-2D00-2147CBE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8184F4-9DD8-E80A-4651-91B3E58DC8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79333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objective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non linear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it-IT" i="0" dirty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lim>
                      </m:limLow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it-IT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it-IT" dirty="0"/>
              </a:p>
              <a:p>
                <a:r>
                  <a:rPr lang="en-US" dirty="0"/>
                  <a:t>For any value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sz="3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it-IT" sz="3200" i="0" dirty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acc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it-IT" sz="1600" dirty="0"/>
                  <a:t> </a:t>
                </a:r>
              </a:p>
              <a:p>
                <a:r>
                  <a:rPr lang="it-IT" dirty="0"/>
                  <a:t>Let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it-IT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it-IT" i="0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it-IT" i="1" dirty="0" err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b="0" i="1" dirty="0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</m:d>
                          </m:e>
                        </m:nary>
                        <m:sSub>
                          <m:sSubPr>
                            <m:ctrlPr>
                              <a:rPr lang="it-IT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func>
                  </m:oMath>
                </a14:m>
                <a:r>
                  <a:rPr lang="it-IT" dirty="0"/>
                  <a:t> </a:t>
                </a:r>
              </a:p>
              <a:p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is convex and non-increasing in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it-IT" dirty="0"/>
                  <a:t>, </a:t>
                </a:r>
              </a:p>
              <a:p>
                <a:pPr>
                  <a:spcBef>
                    <a:spcPts val="600"/>
                  </a:spcBef>
                </a:pPr>
                <a:r>
                  <a:rPr lang="en-US" dirty="0"/>
                  <a:t>Let the optimal value be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spcBef>
                    <a:spcPts val="600"/>
                  </a:spcBef>
                </a:pPr>
                <a:r>
                  <a:rPr lang="en-US" dirty="0"/>
                  <a:t>Finding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is equivalent to finding the zero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it-IT" dirty="0"/>
                  <a:t> </a:t>
                </a:r>
              </a:p>
              <a:p>
                <a:pPr>
                  <a:spcBef>
                    <a:spcPts val="600"/>
                  </a:spcBef>
                </a:pPr>
                <a:r>
                  <a:rPr lang="it-IT" dirty="0"/>
                  <a:t>Newton-like </a:t>
                </a:r>
                <a:r>
                  <a:rPr lang="it-IT" dirty="0" err="1"/>
                  <a:t>descent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b="1" i="1" dirty="0" err="1"/>
                  <a:t>superlinear</a:t>
                </a:r>
                <a:r>
                  <a:rPr lang="it-IT" dirty="0"/>
                  <a:t> in </a:t>
                </a:r>
                <a:r>
                  <a:rPr lang="it-IT" dirty="0" err="1"/>
                  <a:t>this</a:t>
                </a:r>
                <a:r>
                  <a:rPr lang="it-IT" dirty="0"/>
                  <a:t> case</a:t>
                </a:r>
              </a:p>
              <a:p>
                <a:r>
                  <a:rPr lang="en-US" sz="1700" dirty="0" err="1"/>
                  <a:t>Dinkelbach</a:t>
                </a:r>
                <a:r>
                  <a:rPr lang="en-US" sz="1700" dirty="0"/>
                  <a:t>, W. (1967). </a:t>
                </a:r>
                <a:r>
                  <a:rPr lang="en-US" sz="1700" b="1" dirty="0"/>
                  <a:t>On nonlinear fractional programming</a:t>
                </a:r>
                <a:r>
                  <a:rPr lang="en-US" sz="1700" dirty="0"/>
                  <a:t>. </a:t>
                </a:r>
                <a:r>
                  <a:rPr lang="en-US" sz="1700" i="1" dirty="0"/>
                  <a:t>Management Science</a:t>
                </a:r>
                <a:r>
                  <a:rPr lang="en-US" sz="1700" dirty="0"/>
                  <a:t>, 13(7), 492–498.</a:t>
                </a:r>
                <a:endParaRPr lang="en-US" sz="35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84" t="-18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E05391F-5473-33A0-8703-78AA31F25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Fractional</a:t>
            </a:r>
            <a:r>
              <a:rPr lang="it-IT" dirty="0"/>
              <a:t> programming </a:t>
            </a:r>
            <a:r>
              <a:rPr lang="it-IT" dirty="0" err="1"/>
              <a:t>at</a:t>
            </a:r>
            <a:r>
              <a:rPr lang="it-IT" dirty="0"/>
              <a:t> work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2AB5ED-A138-C456-8385-907E82378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93DF63-2153-9ED3-67EA-84195BB1B9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77226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BF42E2-88E9-CF37-0415-596CF6751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7285"/>
            <a:ext cx="8546175" cy="55516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/>
              <a:t>Benchmark sets from the </a:t>
            </a:r>
            <a:r>
              <a:rPr lang="en-US" sz="2600" dirty="0">
                <a:solidFill>
                  <a:srgbClr val="C00000"/>
                </a:solidFill>
              </a:rPr>
              <a:t>M competitions</a:t>
            </a:r>
            <a:r>
              <a:rPr lang="en-US" sz="2600" i="1" baseline="30000" dirty="0">
                <a:solidFill>
                  <a:srgbClr val="C00000"/>
                </a:solidFill>
              </a:rPr>
              <a:t>1</a:t>
            </a:r>
            <a:r>
              <a:rPr lang="en-US" sz="2600" dirty="0">
                <a:solidFill>
                  <a:srgbClr val="C00000"/>
                </a:solidFill>
              </a:rPr>
              <a:t> </a:t>
            </a:r>
            <a:r>
              <a:rPr lang="en-US" sz="2600" dirty="0"/>
              <a:t>on time series forecasting: 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M3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M4 (micro, industry, macro, finance, demographic, other)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5 series randomly selected within each category.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+ a preliminary small set of </a:t>
            </a:r>
            <a:r>
              <a:rPr lang="en-US" sz="2600" dirty="0">
                <a:solidFill>
                  <a:srgbClr val="C00000"/>
                </a:solidFill>
              </a:rPr>
              <a:t>IoT series</a:t>
            </a:r>
            <a:r>
              <a:rPr lang="en-US" sz="2600" dirty="0"/>
              <a:t>.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Forecasting models are autoregressive AR(1), ETS Holt-Winters, theta, random forest.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Code</a:t>
            </a:r>
            <a:r>
              <a:rPr lang="en-US" sz="2600" dirty="0"/>
              <a:t> in Python, </a:t>
            </a:r>
            <a:r>
              <a:rPr lang="en-US" sz="2600" dirty="0" err="1"/>
              <a:t>Gurobi</a:t>
            </a:r>
            <a:r>
              <a:rPr lang="en-US" sz="2600" dirty="0"/>
              <a:t> solver, platform desktop Windows 11.</a:t>
            </a:r>
          </a:p>
          <a:p>
            <a:pPr>
              <a:lnSpc>
                <a:spcPct val="120000"/>
              </a:lnSpc>
            </a:pPr>
            <a:r>
              <a:rPr lang="en-US" sz="2200" i="1" baseline="30000" dirty="0"/>
              <a:t>1</a:t>
            </a:r>
            <a:r>
              <a:rPr lang="en-US" sz="1600" dirty="0"/>
              <a:t> https://en.wikipedia.org/wiki/Makridakis_Competitions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076A18-B4A4-A350-FFBF-1B9602B7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Testsets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D1E5F-152B-B376-E87E-EDB6374A1A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0E8CF-948D-D45B-4090-98FC2F2300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9786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2A413F-B80D-3086-6990-5D5FE8FE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M3, N1747, AR(1)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16D30-0ACA-53ED-5474-5B7ACEFA76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4863E-09D4-AA72-6471-7CFF16949C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67BDA9E-28C3-1ADD-B159-C5E97CB3C9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6"/>
            <a:ext cx="8547100" cy="5128260"/>
          </a:xfrm>
        </p:spPr>
      </p:pic>
    </p:spTree>
    <p:extLst>
      <p:ext uri="{BB962C8B-B14F-4D97-AF65-F5344CB8AC3E}">
        <p14:creationId xmlns:p14="http://schemas.microsoft.com/office/powerpoint/2010/main" val="3374337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C5709A7-B98C-487A-2CF2-67AD38A814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A86CC21-986E-DA33-379D-CA6BF2847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5CA97B-2B08-1EF8-FC15-ABAAC09EE1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0EA925-3C21-4AEC-C15E-440F3A35C4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29802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D261F9-0EEB-62AE-7371-59BC9A0BC8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128E97F-CF4F-6210-5825-92762BD7D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758112-A68F-F2EC-4BDC-99D9F37D44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1F847-FCA2-5059-808B-7E36BB7BA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69957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83A32C1-7F94-DFA7-F535-F36D27C393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B39B274-1A24-43AA-5127-17D078903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B9F36E-9940-1A5C-4148-290E7FA8A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A447A3-F0AE-D72C-98C2-DA4FA47786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59625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6F65F77-B5A1-414C-3E34-449CE2144F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EDA0331-1F9A-ED65-A6C3-C6674EC55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38EBAC-FECF-321B-74D1-E99F552D45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24CD23-AEC2-6651-31AF-2148B20E2C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75126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DC0BCF5-982A-11D5-CE58-7EA05D21A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02E7A77-6743-3721-789F-F48C2DDEA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F16003-4958-80D3-9D51-59CA33E157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4D29BF-3DAD-AE80-F8C9-59FF7C7E60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96562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FB4306-C992-F52C-4659-0DB89530B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But …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5CC36B-1AFE-1897-7E29-D8A012E131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DB8BF-1FE7-A949-E6DA-1F12D07CB4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02A8E-A1D3-284B-E0D3-BAC035A658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42534"/>
            <a:ext cx="8547100" cy="5120645"/>
          </a:xfrm>
        </p:spPr>
      </p:pic>
    </p:spTree>
    <p:extLst>
      <p:ext uri="{BB962C8B-B14F-4D97-AF65-F5344CB8AC3E}">
        <p14:creationId xmlns:p14="http://schemas.microsoft.com/office/powerpoint/2010/main" val="27977755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2696</TotalTime>
  <Words>865</Words>
  <Application>Microsoft Office PowerPoint</Application>
  <PresentationFormat>On-screen Show (4:3)</PresentationFormat>
  <Paragraphs>80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AAchalk</vt:lpstr>
      <vt:lpstr>Arial</vt:lpstr>
      <vt:lpstr>Calibri Light</vt:lpstr>
      <vt:lpstr>Cambria</vt:lpstr>
      <vt:lpstr>Cambria Math</vt:lpstr>
      <vt:lpstr>ManiezzoSlides</vt:lpstr>
      <vt:lpstr>Wingdings</vt:lpstr>
      <vt:lpstr>ThemeQuadretti</vt:lpstr>
      <vt:lpstr>Forecasting-oriented changepoint detection</vt:lpstr>
      <vt:lpstr>Changepoint detection</vt:lpstr>
      <vt:lpstr>Regime switching detection</vt:lpstr>
      <vt:lpstr>Modelling and forecasting</vt:lpstr>
      <vt:lpstr>Segment and forecast</vt:lpstr>
      <vt:lpstr>Fractional programming at work</vt:lpstr>
      <vt:lpstr>Testsets</vt:lpstr>
      <vt:lpstr>M3, N1747, AR(1)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But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276</cp:revision>
  <cp:lastPrinted>2026-08-30T16:21:59Z</cp:lastPrinted>
  <dcterms:created xsi:type="dcterms:W3CDTF">2024-02-06T11:14:54Z</dcterms:created>
  <dcterms:modified xsi:type="dcterms:W3CDTF">2026-09-04T13:15:55Z</dcterms:modified>
</cp:coreProperties>
</file>