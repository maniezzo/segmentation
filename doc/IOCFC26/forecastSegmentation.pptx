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71" r:id="rId5"/>
    <p:sldId id="273" r:id="rId6"/>
    <p:sldId id="268" r:id="rId7"/>
    <p:sldId id="272" r:id="rId8"/>
    <p:sldId id="261" r:id="rId9"/>
    <p:sldId id="262" r:id="rId10"/>
    <p:sldId id="263" r:id="rId11"/>
    <p:sldId id="264" r:id="rId12"/>
    <p:sldId id="265" r:id="rId13"/>
    <p:sldId id="267" r:id="rId14"/>
    <p:sldId id="266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87" d="100"/>
          <a:sy n="87" d="100"/>
        </p:scale>
        <p:origin x="749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Forecasting-oriented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080" y="565552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33476957-E834-5898-12F1-45F860C68BA7}"/>
              </a:ext>
            </a:extLst>
          </p:cNvPr>
          <p:cNvSpPr txBox="1">
            <a:spLocks noChangeArrowheads="1"/>
          </p:cNvSpPr>
          <p:nvPr/>
        </p:nvSpPr>
        <p:spPr>
          <a:xfrm>
            <a:off x="6125209" y="5655523"/>
            <a:ext cx="3004050" cy="12024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400" kern="1200" cap="none" baseline="0">
                <a:solidFill>
                  <a:srgbClr val="002060"/>
                </a:solidFill>
                <a:latin typeface="AAchalk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altLang="en-US" b="1" dirty="0">
                <a:latin typeface="ManiezzoSlides" pitchFamily="2" charset="0"/>
              </a:rPr>
              <a:t>Livio </a:t>
            </a:r>
            <a:r>
              <a:rPr lang="it-IT" altLang="en-US" b="1" dirty="0" err="1">
                <a:latin typeface="ManiezzoSlides" pitchFamily="2" charset="0"/>
              </a:rPr>
              <a:t>Fenga</a:t>
            </a:r>
            <a:endParaRPr lang="it-IT" altLang="en-US" b="1" dirty="0">
              <a:latin typeface="ManiezzoSlides" pitchFamily="2" charset="0"/>
            </a:endParaRPr>
          </a:p>
          <a:p>
            <a:pPr algn="l"/>
            <a:r>
              <a:rPr lang="it-IT" altLang="en-US" b="1" dirty="0">
                <a:latin typeface="ManiezzoSlides" pitchFamily="2" charset="0"/>
              </a:rPr>
              <a:t>University of Exeter</a:t>
            </a:r>
          </a:p>
          <a:p>
            <a:pPr algn="l"/>
            <a:r>
              <a:rPr lang="it-IT" altLang="en-US" b="1" dirty="0">
                <a:latin typeface="ManiezzoSlides" pitchFamily="2" charset="0"/>
              </a:rPr>
              <a:t>L.Fenga@exeter.ac.uk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69984B-DF76-A78D-01B2-FC4B36C71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Given a </a:t>
            </a:r>
            <a:r>
              <a:rPr lang="it-IT" sz="2400" dirty="0" err="1"/>
              <a:t>univariate</a:t>
            </a:r>
            <a:r>
              <a:rPr lang="it-IT" sz="2400" dirty="0"/>
              <a:t> time </a:t>
            </a:r>
            <a:r>
              <a:rPr lang="it-IT" sz="2400" dirty="0" err="1"/>
              <a:t>series</a:t>
            </a:r>
            <a:r>
              <a:rPr lang="it-IT" sz="2400" dirty="0"/>
              <a:t> T, </a:t>
            </a:r>
            <a:r>
              <a:rPr lang="it-IT" sz="2400" dirty="0" err="1"/>
              <a:t>changepoint</a:t>
            </a:r>
            <a:r>
              <a:rPr lang="it-IT" sz="2400" dirty="0"/>
              <a:t> </a:t>
            </a:r>
            <a:r>
              <a:rPr lang="it-IT" sz="2400" dirty="0" err="1"/>
              <a:t>detection</a:t>
            </a:r>
            <a:r>
              <a:rPr lang="it-IT" sz="2400" dirty="0"/>
              <a:t> </a:t>
            </a:r>
            <a:r>
              <a:rPr lang="it-IT" sz="2400" dirty="0" err="1"/>
              <a:t>identifies</a:t>
            </a:r>
            <a:r>
              <a:rPr lang="it-IT" sz="2400" dirty="0"/>
              <a:t> time points</a:t>
            </a:r>
            <a:r>
              <a:rPr lang="en-US" sz="2400" dirty="0"/>
              <a:t> where the statistical properties of the data undergo a significant change.</a:t>
            </a:r>
          </a:p>
          <a:p>
            <a:r>
              <a:rPr lang="en-US" sz="2400" dirty="0"/>
              <a:t>Most common use case is linear piecewise approximation, where the subseries between changepoints is approximated by best fit linear segments.</a:t>
            </a:r>
          </a:p>
          <a:p>
            <a:r>
              <a:rPr lang="en-US" sz="2400" dirty="0"/>
              <a:t>State-of-the-art methods are implemented in the ruptures package (Truong et al., 2020). Two DP-based examples: </a:t>
            </a:r>
            <a:r>
              <a:rPr lang="en-US" sz="2400" dirty="0" err="1"/>
              <a:t>Dynp</a:t>
            </a:r>
            <a:r>
              <a:rPr lang="en-US" sz="2400" dirty="0"/>
              <a:t> (requires the number of breakpoints as input) and PELT (Killick et al., 2012), which selects the number of breakpoints automatically via a penalized cost (e.g. AIC/BIC)</a:t>
            </a:r>
            <a:r>
              <a:rPr lang="da-DK" sz="2400" dirty="0"/>
              <a:t>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894D63-7AE2-58CA-5CD8-6E209D7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Changepoint</a:t>
            </a:r>
            <a:r>
              <a:rPr lang="it-IT" dirty="0"/>
              <a:t>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E3FE2-D6E9-C7D6-C7BF-7E2102340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F2CD6-D9BD-4733-FAE9-2127F0649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8081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F43367-177D-9F29-4DE7-4827FCD2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200" b="1" dirty="0"/>
              <a:t>Changepoint detection </a:t>
            </a:r>
            <a:r>
              <a:rPr lang="en-US" sz="2200" dirty="0"/>
              <a:t>assumes a finite number of shifts, each permanent (the series settles into a new regime and doesn't return to the old one).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Regime-switching </a:t>
            </a:r>
            <a:r>
              <a:rPr lang="en-US" sz="2200" dirty="0"/>
              <a:t>models allow the process to revisit earlier regimes, with switches governed by some rule rather than treated as isolated breaks.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Two classical families: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Threshold-based (deterministic switching rule). SETAR (Tong 1978/1990), TAR, STAR: the AR regime in force at time t is determined by whether a lagged value of the series crosses a threshold (or smoothly transitions in case of STAR).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Markov-switching (latent stochastic switching rule). Markov-Switching Autoregressive model (Hamilton, 1989): regime is an unobserved discrete state following a Markov chain. Widely used for business-cycle dating (expansion vs. recession) and, in finance, for volatility regimes (e.g. Markov-switching GARCH).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B23E29-0E70-A065-C719-73E2FEDD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Regime switching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471F2-13D0-D919-3BF0-99ABAB8C7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314E3-C629-6B24-C7F7-BA376C4EF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8736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22D1EC-D93A-0840-F427-96A124F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984" y="980484"/>
            <a:ext cx="8546175" cy="5600099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it-IT" sz="2000" dirty="0" err="1"/>
              <a:t>Segmenting</a:t>
            </a:r>
            <a:r>
              <a:rPr lang="it-IT" sz="2000" dirty="0"/>
              <a:t> the time </a:t>
            </a:r>
            <a:r>
              <a:rPr lang="it-IT" sz="2000" dirty="0" err="1"/>
              <a:t>series</a:t>
            </a:r>
            <a:r>
              <a:rPr lang="it-IT" sz="2000" dirty="0"/>
              <a:t> in </a:t>
            </a:r>
            <a:r>
              <a:rPr lang="it-IT" sz="2000" dirty="0" err="1"/>
              <a:t>order</a:t>
            </a:r>
            <a:r>
              <a:rPr lang="it-IT" sz="2000" dirty="0"/>
              <a:t> </a:t>
            </a:r>
            <a:r>
              <a:rPr lang="it-IT" sz="2000" dirty="0" err="1"/>
              <a:t>both</a:t>
            </a:r>
            <a:r>
              <a:rPr lang="it-IT" sz="2000" dirty="0"/>
              <a:t> to model </a:t>
            </a:r>
            <a:r>
              <a:rPr lang="it-IT" sz="2000" dirty="0" err="1"/>
              <a:t>active</a:t>
            </a:r>
            <a:r>
              <a:rPr lang="it-IT" sz="2000" dirty="0"/>
              <a:t> </a:t>
            </a:r>
            <a:r>
              <a:rPr lang="it-IT" sz="2000" dirty="0" err="1"/>
              <a:t>regimes</a:t>
            </a:r>
            <a:r>
              <a:rPr lang="it-IT" sz="2000" dirty="0"/>
              <a:t> in the </a:t>
            </a:r>
            <a:r>
              <a:rPr lang="it-IT" sz="2000" dirty="0" err="1"/>
              <a:t>past</a:t>
            </a:r>
            <a:r>
              <a:rPr lang="it-IT" sz="2000" dirty="0"/>
              <a:t> and forecast future </a:t>
            </a:r>
            <a:r>
              <a:rPr lang="it-IT" sz="2000" dirty="0" err="1"/>
              <a:t>behavior</a:t>
            </a:r>
            <a:r>
              <a:rPr lang="it-IT" sz="2000" dirty="0"/>
              <a:t> </a:t>
            </a:r>
            <a:r>
              <a:rPr lang="it-IT" sz="2000" dirty="0" err="1"/>
              <a:t>remains</a:t>
            </a:r>
            <a:r>
              <a:rPr lang="it-IT" sz="2000" dirty="0"/>
              <a:t> </a:t>
            </a:r>
            <a:r>
              <a:rPr lang="it-IT" sz="2000" dirty="0" err="1"/>
              <a:t>largely</a:t>
            </a:r>
            <a:r>
              <a:rPr lang="it-IT" sz="2000" dirty="0"/>
              <a:t> </a:t>
            </a:r>
            <a:r>
              <a:rPr lang="it-IT" sz="2000" dirty="0" err="1"/>
              <a:t>unexplored</a:t>
            </a:r>
            <a:r>
              <a:rPr lang="it-IT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Current changepoint detection methods are designed to model the time series in-sample; segmentation is chosen with no out-of-sample forecasting intent</a:t>
            </a:r>
            <a:r>
              <a:rPr lang="it-IT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Even regime-switching models are built for description, not forecasting.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SETAR: switches deterministically between a fixed, predefined set of regimes — cannot represent structural change beyond that fixed parametric menu.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Markov-switching: regime is latent and only known probabilistically at the forecast origin; multi-step forecasts average over regimes, diluting the regime-specific dynamics the model is prized for in-sample.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(Clements &amp; Krolzig,1998, find no clear forecasting advantage over linear benchmarks for either SETAR or MS models of US GNP).</a:t>
            </a:r>
            <a:r>
              <a:rPr lang="it-IT" sz="2000" dirty="0"/>
              <a:t> </a:t>
            </a:r>
          </a:p>
          <a:p>
            <a:pPr>
              <a:spcBef>
                <a:spcPts val="600"/>
              </a:spcBef>
            </a:pPr>
            <a:r>
              <a:rPr lang="it-IT" sz="2000" dirty="0" err="1"/>
              <a:t>We</a:t>
            </a:r>
            <a:r>
              <a:rPr lang="it-IT" sz="2000" dirty="0"/>
              <a:t> propose to </a:t>
            </a:r>
            <a:r>
              <a:rPr lang="it-IT" sz="2000" dirty="0" err="1"/>
              <a:t>identify</a:t>
            </a:r>
            <a:r>
              <a:rPr lang="it-IT" sz="2000" dirty="0"/>
              <a:t> time </a:t>
            </a:r>
            <a:r>
              <a:rPr lang="it-IT" sz="2000" dirty="0" err="1"/>
              <a:t>segments</a:t>
            </a:r>
            <a:r>
              <a:rPr lang="it-IT" sz="2000" dirty="0"/>
              <a:t> </a:t>
            </a:r>
            <a:r>
              <a:rPr lang="it-IT" sz="2000" dirty="0" err="1"/>
              <a:t>using</a:t>
            </a:r>
            <a:r>
              <a:rPr lang="it-IT" sz="2000" dirty="0"/>
              <a:t> the </a:t>
            </a:r>
            <a:r>
              <a:rPr lang="it-IT" sz="2000" dirty="0" err="1"/>
              <a:t>predictive</a:t>
            </a:r>
            <a:r>
              <a:rPr lang="it-IT" sz="2000" dirty="0"/>
              <a:t> </a:t>
            </a:r>
            <a:r>
              <a:rPr lang="it-IT" sz="2000" dirty="0" err="1"/>
              <a:t>accuracy</a:t>
            </a:r>
            <a:r>
              <a:rPr lang="it-IT" sz="2000" dirty="0"/>
              <a:t> of a forecasting model (AR, theta, MLP, … ) </a:t>
            </a:r>
            <a:r>
              <a:rPr lang="it-IT" sz="2000" dirty="0" err="1"/>
              <a:t>as</a:t>
            </a:r>
            <a:r>
              <a:rPr lang="it-IT" sz="2000" dirty="0"/>
              <a:t> a cost </a:t>
            </a:r>
            <a:r>
              <a:rPr lang="it-IT" sz="2000" dirty="0" err="1"/>
              <a:t>function</a:t>
            </a:r>
            <a:r>
              <a:rPr lang="it-IT" sz="2000" dirty="0"/>
              <a:t>, </a:t>
            </a:r>
            <a:r>
              <a:rPr lang="en-US" sz="2000" dirty="0"/>
              <a:t>in place of the standard in-sample fit criteria (e.g. RSS/likelihood) used by existing segmentation methods</a:t>
            </a:r>
            <a:r>
              <a:rPr lang="it-IT" sz="2000" dirty="0"/>
              <a:t>.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26C9AB-1D10-A54D-01BA-123273E9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Modelling</a:t>
            </a:r>
            <a:r>
              <a:rPr lang="it-IT" dirty="0"/>
              <a:t> and forecasting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8308F5-E23D-03CC-8FE1-D1F8C430F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2120D-E22B-84A0-BB50-666DBE375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1182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/>
                  <a:t>We generate all feasible time segments (suitable length and other segment-level constraints).</a:t>
                </a:r>
              </a:p>
              <a:p>
                <a:r>
                  <a:rPr lang="en-US" sz="2400" dirty="0"/>
                  <a:t>We apply the forecasting model of interest to each segment.</a:t>
                </a:r>
              </a:p>
              <a:p>
                <a:r>
                  <a:rPr lang="en-US" sz="2400" dirty="0"/>
                  <a:t>Each segment cost is the RMSE of the forecast on its following validation interval.</a:t>
                </a:r>
              </a:p>
              <a:p>
                <a:r>
                  <a:rPr lang="en-US" sz="2400" dirty="0"/>
                  <a:t>We identify the subset of segments  that collectively partitions the whole input series of minimum average cost, solving – and possibly extending – the SPP-like formulation</a:t>
                </a:r>
              </a:p>
              <a:p>
                <a:pPr>
                  <a:tabLst>
                    <a:tab pos="1257300" algn="l"/>
                    <a:tab pos="2171700" algn="l"/>
                  </a:tabLst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s.t.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smtClean="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smtClean="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smtClean="0">
                                <a:latin typeface="Cambria" panose="02040503050406030204" pitchFamily="18" charset="0"/>
                                <a:ea typeface="Cambria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smtClean="0">
                                    <a:latin typeface="Cambria" panose="02040503050406030204" pitchFamily="18" charset="0"/>
                                    <a:ea typeface="Cambria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smtClean="0">
                                    <a:latin typeface="Cambria" panose="02040503050406030204" pitchFamily="18" charset="0"/>
                                    <a:ea typeface="Cambria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smtClean="0">
                                    <a:latin typeface="Cambria" panose="02040503050406030204" pitchFamily="18" charset="0"/>
                                    <a:ea typeface="Cambria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400" smtClean="0">
                                <a:latin typeface="Cambria" panose="02040503050406030204" pitchFamily="18" charset="0"/>
                                <a:ea typeface="Cambria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smtClean="0">
                                <a:latin typeface="Cambria" panose="02040503050406030204" pitchFamily="18" charset="0"/>
                                <a:ea typeface="Cambria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400" smtClean="0"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1, … , </a:t>
                </a:r>
                <a:r>
                  <a:rPr lang="en-US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npoints</a:t>
                </a:r>
                <a:endParaRPr lang="en-US" sz="2400" i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0,1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b="-6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477BA4-3C01-F1A8-C90B-50E2D549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Segment</a:t>
            </a:r>
            <a:r>
              <a:rPr lang="it-IT" dirty="0"/>
              <a:t> and forecast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F49CE-7140-FD6A-2D00-2147CBE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184F4-9DD8-E80A-4651-91B3E58DC8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933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objective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 linear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it-IT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it-IT" dirty="0"/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Let the optimal value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Now, for any value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if and only if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it-IT" sz="3200" i="0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it-IT" sz="1600" dirty="0"/>
                  <a:t> </a:t>
                </a:r>
              </a:p>
              <a:p>
                <a:r>
                  <a:rPr lang="it-IT" dirty="0"/>
                  <a:t>Let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it-IT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dirty="0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it-IT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it-IT" dirty="0"/>
                  <a:t> 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is convex and non-increasing in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it-IT" dirty="0"/>
                  <a:t>, 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dirty="0"/>
                  <a:t>Finding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is equivalent to finding the zero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dirty="0"/>
                  <a:t> </a:t>
                </a:r>
              </a:p>
              <a:p>
                <a:pPr>
                  <a:spcBef>
                    <a:spcPts val="600"/>
                  </a:spcBef>
                </a:pPr>
                <a:r>
                  <a:rPr lang="it-IT" dirty="0"/>
                  <a:t>Newton-like </a:t>
                </a:r>
                <a:r>
                  <a:rPr lang="it-IT" dirty="0" err="1"/>
                  <a:t>descent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b="1" i="1" dirty="0" err="1"/>
                  <a:t>superlinear</a:t>
                </a:r>
                <a:r>
                  <a:rPr lang="it-IT" dirty="0"/>
                  <a:t> in </a:t>
                </a:r>
                <a:r>
                  <a:rPr lang="it-IT" dirty="0" err="1"/>
                  <a:t>this</a:t>
                </a:r>
                <a:r>
                  <a:rPr lang="it-IT" dirty="0"/>
                  <a:t> case</a:t>
                </a:r>
              </a:p>
              <a:p>
                <a:r>
                  <a:rPr lang="en-US" sz="2300" dirty="0" err="1"/>
                  <a:t>Dinkelbach</a:t>
                </a:r>
                <a:r>
                  <a:rPr lang="en-US" sz="2300" dirty="0"/>
                  <a:t>, W. (1967). </a:t>
                </a:r>
                <a:r>
                  <a:rPr lang="en-US" sz="2300" b="1" dirty="0"/>
                  <a:t>On nonlinear fractional programming</a:t>
                </a:r>
                <a:r>
                  <a:rPr lang="en-US" sz="2300" dirty="0"/>
                  <a:t>. </a:t>
                </a:r>
                <a:r>
                  <a:rPr lang="en-US" sz="2300" i="1" dirty="0"/>
                  <a:t>Management Science</a:t>
                </a:r>
                <a:r>
                  <a:rPr lang="en-US" sz="2300" dirty="0"/>
                  <a:t>, 13(7), 492–498.</a:t>
                </a:r>
                <a:endParaRPr lang="en-US" sz="46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E05391F-5473-33A0-8703-78AA31F25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Fractional</a:t>
            </a:r>
            <a:r>
              <a:rPr lang="it-IT" dirty="0"/>
              <a:t> programming </a:t>
            </a:r>
            <a:r>
              <a:rPr lang="it-IT" dirty="0" err="1"/>
              <a:t>at</a:t>
            </a:r>
            <a:r>
              <a:rPr lang="it-IT" dirty="0"/>
              <a:t> work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AB5ED-A138-C456-8385-907E8237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93DF63-2153-9ED3-67EA-84195BB1B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7226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5 series randomly selected within each category.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+ a preliminary small set of </a:t>
            </a:r>
            <a:r>
              <a:rPr lang="en-US" sz="2600" dirty="0">
                <a:solidFill>
                  <a:srgbClr val="C00000"/>
                </a:solidFill>
              </a:rPr>
              <a:t>IoT series</a:t>
            </a:r>
            <a:r>
              <a:rPr lang="en-US" sz="2600" dirty="0"/>
              <a:t>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Python, </a:t>
            </a:r>
            <a:r>
              <a:rPr lang="en-US" sz="2600" dirty="0" err="1"/>
              <a:t>Gurobi</a:t>
            </a:r>
            <a:r>
              <a:rPr lang="en-US" sz="2600" dirty="0"/>
              <a:t> solver, platform desktop Windows 11.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M3, N1747, AR(1)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67BDA9E-28C3-1ADD-B159-C5E97CB3C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6"/>
            <a:ext cx="8547100" cy="5128260"/>
          </a:xfrm>
        </p:spPr>
      </p:pic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5709A7-B98C-487A-2CF2-67AD38A814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A86CC21-986E-DA33-379D-CA6BF2847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CA97B-2B08-1EF8-FC15-ABAAC09EE1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EA925-3C21-4AEC-C15E-440F3A35C4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29802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D261F9-0EEB-62AE-7371-59BC9A0BC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128E97F-CF4F-6210-5825-92762BD7D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758112-A68F-F2EC-4BDC-99D9F37D44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F847-FCA2-5059-808B-7E36BB7B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6995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83A32C1-7F94-DFA7-F535-F36D27C393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39B274-1A24-43AA-5127-17D07890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B9F36E-9940-1A5C-4148-290E7FA8A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447A3-F0AE-D72C-98C2-DA4FA47786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5962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6F65F77-B5A1-414C-3E34-449CE2144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EDA0331-1F9A-ED65-A6C3-C6674EC55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38EBAC-FECF-321B-74D1-E99F552D45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24CD23-AEC2-6651-31AF-2148B20E2C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75126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DC0BCF5-982A-11D5-CE58-7EA05D21A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02E7A77-6743-3721-789F-F48C2DDEA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16003-4958-80D3-9D51-59CA33E157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4D29BF-3DAD-AE80-F8C9-59FF7C7E6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96562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FB4306-C992-F52C-4659-0DB89530B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But …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CC36B-1AFE-1897-7E29-D8A012E131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DB8BF-1FE7-A949-E6DA-1F12D07CB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02A8E-A1D3-284B-E0D3-BAC035A658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42534"/>
            <a:ext cx="8547100" cy="5120645"/>
          </a:xfrm>
        </p:spPr>
      </p:pic>
    </p:spTree>
    <p:extLst>
      <p:ext uri="{BB962C8B-B14F-4D97-AF65-F5344CB8AC3E}">
        <p14:creationId xmlns:p14="http://schemas.microsoft.com/office/powerpoint/2010/main" val="2797775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2683</TotalTime>
  <Words>858</Words>
  <Application>Microsoft Office PowerPoint</Application>
  <PresentationFormat>On-screen Show (4:3)</PresentationFormat>
  <Paragraphs>79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AAchalk</vt:lpstr>
      <vt:lpstr>Arial</vt:lpstr>
      <vt:lpstr>Calibri Light</vt:lpstr>
      <vt:lpstr>Cambria</vt:lpstr>
      <vt:lpstr>Cambria Math</vt:lpstr>
      <vt:lpstr>ManiezzoSlides</vt:lpstr>
      <vt:lpstr>Wingdings</vt:lpstr>
      <vt:lpstr>ThemeQuadretti</vt:lpstr>
      <vt:lpstr>Forecasting-oriented changepoint detection</vt:lpstr>
      <vt:lpstr>Changepoint detection</vt:lpstr>
      <vt:lpstr>Regime switching detection</vt:lpstr>
      <vt:lpstr>Modelling and forecasting</vt:lpstr>
      <vt:lpstr>Segment and forecast</vt:lpstr>
      <vt:lpstr>Fractional programming at work</vt:lpstr>
      <vt:lpstr>Testsets</vt:lpstr>
      <vt:lpstr>M3, N1747, AR(1)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But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269</cp:revision>
  <cp:lastPrinted>2026-08-30T16:21:59Z</cp:lastPrinted>
  <dcterms:created xsi:type="dcterms:W3CDTF">2024-02-06T11:14:54Z</dcterms:created>
  <dcterms:modified xsi:type="dcterms:W3CDTF">2026-08-30T16:25:57Z</dcterms:modified>
</cp:coreProperties>
</file>