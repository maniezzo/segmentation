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  <p:sldId id="269" r:id="rId3"/>
    <p:sldId id="270" r:id="rId4"/>
    <p:sldId id="271" r:id="rId5"/>
    <p:sldId id="273" r:id="rId6"/>
    <p:sldId id="268" r:id="rId7"/>
    <p:sldId id="272" r:id="rId8"/>
    <p:sldId id="274" r:id="rId9"/>
    <p:sldId id="284" r:id="rId10"/>
    <p:sldId id="275" r:id="rId11"/>
    <p:sldId id="285" r:id="rId12"/>
    <p:sldId id="286" r:id="rId13"/>
    <p:sldId id="287" r:id="rId14"/>
    <p:sldId id="288" r:id="rId15"/>
  </p:sldIdLst>
  <p:sldSz cx="9144000" cy="6858000" type="screen4x3"/>
  <p:notesSz cx="7099300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99" autoAdjust="0"/>
    <p:restoredTop sz="94660"/>
  </p:normalViewPr>
  <p:slideViewPr>
    <p:cSldViewPr snapToGrid="0">
      <p:cViewPr varScale="1">
        <p:scale>
          <a:sx n="94" d="100"/>
          <a:sy n="94" d="100"/>
        </p:scale>
        <p:origin x="768" y="4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036847" y="3657124"/>
            <a:ext cx="7074291" cy="99107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400" cap="none" baseline="0">
                <a:solidFill>
                  <a:srgbClr val="002060"/>
                </a:solidFill>
                <a:latin typeface="AAchalk" pitchFamily="2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43" name="Title 1"/>
          <p:cNvSpPr>
            <a:spLocks noGrp="1"/>
          </p:cNvSpPr>
          <p:nvPr>
            <p:ph type="ctrTitle"/>
          </p:nvPr>
        </p:nvSpPr>
        <p:spPr>
          <a:xfrm>
            <a:off x="1032863" y="1905004"/>
            <a:ext cx="7078274" cy="1625599"/>
          </a:xfrm>
        </p:spPr>
        <p:txBody>
          <a:bodyPr>
            <a:normAutofit/>
          </a:bodyPr>
          <a:lstStyle>
            <a:lvl1pPr algn="ctr">
              <a:lnSpc>
                <a:spcPct val="90000"/>
              </a:lnSpc>
              <a:defRPr sz="4800">
                <a:solidFill>
                  <a:srgbClr val="00206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53205846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Tx/>
              <a:defRPr/>
            </a:lvl1pPr>
            <a:lvl2pPr>
              <a:buClrTx/>
              <a:defRPr/>
            </a:lvl2pPr>
            <a:lvl3pPr>
              <a:buClrTx/>
              <a:defRPr/>
            </a:lvl3pPr>
            <a:lvl4pPr>
              <a:buClrTx/>
              <a:defRPr/>
            </a:lvl4pPr>
            <a:lvl5pPr>
              <a:buClrTx/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4" name="linea"/>
          <p:cNvGrpSpPr/>
          <p:nvPr/>
        </p:nvGrpSpPr>
        <p:grpSpPr bwMode="invGray">
          <a:xfrm>
            <a:off x="315162" y="840518"/>
            <a:ext cx="7929246" cy="64008"/>
            <a:chOff x="1522413" y="1514475"/>
            <a:chExt cx="10569575" cy="64008"/>
          </a:xfrm>
          <a:solidFill>
            <a:schemeClr val="accent2">
              <a:lumMod val="75000"/>
            </a:schemeClr>
          </a:solidFill>
        </p:grpSpPr>
        <p:sp>
          <p:nvSpPr>
            <p:cNvPr id="5" name="Figura a mano libera 10"/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" name="Figura a mano libera 11"/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8" name="Figura a mano libera 12"/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9" name="Figura a mano libera 15"/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0" name="Figura a mano libera 16"/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1" name="Figura a mano libera 17"/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2" name="Figura a mano libera 18"/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3" name="Figura a mano libera 19"/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4" name="Figura a mano libera 20"/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5" name="Figura a mano libera 21"/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6" name="Figura a mano libera 22"/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7" name="Figura a mano libera 23"/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8" name="Figura a mano libera 24"/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9" name="Figura a mano libera 25"/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0" name="Figura a mano libera 26"/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1" name="Figura a mano libera 27"/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2" name="Figura a mano libera 28"/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3" name="Figura a mano libera 29"/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4" name="Figura a mano libera 30"/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5" name="Figura a mano libera 31"/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6" name="Figura a mano libera 32"/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7" name="Figura a mano libera 33"/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8" name="Figura a mano libera 34"/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9" name="Figura a mano libera 35"/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0" name="Figura a mano libera 36"/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1" name="Figura a mano libera 37"/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2" name="Figura a mano libera 38"/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3" name="Figura a mano libera 39"/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4" name="Figura a mano libera 40"/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5" name="Figura a mano libera 41"/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6" name="Figura a mano libera 42"/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7" name="Figura a mano libera 43"/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8" name="Figura a mano libera 44"/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9" name="Figura a mano libera 45"/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0" name="Figura a mano libera 46"/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1" name="Figura a mano libera 47"/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2" name="Figura a mano libera 48"/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3" name="Figura a mano libera 49"/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4" name="Figura a mano libera 50"/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5" name="Figura a mano libera 51"/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6" name="Figura a mano libera 52"/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7" name="Figura a mano libera 53"/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8" name="Figura a mano libera 54"/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9" name="Figura a mano libera 55"/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0" name="Figura a mano libera 56"/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1" name="Figura a mano libera 57"/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2" name="Figura a mano libera 58"/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3" name="Figura a mano libera 59"/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4" name="Figura a mano libera 60"/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5" name="Figura a mano libera 61"/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6" name="Figura a mano libera 62"/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7" name="Figura a mano libera 63"/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8" name="Figura a mano libera 64"/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9" name="Figura a mano libera 65"/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0" name="Figura a mano libera 66"/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1" name="Figura a mano libera 67"/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2" name="Figura a mano libera 68"/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3" name="Figura a mano libera 69"/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4" name="Figura a mano libera 70"/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5" name="Figura a mano libera 71"/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6" name="Figura a mano libera 72"/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7" name="Figura a mano libera 73"/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8" name="Figura a mano libera 74"/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9" name="Figura a mano libera 75"/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0" name="Figura a mano libera 76"/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1" name="Figura a mano libera 77"/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2" name="Figura a mano libera 78"/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3" name="Figura a mano libera 79"/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4" name="Figura a mano libera 80"/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5" name="Figura a mano libera 81"/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6" name="Figura a mano libera 82"/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7" name="Figura a mano libera 83"/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8" name="Figura a mano libera 84"/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9" name="Figura a mano libera 85"/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</p:grpSp>
      <p:sp>
        <p:nvSpPr>
          <p:cNvPr id="80" name="Footer Placeholder 4">
            <a:extLst>
              <a:ext uri="{FF2B5EF4-FFF2-40B4-BE49-F238E27FC236}">
                <a16:creationId xmlns:a16="http://schemas.microsoft.com/office/drawing/2014/main" id="{E4BE8164-996A-474C-978A-F0A76F8C91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5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81" name="Slide Number Placeholder 5">
            <a:extLst>
              <a:ext uri="{FF2B5EF4-FFF2-40B4-BE49-F238E27FC236}">
                <a16:creationId xmlns:a16="http://schemas.microsoft.com/office/drawing/2014/main" id="{39CA8FFC-AF78-45E6-98A9-C8B0B8648A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556706" y="6588890"/>
            <a:ext cx="533400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061530991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6" name="linea"/>
          <p:cNvGrpSpPr/>
          <p:nvPr/>
        </p:nvGrpSpPr>
        <p:grpSpPr bwMode="invGray">
          <a:xfrm>
            <a:off x="315162" y="840518"/>
            <a:ext cx="7929246" cy="64008"/>
            <a:chOff x="1522413" y="1514475"/>
            <a:chExt cx="10569575" cy="64008"/>
          </a:xfrm>
          <a:solidFill>
            <a:schemeClr val="accent2">
              <a:lumMod val="75000"/>
            </a:schemeClr>
          </a:solidFill>
        </p:grpSpPr>
        <p:sp>
          <p:nvSpPr>
            <p:cNvPr id="7" name="Figura a mano libera 10"/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8" name="Figura a mano libera 11"/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9" name="Figura a mano libera 12"/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0" name="Figura a mano libera 15"/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1" name="Figura a mano libera 16"/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2" name="Figura a mano libera 17"/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3" name="Figura a mano libera 18"/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4" name="Figura a mano libera 19"/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5" name="Figura a mano libera 20"/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6" name="Figura a mano libera 21"/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7" name="Figura a mano libera 22"/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8" name="Figura a mano libera 23"/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9" name="Figura a mano libera 24"/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0" name="Figura a mano libera 25"/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1" name="Figura a mano libera 26"/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2" name="Figura a mano libera 27"/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3" name="Figura a mano libera 28"/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4" name="Figura a mano libera 29"/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5" name="Figura a mano libera 30"/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6" name="Figura a mano libera 31"/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7" name="Figura a mano libera 32"/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8" name="Figura a mano libera 33"/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9" name="Figura a mano libera 34"/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0" name="Figura a mano libera 35"/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1" name="Figura a mano libera 36"/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2" name="Figura a mano libera 37"/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3" name="Figura a mano libera 38"/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4" name="Figura a mano libera 39"/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5" name="Figura a mano libera 40"/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6" name="Figura a mano libera 41"/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7" name="Figura a mano libera 42"/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8" name="Figura a mano libera 43"/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9" name="Figura a mano libera 44"/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0" name="Figura a mano libera 45"/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1" name="Figura a mano libera 46"/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2" name="Figura a mano libera 47"/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3" name="Figura a mano libera 48"/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4" name="Figura a mano libera 49"/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5" name="Figura a mano libera 50"/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6" name="Figura a mano libera 51"/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7" name="Figura a mano libera 52"/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8" name="Figura a mano libera 53"/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9" name="Figura a mano libera 54"/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0" name="Figura a mano libera 55"/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1" name="Figura a mano libera 56"/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2" name="Figura a mano libera 57"/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3" name="Figura a mano libera 58"/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4" name="Figura a mano libera 59"/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5" name="Figura a mano libera 60"/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6" name="Figura a mano libera 61"/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7" name="Figura a mano libera 62"/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8" name="Figura a mano libera 63"/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9" name="Figura a mano libera 64"/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0" name="Figura a mano libera 65"/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1" name="Figura a mano libera 66"/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2" name="Figura a mano libera 67"/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3" name="Figura a mano libera 68"/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4" name="Figura a mano libera 69"/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5" name="Figura a mano libera 70"/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6" name="Figura a mano libera 71"/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7" name="Figura a mano libera 72"/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8" name="Figura a mano libera 73"/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9" name="Figura a mano libera 74"/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0" name="Figura a mano libera 75"/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1" name="Figura a mano libera 76"/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2" name="Figura a mano libera 77"/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3" name="Figura a mano libera 78"/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4" name="Figura a mano libera 79"/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5" name="Figura a mano libera 80"/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6" name="Figura a mano libera 81"/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7" name="Figura a mano libera 82"/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8" name="Figura a mano libera 83"/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9" name="Figura a mano libera 84"/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80" name="Figura a mano libera 85"/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</p:grpSp>
      <p:sp>
        <p:nvSpPr>
          <p:cNvPr id="81" name="Footer Placeholder 4">
            <a:extLst>
              <a:ext uri="{FF2B5EF4-FFF2-40B4-BE49-F238E27FC236}">
                <a16:creationId xmlns:a16="http://schemas.microsoft.com/office/drawing/2014/main" id="{3E84B2B8-6A6C-4172-8F92-776075D81A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5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259287632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8C9A75-8A08-4035-85FB-5EA0B5BB59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5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920908868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2pPr>
            <a:lvl3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3pPr>
            <a:lvl4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4pPr>
            <a:lvl5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 dirty="0"/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10"/>
          </p:nvPr>
        </p:nvSpPr>
        <p:spPr>
          <a:xfrm>
            <a:off x="107504" y="6597352"/>
            <a:ext cx="3096344" cy="260648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it-IT" dirty="0"/>
              <a:t>Vittorio Maniezzo - </a:t>
            </a:r>
            <a:r>
              <a:rPr lang="it-IT" dirty="0" err="1"/>
              <a:t>University</a:t>
            </a:r>
            <a:r>
              <a:rPr lang="it-IT" dirty="0"/>
              <a:t> of Bologna</a:t>
            </a:r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95C6C1-66D2-4A7C-8B60-02391940B58A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936562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3"/>
          <p:cNvGrpSpPr>
            <a:grpSpLocks/>
          </p:cNvGrpSpPr>
          <p:nvPr/>
        </p:nvGrpSpPr>
        <p:grpSpPr bwMode="ltGray">
          <a:xfrm>
            <a:off x="72070" y="37277"/>
            <a:ext cx="9071930" cy="6856413"/>
            <a:chOff x="0" y="0"/>
            <a:chExt cx="5759" cy="4319"/>
          </a:xfrm>
        </p:grpSpPr>
        <p:sp>
          <p:nvSpPr>
            <p:cNvPr id="13" name="Line 4"/>
            <p:cNvSpPr>
              <a:spLocks noChangeShapeType="1"/>
            </p:cNvSpPr>
            <p:nvPr/>
          </p:nvSpPr>
          <p:spPr bwMode="ltGray">
            <a:xfrm>
              <a:off x="0" y="14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4" name="Line 5"/>
            <p:cNvSpPr>
              <a:spLocks noChangeShapeType="1"/>
            </p:cNvSpPr>
            <p:nvPr/>
          </p:nvSpPr>
          <p:spPr bwMode="ltGray">
            <a:xfrm>
              <a:off x="0" y="33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5" name="Line 6"/>
            <p:cNvSpPr>
              <a:spLocks noChangeShapeType="1"/>
            </p:cNvSpPr>
            <p:nvPr/>
          </p:nvSpPr>
          <p:spPr bwMode="ltGray">
            <a:xfrm>
              <a:off x="0" y="52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6" name="Line 7"/>
            <p:cNvSpPr>
              <a:spLocks noChangeShapeType="1"/>
            </p:cNvSpPr>
            <p:nvPr/>
          </p:nvSpPr>
          <p:spPr bwMode="ltGray">
            <a:xfrm>
              <a:off x="0" y="72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7" name="Line 8"/>
            <p:cNvSpPr>
              <a:spLocks noChangeShapeType="1"/>
            </p:cNvSpPr>
            <p:nvPr/>
          </p:nvSpPr>
          <p:spPr bwMode="ltGray">
            <a:xfrm>
              <a:off x="0" y="91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8" name="Line 9"/>
            <p:cNvSpPr>
              <a:spLocks noChangeShapeType="1"/>
            </p:cNvSpPr>
            <p:nvPr/>
          </p:nvSpPr>
          <p:spPr bwMode="ltGray">
            <a:xfrm>
              <a:off x="0" y="110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9" name="Line 10"/>
            <p:cNvSpPr>
              <a:spLocks noChangeShapeType="1"/>
            </p:cNvSpPr>
            <p:nvPr/>
          </p:nvSpPr>
          <p:spPr bwMode="ltGray">
            <a:xfrm>
              <a:off x="0" y="129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0" name="Line 11"/>
            <p:cNvSpPr>
              <a:spLocks noChangeShapeType="1"/>
            </p:cNvSpPr>
            <p:nvPr/>
          </p:nvSpPr>
          <p:spPr bwMode="ltGray">
            <a:xfrm>
              <a:off x="0" y="148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1" name="Line 12"/>
            <p:cNvSpPr>
              <a:spLocks noChangeShapeType="1"/>
            </p:cNvSpPr>
            <p:nvPr/>
          </p:nvSpPr>
          <p:spPr bwMode="ltGray">
            <a:xfrm>
              <a:off x="0" y="168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2" name="Line 13"/>
            <p:cNvSpPr>
              <a:spLocks noChangeShapeType="1"/>
            </p:cNvSpPr>
            <p:nvPr/>
          </p:nvSpPr>
          <p:spPr bwMode="ltGray">
            <a:xfrm>
              <a:off x="0" y="187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3" name="Line 14"/>
            <p:cNvSpPr>
              <a:spLocks noChangeShapeType="1"/>
            </p:cNvSpPr>
            <p:nvPr/>
          </p:nvSpPr>
          <p:spPr bwMode="ltGray">
            <a:xfrm>
              <a:off x="0" y="206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4" name="Line 15"/>
            <p:cNvSpPr>
              <a:spLocks noChangeShapeType="1"/>
            </p:cNvSpPr>
            <p:nvPr/>
          </p:nvSpPr>
          <p:spPr bwMode="ltGray">
            <a:xfrm>
              <a:off x="0" y="225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5" name="Line 16"/>
            <p:cNvSpPr>
              <a:spLocks noChangeShapeType="1"/>
            </p:cNvSpPr>
            <p:nvPr/>
          </p:nvSpPr>
          <p:spPr bwMode="ltGray">
            <a:xfrm>
              <a:off x="0" y="244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6" name="Line 17"/>
            <p:cNvSpPr>
              <a:spLocks noChangeShapeType="1"/>
            </p:cNvSpPr>
            <p:nvPr/>
          </p:nvSpPr>
          <p:spPr bwMode="ltGray">
            <a:xfrm>
              <a:off x="0" y="264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7" name="Line 18"/>
            <p:cNvSpPr>
              <a:spLocks noChangeShapeType="1"/>
            </p:cNvSpPr>
            <p:nvPr/>
          </p:nvSpPr>
          <p:spPr bwMode="ltGray">
            <a:xfrm>
              <a:off x="0" y="283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8" name="Line 19"/>
            <p:cNvSpPr>
              <a:spLocks noChangeShapeType="1"/>
            </p:cNvSpPr>
            <p:nvPr/>
          </p:nvSpPr>
          <p:spPr bwMode="ltGray">
            <a:xfrm>
              <a:off x="0" y="302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9" name="Line 20"/>
            <p:cNvSpPr>
              <a:spLocks noChangeShapeType="1"/>
            </p:cNvSpPr>
            <p:nvPr/>
          </p:nvSpPr>
          <p:spPr bwMode="ltGray">
            <a:xfrm>
              <a:off x="0" y="321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0" name="Line 21"/>
            <p:cNvSpPr>
              <a:spLocks noChangeShapeType="1"/>
            </p:cNvSpPr>
            <p:nvPr/>
          </p:nvSpPr>
          <p:spPr bwMode="ltGray">
            <a:xfrm>
              <a:off x="0" y="340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1" name="Line 22"/>
            <p:cNvSpPr>
              <a:spLocks noChangeShapeType="1"/>
            </p:cNvSpPr>
            <p:nvPr/>
          </p:nvSpPr>
          <p:spPr bwMode="ltGray">
            <a:xfrm>
              <a:off x="0" y="360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2" name="Line 23"/>
            <p:cNvSpPr>
              <a:spLocks noChangeShapeType="1"/>
            </p:cNvSpPr>
            <p:nvPr/>
          </p:nvSpPr>
          <p:spPr bwMode="ltGray">
            <a:xfrm>
              <a:off x="0" y="379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3" name="Line 24"/>
            <p:cNvSpPr>
              <a:spLocks noChangeShapeType="1"/>
            </p:cNvSpPr>
            <p:nvPr/>
          </p:nvSpPr>
          <p:spPr bwMode="ltGray">
            <a:xfrm>
              <a:off x="0" y="398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4" name="Line 25"/>
            <p:cNvSpPr>
              <a:spLocks noChangeShapeType="1"/>
            </p:cNvSpPr>
            <p:nvPr/>
          </p:nvSpPr>
          <p:spPr bwMode="ltGray">
            <a:xfrm>
              <a:off x="0" y="417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5" name="Line 26"/>
            <p:cNvSpPr>
              <a:spLocks noChangeShapeType="1"/>
            </p:cNvSpPr>
            <p:nvPr/>
          </p:nvSpPr>
          <p:spPr bwMode="ltGray">
            <a:xfrm>
              <a:off x="14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 dirty="0"/>
            </a:p>
          </p:txBody>
        </p:sp>
        <p:sp>
          <p:nvSpPr>
            <p:cNvPr id="36" name="Line 27"/>
            <p:cNvSpPr>
              <a:spLocks noChangeShapeType="1"/>
            </p:cNvSpPr>
            <p:nvPr/>
          </p:nvSpPr>
          <p:spPr bwMode="ltGray">
            <a:xfrm>
              <a:off x="33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7" name="Line 28"/>
            <p:cNvSpPr>
              <a:spLocks noChangeShapeType="1"/>
            </p:cNvSpPr>
            <p:nvPr/>
          </p:nvSpPr>
          <p:spPr bwMode="ltGray">
            <a:xfrm>
              <a:off x="52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8" name="Line 29"/>
            <p:cNvSpPr>
              <a:spLocks noChangeShapeType="1"/>
            </p:cNvSpPr>
            <p:nvPr/>
          </p:nvSpPr>
          <p:spPr bwMode="ltGray">
            <a:xfrm>
              <a:off x="72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9" name="Line 30"/>
            <p:cNvSpPr>
              <a:spLocks noChangeShapeType="1"/>
            </p:cNvSpPr>
            <p:nvPr/>
          </p:nvSpPr>
          <p:spPr bwMode="ltGray">
            <a:xfrm>
              <a:off x="91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0" name="Line 31"/>
            <p:cNvSpPr>
              <a:spLocks noChangeShapeType="1"/>
            </p:cNvSpPr>
            <p:nvPr/>
          </p:nvSpPr>
          <p:spPr bwMode="ltGray">
            <a:xfrm>
              <a:off x="110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1" name="Line 32"/>
            <p:cNvSpPr>
              <a:spLocks noChangeShapeType="1"/>
            </p:cNvSpPr>
            <p:nvPr/>
          </p:nvSpPr>
          <p:spPr bwMode="ltGray">
            <a:xfrm>
              <a:off x="129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2" name="Line 33"/>
            <p:cNvSpPr>
              <a:spLocks noChangeShapeType="1"/>
            </p:cNvSpPr>
            <p:nvPr/>
          </p:nvSpPr>
          <p:spPr bwMode="ltGray">
            <a:xfrm>
              <a:off x="148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3" name="Line 34"/>
            <p:cNvSpPr>
              <a:spLocks noChangeShapeType="1"/>
            </p:cNvSpPr>
            <p:nvPr/>
          </p:nvSpPr>
          <p:spPr bwMode="ltGray">
            <a:xfrm>
              <a:off x="168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4" name="Line 35"/>
            <p:cNvSpPr>
              <a:spLocks noChangeShapeType="1"/>
            </p:cNvSpPr>
            <p:nvPr/>
          </p:nvSpPr>
          <p:spPr bwMode="ltGray">
            <a:xfrm>
              <a:off x="187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5" name="Line 36"/>
            <p:cNvSpPr>
              <a:spLocks noChangeShapeType="1"/>
            </p:cNvSpPr>
            <p:nvPr/>
          </p:nvSpPr>
          <p:spPr bwMode="ltGray">
            <a:xfrm>
              <a:off x="206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6" name="Line 37"/>
            <p:cNvSpPr>
              <a:spLocks noChangeShapeType="1"/>
            </p:cNvSpPr>
            <p:nvPr/>
          </p:nvSpPr>
          <p:spPr bwMode="ltGray">
            <a:xfrm>
              <a:off x="225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7" name="Line 38"/>
            <p:cNvSpPr>
              <a:spLocks noChangeShapeType="1"/>
            </p:cNvSpPr>
            <p:nvPr/>
          </p:nvSpPr>
          <p:spPr bwMode="ltGray">
            <a:xfrm>
              <a:off x="244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8" name="Line 39"/>
            <p:cNvSpPr>
              <a:spLocks noChangeShapeType="1"/>
            </p:cNvSpPr>
            <p:nvPr/>
          </p:nvSpPr>
          <p:spPr bwMode="ltGray">
            <a:xfrm>
              <a:off x="264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9" name="Line 40"/>
            <p:cNvSpPr>
              <a:spLocks noChangeShapeType="1"/>
            </p:cNvSpPr>
            <p:nvPr/>
          </p:nvSpPr>
          <p:spPr bwMode="ltGray">
            <a:xfrm>
              <a:off x="283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0" name="Line 41"/>
            <p:cNvSpPr>
              <a:spLocks noChangeShapeType="1"/>
            </p:cNvSpPr>
            <p:nvPr/>
          </p:nvSpPr>
          <p:spPr bwMode="ltGray">
            <a:xfrm>
              <a:off x="302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1" name="Line 42"/>
            <p:cNvSpPr>
              <a:spLocks noChangeShapeType="1"/>
            </p:cNvSpPr>
            <p:nvPr/>
          </p:nvSpPr>
          <p:spPr bwMode="ltGray">
            <a:xfrm>
              <a:off x="321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2" name="Line 43"/>
            <p:cNvSpPr>
              <a:spLocks noChangeShapeType="1"/>
            </p:cNvSpPr>
            <p:nvPr/>
          </p:nvSpPr>
          <p:spPr bwMode="ltGray">
            <a:xfrm>
              <a:off x="340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3" name="Line 44"/>
            <p:cNvSpPr>
              <a:spLocks noChangeShapeType="1"/>
            </p:cNvSpPr>
            <p:nvPr/>
          </p:nvSpPr>
          <p:spPr bwMode="ltGray">
            <a:xfrm>
              <a:off x="360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4" name="Line 45"/>
            <p:cNvSpPr>
              <a:spLocks noChangeShapeType="1"/>
            </p:cNvSpPr>
            <p:nvPr/>
          </p:nvSpPr>
          <p:spPr bwMode="ltGray">
            <a:xfrm>
              <a:off x="379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5" name="Line 46"/>
            <p:cNvSpPr>
              <a:spLocks noChangeShapeType="1"/>
            </p:cNvSpPr>
            <p:nvPr/>
          </p:nvSpPr>
          <p:spPr bwMode="ltGray">
            <a:xfrm>
              <a:off x="398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6" name="Line 47"/>
            <p:cNvSpPr>
              <a:spLocks noChangeShapeType="1"/>
            </p:cNvSpPr>
            <p:nvPr/>
          </p:nvSpPr>
          <p:spPr bwMode="ltGray">
            <a:xfrm>
              <a:off x="417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7" name="Line 48"/>
            <p:cNvSpPr>
              <a:spLocks noChangeShapeType="1"/>
            </p:cNvSpPr>
            <p:nvPr/>
          </p:nvSpPr>
          <p:spPr bwMode="ltGray">
            <a:xfrm>
              <a:off x="436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8" name="Line 49"/>
            <p:cNvSpPr>
              <a:spLocks noChangeShapeType="1"/>
            </p:cNvSpPr>
            <p:nvPr/>
          </p:nvSpPr>
          <p:spPr bwMode="ltGray">
            <a:xfrm>
              <a:off x="456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9" name="Line 50"/>
            <p:cNvSpPr>
              <a:spLocks noChangeShapeType="1"/>
            </p:cNvSpPr>
            <p:nvPr/>
          </p:nvSpPr>
          <p:spPr bwMode="ltGray">
            <a:xfrm>
              <a:off x="475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0" name="Line 51"/>
            <p:cNvSpPr>
              <a:spLocks noChangeShapeType="1"/>
            </p:cNvSpPr>
            <p:nvPr/>
          </p:nvSpPr>
          <p:spPr bwMode="ltGray">
            <a:xfrm>
              <a:off x="494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1" name="Line 52"/>
            <p:cNvSpPr>
              <a:spLocks noChangeShapeType="1"/>
            </p:cNvSpPr>
            <p:nvPr/>
          </p:nvSpPr>
          <p:spPr bwMode="ltGray">
            <a:xfrm>
              <a:off x="513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2" name="Line 53"/>
            <p:cNvSpPr>
              <a:spLocks noChangeShapeType="1"/>
            </p:cNvSpPr>
            <p:nvPr/>
          </p:nvSpPr>
          <p:spPr bwMode="ltGray">
            <a:xfrm>
              <a:off x="532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3" name="Line 54"/>
            <p:cNvSpPr>
              <a:spLocks noChangeShapeType="1"/>
            </p:cNvSpPr>
            <p:nvPr/>
          </p:nvSpPr>
          <p:spPr bwMode="ltGray">
            <a:xfrm>
              <a:off x="552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4" name="Line 55"/>
            <p:cNvSpPr>
              <a:spLocks noChangeShapeType="1"/>
            </p:cNvSpPr>
            <p:nvPr/>
          </p:nvSpPr>
          <p:spPr bwMode="ltGray">
            <a:xfrm>
              <a:off x="571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</p:grp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185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56706" y="6588890"/>
            <a:ext cx="533400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8907" y="1173916"/>
            <a:ext cx="8546175" cy="52593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78767" y="37278"/>
            <a:ext cx="8791195" cy="7667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308135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3600" kern="1200">
          <a:solidFill>
            <a:srgbClr val="002060"/>
          </a:solidFill>
          <a:latin typeface="AAchalk" pitchFamily="2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800"/>
        </a:spcBef>
        <a:buClrTx/>
        <a:buFont typeface="Arial" panose="020B0604020202020204" pitchFamily="34" charset="0"/>
        <a:buNone/>
        <a:defRPr sz="28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1pPr>
      <a:lvl2pPr marL="548640" indent="-246888" algn="l" defTabSz="914400" rtl="0" eaLnBrk="1" latinLnBrk="0" hangingPunct="1">
        <a:lnSpc>
          <a:spcPct val="100000"/>
        </a:lnSpc>
        <a:spcBef>
          <a:spcPts val="800"/>
        </a:spcBef>
        <a:buClrTx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2pPr>
      <a:lvl3pPr marL="850392" indent="-246888" algn="l" defTabSz="914400" rtl="0" eaLnBrk="1" latinLnBrk="0" hangingPunct="1">
        <a:lnSpc>
          <a:spcPct val="100000"/>
        </a:lnSpc>
        <a:spcBef>
          <a:spcPts val="800"/>
        </a:spcBef>
        <a:buClrTx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3pPr>
      <a:lvl4pPr marL="1152144" indent="-246888" algn="l" defTabSz="914400" rtl="0" eaLnBrk="1" latinLnBrk="0" hangingPunct="1">
        <a:lnSpc>
          <a:spcPct val="100000"/>
        </a:lnSpc>
        <a:spcBef>
          <a:spcPts val="800"/>
        </a:spcBef>
        <a:buClrTx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4pPr>
      <a:lvl5pPr marL="1453896" indent="-246888" algn="l" defTabSz="914400" rtl="0" eaLnBrk="1" latinLnBrk="0" hangingPunct="1">
        <a:lnSpc>
          <a:spcPct val="100000"/>
        </a:lnSpc>
        <a:spcBef>
          <a:spcPts val="800"/>
        </a:spcBef>
        <a:buClrTx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5pPr>
      <a:lvl6pPr marL="1755648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accent5"/>
        </a:buClr>
        <a:buFont typeface="Wingdings" panose="05000000000000000000" pitchFamily="2" charset="2"/>
        <a:buChar char="§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057400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accent5"/>
        </a:buClr>
        <a:buFont typeface="Wingdings" panose="05000000000000000000" pitchFamily="2" charset="2"/>
        <a:buChar char="§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359152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accent5"/>
        </a:buClr>
        <a:buFont typeface="Wingdings" panose="05000000000000000000" pitchFamily="2" charset="2"/>
        <a:buChar char="§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2660904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accent5"/>
        </a:buClr>
        <a:buFont typeface="Wingdings" panose="05000000000000000000" pitchFamily="2" charset="2"/>
        <a:buChar char="§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E9AEB7D-37B2-2B36-9DAD-91ED247EAC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418" y="1365397"/>
            <a:ext cx="8014741" cy="2644694"/>
          </a:xfrm>
        </p:spPr>
        <p:txBody>
          <a:bodyPr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4400" dirty="0"/>
              <a:t>Forecasting-oriented changepoint detection</a:t>
            </a:r>
            <a:endParaRPr lang="it-IT" sz="4400" dirty="0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2298ADB6-C24C-444C-3A3E-15DED5363734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22080" y="5655523"/>
            <a:ext cx="3322029" cy="1202477"/>
          </a:xfrm>
        </p:spPr>
        <p:txBody>
          <a:bodyPr>
            <a:noAutofit/>
          </a:bodyPr>
          <a:lstStyle/>
          <a:p>
            <a:pPr algn="r" eaLnBrk="1" hangingPunct="1"/>
            <a:r>
              <a:rPr lang="it-IT" altLang="en-US" b="1" dirty="0">
                <a:latin typeface="ManiezzoSlides" pitchFamily="2" charset="0"/>
              </a:rPr>
              <a:t>Vittorio Maniezzo</a:t>
            </a:r>
          </a:p>
          <a:p>
            <a:pPr algn="r" eaLnBrk="1" hangingPunct="1"/>
            <a:r>
              <a:rPr lang="it-IT" altLang="en-US" b="1" dirty="0">
                <a:latin typeface="ManiezzoSlides" pitchFamily="2" charset="0"/>
              </a:rPr>
              <a:t>University of Bologna</a:t>
            </a:r>
          </a:p>
          <a:p>
            <a:pPr algn="r" eaLnBrk="1" hangingPunct="1"/>
            <a:r>
              <a:rPr lang="it-IT" altLang="en-US" b="1" dirty="0">
                <a:latin typeface="ManiezzoSlides" pitchFamily="2" charset="0"/>
              </a:rPr>
              <a:t>vittorio.maniezzo@unibo.it</a:t>
            </a:r>
          </a:p>
        </p:txBody>
      </p:sp>
      <p:grpSp>
        <p:nvGrpSpPr>
          <p:cNvPr id="4" name="linea">
            <a:extLst>
              <a:ext uri="{FF2B5EF4-FFF2-40B4-BE49-F238E27FC236}">
                <a16:creationId xmlns:a16="http://schemas.microsoft.com/office/drawing/2014/main" id="{145D9C24-497C-441E-A3D3-331D06145CEE}"/>
              </a:ext>
            </a:extLst>
          </p:cNvPr>
          <p:cNvGrpSpPr/>
          <p:nvPr/>
        </p:nvGrpSpPr>
        <p:grpSpPr bwMode="invGray">
          <a:xfrm>
            <a:off x="396442" y="4010091"/>
            <a:ext cx="7929246" cy="64008"/>
            <a:chOff x="1522413" y="1514475"/>
            <a:chExt cx="10569575" cy="64008"/>
          </a:xfrm>
          <a:solidFill>
            <a:schemeClr val="accent2">
              <a:lumMod val="75000"/>
            </a:schemeClr>
          </a:solidFill>
        </p:grpSpPr>
        <p:sp>
          <p:nvSpPr>
            <p:cNvPr id="5" name="Figura a mano libera 10">
              <a:extLst>
                <a:ext uri="{FF2B5EF4-FFF2-40B4-BE49-F238E27FC236}">
                  <a16:creationId xmlns:a16="http://schemas.microsoft.com/office/drawing/2014/main" id="{D322C151-15B2-4E6A-8094-123F558A996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" name="Figura a mano libera 11">
              <a:extLst>
                <a:ext uri="{FF2B5EF4-FFF2-40B4-BE49-F238E27FC236}">
                  <a16:creationId xmlns:a16="http://schemas.microsoft.com/office/drawing/2014/main" id="{864BCB5A-138C-4EED-A084-89B52A615D4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8" name="Figura a mano libera 12">
              <a:extLst>
                <a:ext uri="{FF2B5EF4-FFF2-40B4-BE49-F238E27FC236}">
                  <a16:creationId xmlns:a16="http://schemas.microsoft.com/office/drawing/2014/main" id="{FB2A8E7A-2A36-477F-9E96-ED0C634B29EE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9" name="Figura a mano libera 15">
              <a:extLst>
                <a:ext uri="{FF2B5EF4-FFF2-40B4-BE49-F238E27FC236}">
                  <a16:creationId xmlns:a16="http://schemas.microsoft.com/office/drawing/2014/main" id="{C74CFF84-CFB4-41A8-8F02-59438256EAE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0" name="Figura a mano libera 16">
              <a:extLst>
                <a:ext uri="{FF2B5EF4-FFF2-40B4-BE49-F238E27FC236}">
                  <a16:creationId xmlns:a16="http://schemas.microsoft.com/office/drawing/2014/main" id="{A3152A92-80EA-4CDC-817E-50A54EFD3B01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1" name="Figura a mano libera 17">
              <a:extLst>
                <a:ext uri="{FF2B5EF4-FFF2-40B4-BE49-F238E27FC236}">
                  <a16:creationId xmlns:a16="http://schemas.microsoft.com/office/drawing/2014/main" id="{88F34E46-1712-4E73-94E1-F182E06A68AD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2" name="Figura a mano libera 18">
              <a:extLst>
                <a:ext uri="{FF2B5EF4-FFF2-40B4-BE49-F238E27FC236}">
                  <a16:creationId xmlns:a16="http://schemas.microsoft.com/office/drawing/2014/main" id="{F264C382-1F30-4D8E-91C6-1960D13A5061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3" name="Figura a mano libera 19">
              <a:extLst>
                <a:ext uri="{FF2B5EF4-FFF2-40B4-BE49-F238E27FC236}">
                  <a16:creationId xmlns:a16="http://schemas.microsoft.com/office/drawing/2014/main" id="{25224C1B-2C6A-4F58-9835-5B6B0CD1CC3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4" name="Figura a mano libera 20">
              <a:extLst>
                <a:ext uri="{FF2B5EF4-FFF2-40B4-BE49-F238E27FC236}">
                  <a16:creationId xmlns:a16="http://schemas.microsoft.com/office/drawing/2014/main" id="{99F95225-B0B8-4637-A794-8E8501A384BB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5" name="Figura a mano libera 21">
              <a:extLst>
                <a:ext uri="{FF2B5EF4-FFF2-40B4-BE49-F238E27FC236}">
                  <a16:creationId xmlns:a16="http://schemas.microsoft.com/office/drawing/2014/main" id="{6A8B5657-BCD0-40CB-B9EA-EC999E039011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6" name="Figura a mano libera 22">
              <a:extLst>
                <a:ext uri="{FF2B5EF4-FFF2-40B4-BE49-F238E27FC236}">
                  <a16:creationId xmlns:a16="http://schemas.microsoft.com/office/drawing/2014/main" id="{545CA83B-7C9E-455F-95E4-35B7A056215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7" name="Figura a mano libera 23">
              <a:extLst>
                <a:ext uri="{FF2B5EF4-FFF2-40B4-BE49-F238E27FC236}">
                  <a16:creationId xmlns:a16="http://schemas.microsoft.com/office/drawing/2014/main" id="{86FD7A18-3334-4362-960C-2A6FC5F67E7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8" name="Figura a mano libera 24">
              <a:extLst>
                <a:ext uri="{FF2B5EF4-FFF2-40B4-BE49-F238E27FC236}">
                  <a16:creationId xmlns:a16="http://schemas.microsoft.com/office/drawing/2014/main" id="{86B8D299-9339-4702-A83B-038392EA13D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9" name="Figura a mano libera 25">
              <a:extLst>
                <a:ext uri="{FF2B5EF4-FFF2-40B4-BE49-F238E27FC236}">
                  <a16:creationId xmlns:a16="http://schemas.microsoft.com/office/drawing/2014/main" id="{C05CDB97-4132-4059-8025-49A497CA92C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0" name="Figura a mano libera 26">
              <a:extLst>
                <a:ext uri="{FF2B5EF4-FFF2-40B4-BE49-F238E27FC236}">
                  <a16:creationId xmlns:a16="http://schemas.microsoft.com/office/drawing/2014/main" id="{1C100573-D882-4799-9BCF-5579DA8C826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1" name="Figura a mano libera 27">
              <a:extLst>
                <a:ext uri="{FF2B5EF4-FFF2-40B4-BE49-F238E27FC236}">
                  <a16:creationId xmlns:a16="http://schemas.microsoft.com/office/drawing/2014/main" id="{9F0FA0E2-2814-4DFA-B560-B92C2A0A467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2" name="Figura a mano libera 28">
              <a:extLst>
                <a:ext uri="{FF2B5EF4-FFF2-40B4-BE49-F238E27FC236}">
                  <a16:creationId xmlns:a16="http://schemas.microsoft.com/office/drawing/2014/main" id="{70B3B9A2-5543-4C1E-907D-7000782965D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3" name="Figura a mano libera 29">
              <a:extLst>
                <a:ext uri="{FF2B5EF4-FFF2-40B4-BE49-F238E27FC236}">
                  <a16:creationId xmlns:a16="http://schemas.microsoft.com/office/drawing/2014/main" id="{C795110E-FBDF-4C11-8FEC-7C8C79C3BE3E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4" name="Figura a mano libera 30">
              <a:extLst>
                <a:ext uri="{FF2B5EF4-FFF2-40B4-BE49-F238E27FC236}">
                  <a16:creationId xmlns:a16="http://schemas.microsoft.com/office/drawing/2014/main" id="{C45300A0-C35F-4942-B14A-C4F8CE85F207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5" name="Figura a mano libera 31">
              <a:extLst>
                <a:ext uri="{FF2B5EF4-FFF2-40B4-BE49-F238E27FC236}">
                  <a16:creationId xmlns:a16="http://schemas.microsoft.com/office/drawing/2014/main" id="{427CC614-001E-4826-A460-64DB7D6A43A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6" name="Figura a mano libera 32">
              <a:extLst>
                <a:ext uri="{FF2B5EF4-FFF2-40B4-BE49-F238E27FC236}">
                  <a16:creationId xmlns:a16="http://schemas.microsoft.com/office/drawing/2014/main" id="{3CF50919-5802-4F73-A5FA-2F384C55EBF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7" name="Figura a mano libera 33">
              <a:extLst>
                <a:ext uri="{FF2B5EF4-FFF2-40B4-BE49-F238E27FC236}">
                  <a16:creationId xmlns:a16="http://schemas.microsoft.com/office/drawing/2014/main" id="{8881EC7A-6B0E-4240-B7DF-77E53A42028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8" name="Figura a mano libera 34">
              <a:extLst>
                <a:ext uri="{FF2B5EF4-FFF2-40B4-BE49-F238E27FC236}">
                  <a16:creationId xmlns:a16="http://schemas.microsoft.com/office/drawing/2014/main" id="{93ABCD5D-F355-4501-AED1-25C89C0E6F0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9" name="Figura a mano libera 35">
              <a:extLst>
                <a:ext uri="{FF2B5EF4-FFF2-40B4-BE49-F238E27FC236}">
                  <a16:creationId xmlns:a16="http://schemas.microsoft.com/office/drawing/2014/main" id="{BBDCC998-4230-4F20-A2E5-37A005478F59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0" name="Figura a mano libera 36">
              <a:extLst>
                <a:ext uri="{FF2B5EF4-FFF2-40B4-BE49-F238E27FC236}">
                  <a16:creationId xmlns:a16="http://schemas.microsoft.com/office/drawing/2014/main" id="{92055003-E365-4C48-93BD-F68C52CA3F4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1" name="Figura a mano libera 37">
              <a:extLst>
                <a:ext uri="{FF2B5EF4-FFF2-40B4-BE49-F238E27FC236}">
                  <a16:creationId xmlns:a16="http://schemas.microsoft.com/office/drawing/2014/main" id="{864C159D-529A-4F18-A058-26F591C4E7CC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2" name="Figura a mano libera 38">
              <a:extLst>
                <a:ext uri="{FF2B5EF4-FFF2-40B4-BE49-F238E27FC236}">
                  <a16:creationId xmlns:a16="http://schemas.microsoft.com/office/drawing/2014/main" id="{33D095F8-861D-466C-AE50-D8A2AAF2962A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3" name="Figura a mano libera 39">
              <a:extLst>
                <a:ext uri="{FF2B5EF4-FFF2-40B4-BE49-F238E27FC236}">
                  <a16:creationId xmlns:a16="http://schemas.microsoft.com/office/drawing/2014/main" id="{1693B8CA-5F2C-4D68-B258-F2060C0AA67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4" name="Figura a mano libera 40">
              <a:extLst>
                <a:ext uri="{FF2B5EF4-FFF2-40B4-BE49-F238E27FC236}">
                  <a16:creationId xmlns:a16="http://schemas.microsoft.com/office/drawing/2014/main" id="{CF4CB899-72F1-471A-8827-C76CB3020AB1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5" name="Figura a mano libera 41">
              <a:extLst>
                <a:ext uri="{FF2B5EF4-FFF2-40B4-BE49-F238E27FC236}">
                  <a16:creationId xmlns:a16="http://schemas.microsoft.com/office/drawing/2014/main" id="{ABB2800F-1B33-4062-A71E-4B610D89773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6" name="Figura a mano libera 42">
              <a:extLst>
                <a:ext uri="{FF2B5EF4-FFF2-40B4-BE49-F238E27FC236}">
                  <a16:creationId xmlns:a16="http://schemas.microsoft.com/office/drawing/2014/main" id="{6FFF9AA6-E7FC-4312-AD92-8C6E8AB5FAA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7" name="Figura a mano libera 43">
              <a:extLst>
                <a:ext uri="{FF2B5EF4-FFF2-40B4-BE49-F238E27FC236}">
                  <a16:creationId xmlns:a16="http://schemas.microsoft.com/office/drawing/2014/main" id="{7654282E-411D-47A4-BEDD-F1D36963D61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8" name="Figura a mano libera 44">
              <a:extLst>
                <a:ext uri="{FF2B5EF4-FFF2-40B4-BE49-F238E27FC236}">
                  <a16:creationId xmlns:a16="http://schemas.microsoft.com/office/drawing/2014/main" id="{BB64D69C-CAE2-4922-A4AF-662CF5AB179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9" name="Figura a mano libera 45">
              <a:extLst>
                <a:ext uri="{FF2B5EF4-FFF2-40B4-BE49-F238E27FC236}">
                  <a16:creationId xmlns:a16="http://schemas.microsoft.com/office/drawing/2014/main" id="{2ED80A6D-4378-441A-B270-796047A1C381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0" name="Figura a mano libera 46">
              <a:extLst>
                <a:ext uri="{FF2B5EF4-FFF2-40B4-BE49-F238E27FC236}">
                  <a16:creationId xmlns:a16="http://schemas.microsoft.com/office/drawing/2014/main" id="{0A86051E-8AAA-439F-B366-AEE843A3C1CA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1" name="Figura a mano libera 47">
              <a:extLst>
                <a:ext uri="{FF2B5EF4-FFF2-40B4-BE49-F238E27FC236}">
                  <a16:creationId xmlns:a16="http://schemas.microsoft.com/office/drawing/2014/main" id="{6571B322-E3F3-42C3-AF20-854FF13493BD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2" name="Figura a mano libera 48">
              <a:extLst>
                <a:ext uri="{FF2B5EF4-FFF2-40B4-BE49-F238E27FC236}">
                  <a16:creationId xmlns:a16="http://schemas.microsoft.com/office/drawing/2014/main" id="{C9C5DBCF-AD15-4C4B-8582-BCD483745B31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3" name="Figura a mano libera 49">
              <a:extLst>
                <a:ext uri="{FF2B5EF4-FFF2-40B4-BE49-F238E27FC236}">
                  <a16:creationId xmlns:a16="http://schemas.microsoft.com/office/drawing/2014/main" id="{B023E1B3-F129-43D8-8F04-43AFFDEC2A61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4" name="Figura a mano libera 50">
              <a:extLst>
                <a:ext uri="{FF2B5EF4-FFF2-40B4-BE49-F238E27FC236}">
                  <a16:creationId xmlns:a16="http://schemas.microsoft.com/office/drawing/2014/main" id="{A44BE531-DC1E-4791-8B3F-FF2586CC777D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5" name="Figura a mano libera 51">
              <a:extLst>
                <a:ext uri="{FF2B5EF4-FFF2-40B4-BE49-F238E27FC236}">
                  <a16:creationId xmlns:a16="http://schemas.microsoft.com/office/drawing/2014/main" id="{030105FD-9954-400B-90B6-3871CC4198C3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6" name="Figura a mano libera 52">
              <a:extLst>
                <a:ext uri="{FF2B5EF4-FFF2-40B4-BE49-F238E27FC236}">
                  <a16:creationId xmlns:a16="http://schemas.microsoft.com/office/drawing/2014/main" id="{7B8EB148-CE8F-4E9D-B4EC-7333FD91002C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7" name="Figura a mano libera 53">
              <a:extLst>
                <a:ext uri="{FF2B5EF4-FFF2-40B4-BE49-F238E27FC236}">
                  <a16:creationId xmlns:a16="http://schemas.microsoft.com/office/drawing/2014/main" id="{AC05E91E-9EFF-47D7-A34E-F698DD9BCD1D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8" name="Figura a mano libera 54">
              <a:extLst>
                <a:ext uri="{FF2B5EF4-FFF2-40B4-BE49-F238E27FC236}">
                  <a16:creationId xmlns:a16="http://schemas.microsoft.com/office/drawing/2014/main" id="{96F1C184-5F65-4577-B1DD-2B765CD6F1CD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9" name="Figura a mano libera 55">
              <a:extLst>
                <a:ext uri="{FF2B5EF4-FFF2-40B4-BE49-F238E27FC236}">
                  <a16:creationId xmlns:a16="http://schemas.microsoft.com/office/drawing/2014/main" id="{4D5BFD5E-869B-4D2A-8398-725D90A20983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0" name="Figura a mano libera 56">
              <a:extLst>
                <a:ext uri="{FF2B5EF4-FFF2-40B4-BE49-F238E27FC236}">
                  <a16:creationId xmlns:a16="http://schemas.microsoft.com/office/drawing/2014/main" id="{AAD56FE7-6ADD-4C7B-BE6D-7A50412884CE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1" name="Figura a mano libera 57">
              <a:extLst>
                <a:ext uri="{FF2B5EF4-FFF2-40B4-BE49-F238E27FC236}">
                  <a16:creationId xmlns:a16="http://schemas.microsoft.com/office/drawing/2014/main" id="{73FACDAE-D56F-4FE6-B31D-DC3A79D6D87E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2" name="Figura a mano libera 58">
              <a:extLst>
                <a:ext uri="{FF2B5EF4-FFF2-40B4-BE49-F238E27FC236}">
                  <a16:creationId xmlns:a16="http://schemas.microsoft.com/office/drawing/2014/main" id="{D94284AE-85BE-444E-B622-FF37C8A914F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3" name="Figura a mano libera 59">
              <a:extLst>
                <a:ext uri="{FF2B5EF4-FFF2-40B4-BE49-F238E27FC236}">
                  <a16:creationId xmlns:a16="http://schemas.microsoft.com/office/drawing/2014/main" id="{98AAEA7A-F3F7-40C4-A2D6-4F82B7636AE3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4" name="Figura a mano libera 60">
              <a:extLst>
                <a:ext uri="{FF2B5EF4-FFF2-40B4-BE49-F238E27FC236}">
                  <a16:creationId xmlns:a16="http://schemas.microsoft.com/office/drawing/2014/main" id="{AF51A35D-2FBA-4046-98B3-E208CF4C32F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5" name="Figura a mano libera 61">
              <a:extLst>
                <a:ext uri="{FF2B5EF4-FFF2-40B4-BE49-F238E27FC236}">
                  <a16:creationId xmlns:a16="http://schemas.microsoft.com/office/drawing/2014/main" id="{FFBEF6AF-DFC2-43C9-9F26-2A510F6F2A3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6" name="Figura a mano libera 62">
              <a:extLst>
                <a:ext uri="{FF2B5EF4-FFF2-40B4-BE49-F238E27FC236}">
                  <a16:creationId xmlns:a16="http://schemas.microsoft.com/office/drawing/2014/main" id="{8D649C56-0573-4634-AA61-E940650D8B99}"/>
                </a:ext>
              </a:extLst>
            </p:cNvPr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7" name="Figura a mano libera 63">
              <a:extLst>
                <a:ext uri="{FF2B5EF4-FFF2-40B4-BE49-F238E27FC236}">
                  <a16:creationId xmlns:a16="http://schemas.microsoft.com/office/drawing/2014/main" id="{6C083D07-F662-4B88-A7AD-D2A3001A7A01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8" name="Figura a mano libera 64">
              <a:extLst>
                <a:ext uri="{FF2B5EF4-FFF2-40B4-BE49-F238E27FC236}">
                  <a16:creationId xmlns:a16="http://schemas.microsoft.com/office/drawing/2014/main" id="{52719EEC-4A5A-4B27-AF60-54D11F4CC9C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9" name="Figura a mano libera 65">
              <a:extLst>
                <a:ext uri="{FF2B5EF4-FFF2-40B4-BE49-F238E27FC236}">
                  <a16:creationId xmlns:a16="http://schemas.microsoft.com/office/drawing/2014/main" id="{497702AA-B85C-43F5-8191-1EE8B9EB392D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0" name="Figura a mano libera 66">
              <a:extLst>
                <a:ext uri="{FF2B5EF4-FFF2-40B4-BE49-F238E27FC236}">
                  <a16:creationId xmlns:a16="http://schemas.microsoft.com/office/drawing/2014/main" id="{DC6FAF18-E30C-4311-80B3-BA1CB010124E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1" name="Figura a mano libera 67">
              <a:extLst>
                <a:ext uri="{FF2B5EF4-FFF2-40B4-BE49-F238E27FC236}">
                  <a16:creationId xmlns:a16="http://schemas.microsoft.com/office/drawing/2014/main" id="{9B06496D-42D9-4B23-AA94-0DF6F47EAB75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2" name="Figura a mano libera 68">
              <a:extLst>
                <a:ext uri="{FF2B5EF4-FFF2-40B4-BE49-F238E27FC236}">
                  <a16:creationId xmlns:a16="http://schemas.microsoft.com/office/drawing/2014/main" id="{4E23B2FC-7FDB-492C-97FE-8D6CC5FCD28C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3" name="Figura a mano libera 69">
              <a:extLst>
                <a:ext uri="{FF2B5EF4-FFF2-40B4-BE49-F238E27FC236}">
                  <a16:creationId xmlns:a16="http://schemas.microsoft.com/office/drawing/2014/main" id="{9DEDC81D-E949-4266-9944-35BFA0DB6957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4" name="Figura a mano libera 70">
              <a:extLst>
                <a:ext uri="{FF2B5EF4-FFF2-40B4-BE49-F238E27FC236}">
                  <a16:creationId xmlns:a16="http://schemas.microsoft.com/office/drawing/2014/main" id="{0FE9C02B-9BE5-4C0A-AB91-626F2E7C379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5" name="Figura a mano libera 71">
              <a:extLst>
                <a:ext uri="{FF2B5EF4-FFF2-40B4-BE49-F238E27FC236}">
                  <a16:creationId xmlns:a16="http://schemas.microsoft.com/office/drawing/2014/main" id="{106CEB60-669D-4F08-B9A7-2E4D35D8EAF8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6" name="Figura a mano libera 72">
              <a:extLst>
                <a:ext uri="{FF2B5EF4-FFF2-40B4-BE49-F238E27FC236}">
                  <a16:creationId xmlns:a16="http://schemas.microsoft.com/office/drawing/2014/main" id="{B8238780-CAD2-4991-B1A3-F3AF2ECA47C3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7" name="Figura a mano libera 73">
              <a:extLst>
                <a:ext uri="{FF2B5EF4-FFF2-40B4-BE49-F238E27FC236}">
                  <a16:creationId xmlns:a16="http://schemas.microsoft.com/office/drawing/2014/main" id="{DF31B18A-1226-49FC-B8F3-A71F6F7B5D2B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8" name="Figura a mano libera 74">
              <a:extLst>
                <a:ext uri="{FF2B5EF4-FFF2-40B4-BE49-F238E27FC236}">
                  <a16:creationId xmlns:a16="http://schemas.microsoft.com/office/drawing/2014/main" id="{FDF82FA3-3896-4FCB-981C-E596BA9FE1F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9" name="Figura a mano libera 75">
              <a:extLst>
                <a:ext uri="{FF2B5EF4-FFF2-40B4-BE49-F238E27FC236}">
                  <a16:creationId xmlns:a16="http://schemas.microsoft.com/office/drawing/2014/main" id="{97343E89-E6C3-4C21-BBA6-3CE199E9530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0" name="Figura a mano libera 76">
              <a:extLst>
                <a:ext uri="{FF2B5EF4-FFF2-40B4-BE49-F238E27FC236}">
                  <a16:creationId xmlns:a16="http://schemas.microsoft.com/office/drawing/2014/main" id="{5E10BDFB-3013-4973-BB77-F7EB4C9D81EB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1" name="Figura a mano libera 77">
              <a:extLst>
                <a:ext uri="{FF2B5EF4-FFF2-40B4-BE49-F238E27FC236}">
                  <a16:creationId xmlns:a16="http://schemas.microsoft.com/office/drawing/2014/main" id="{654753FC-11FF-4DFC-8341-C03E5B7D08C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2" name="Figura a mano libera 78">
              <a:extLst>
                <a:ext uri="{FF2B5EF4-FFF2-40B4-BE49-F238E27FC236}">
                  <a16:creationId xmlns:a16="http://schemas.microsoft.com/office/drawing/2014/main" id="{5B3789F8-AD2E-4DB4-A477-90E2D90CB74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3" name="Figura a mano libera 79">
              <a:extLst>
                <a:ext uri="{FF2B5EF4-FFF2-40B4-BE49-F238E27FC236}">
                  <a16:creationId xmlns:a16="http://schemas.microsoft.com/office/drawing/2014/main" id="{D9D37BE8-9EA6-41C6-BABD-6A1865E68E8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4" name="Figura a mano libera 80">
              <a:extLst>
                <a:ext uri="{FF2B5EF4-FFF2-40B4-BE49-F238E27FC236}">
                  <a16:creationId xmlns:a16="http://schemas.microsoft.com/office/drawing/2014/main" id="{97368B78-3BC7-4D1C-8BE1-803E4A1D6327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5" name="Figura a mano libera 81">
              <a:extLst>
                <a:ext uri="{FF2B5EF4-FFF2-40B4-BE49-F238E27FC236}">
                  <a16:creationId xmlns:a16="http://schemas.microsoft.com/office/drawing/2014/main" id="{CD5DEB82-90EE-4B03-9557-B57E844C1C8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6" name="Figura a mano libera 82">
              <a:extLst>
                <a:ext uri="{FF2B5EF4-FFF2-40B4-BE49-F238E27FC236}">
                  <a16:creationId xmlns:a16="http://schemas.microsoft.com/office/drawing/2014/main" id="{9CAA0EB0-2610-4A85-ABBA-BA80571DF297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7" name="Figura a mano libera 83">
              <a:extLst>
                <a:ext uri="{FF2B5EF4-FFF2-40B4-BE49-F238E27FC236}">
                  <a16:creationId xmlns:a16="http://schemas.microsoft.com/office/drawing/2014/main" id="{955C439C-F3A0-4AF9-BD5D-73ABEB989A0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8" name="Figura a mano libera 84">
              <a:extLst>
                <a:ext uri="{FF2B5EF4-FFF2-40B4-BE49-F238E27FC236}">
                  <a16:creationId xmlns:a16="http://schemas.microsoft.com/office/drawing/2014/main" id="{E7DDF141-6537-4E0D-BF78-43F86805699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9" name="Figura a mano libera 85">
              <a:extLst>
                <a:ext uri="{FF2B5EF4-FFF2-40B4-BE49-F238E27FC236}">
                  <a16:creationId xmlns:a16="http://schemas.microsoft.com/office/drawing/2014/main" id="{789A3C03-E670-4FC6-AC2C-871A522A8528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</p:grpSp>
      <p:sp>
        <p:nvSpPr>
          <p:cNvPr id="2" name="Rectangle 3">
            <a:extLst>
              <a:ext uri="{FF2B5EF4-FFF2-40B4-BE49-F238E27FC236}">
                <a16:creationId xmlns:a16="http://schemas.microsoft.com/office/drawing/2014/main" id="{33476957-E834-5898-12F1-45F860C68BA7}"/>
              </a:ext>
            </a:extLst>
          </p:cNvPr>
          <p:cNvSpPr txBox="1">
            <a:spLocks noChangeArrowheads="1"/>
          </p:cNvSpPr>
          <p:nvPr/>
        </p:nvSpPr>
        <p:spPr>
          <a:xfrm>
            <a:off x="6125209" y="5655523"/>
            <a:ext cx="3004050" cy="120247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0"/>
              </a:spcBef>
              <a:buClrTx/>
              <a:buFont typeface="Arial" panose="020B0604020202020204" pitchFamily="34" charset="0"/>
              <a:buNone/>
              <a:defRPr sz="2400" kern="1200" cap="none" baseline="0">
                <a:solidFill>
                  <a:srgbClr val="002060"/>
                </a:solidFill>
                <a:latin typeface="AAchalk" pitchFamily="2" charset="0"/>
                <a:ea typeface="+mn-ea"/>
                <a:cs typeface="Calibri Light" panose="020F0302020204030204" pitchFamily="34" charset="0"/>
              </a:defRPr>
            </a:lvl1pPr>
            <a:lvl2pPr marL="457200" indent="0" algn="ctr" defTabSz="914400" rtl="0" eaLnBrk="1" latinLnBrk="0" hangingPunct="1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914400" indent="0" algn="ctr" defTabSz="914400" rtl="0" eaLnBrk="1" latinLnBrk="0" hangingPunct="1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1371600" indent="0" algn="ctr" defTabSz="914400" rtl="0" eaLnBrk="1" latinLnBrk="0" hangingPunct="1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1828800" indent="0" algn="ctr" defTabSz="914400" rtl="0" eaLnBrk="1" latinLnBrk="0" hangingPunct="1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5"/>
              </a:buClr>
              <a:buFont typeface="Wingdings" panose="05000000000000000000" pitchFamily="2" charset="2"/>
              <a:buNone/>
              <a:defRPr sz="1600" kern="1200" baseline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5"/>
              </a:buClr>
              <a:buFont typeface="Wingdings" panose="05000000000000000000" pitchFamily="2" charset="2"/>
              <a:buNone/>
              <a:defRPr sz="1600" kern="1200" baseline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5"/>
              </a:buClr>
              <a:buFont typeface="Wingdings" panose="05000000000000000000" pitchFamily="2" charset="2"/>
              <a:buNone/>
              <a:defRPr sz="1600" kern="1200" baseline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5"/>
              </a:buClr>
              <a:buFont typeface="Wingdings" panose="05000000000000000000" pitchFamily="2" charset="2"/>
              <a:buNone/>
              <a:defRPr sz="1600" kern="1200" baseline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altLang="en-US" b="1" dirty="0">
                <a:latin typeface="ManiezzoSlides" pitchFamily="2" charset="0"/>
              </a:rPr>
              <a:t>Livio </a:t>
            </a:r>
            <a:r>
              <a:rPr lang="it-IT" altLang="en-US" b="1" dirty="0" err="1">
                <a:latin typeface="ManiezzoSlides" pitchFamily="2" charset="0"/>
              </a:rPr>
              <a:t>Fenga</a:t>
            </a:r>
            <a:endParaRPr lang="it-IT" altLang="en-US" b="1" dirty="0">
              <a:latin typeface="ManiezzoSlides" pitchFamily="2" charset="0"/>
            </a:endParaRPr>
          </a:p>
          <a:p>
            <a:pPr algn="l"/>
            <a:r>
              <a:rPr lang="it-IT" altLang="en-US" b="1" dirty="0">
                <a:latin typeface="ManiezzoSlides" pitchFamily="2" charset="0"/>
              </a:rPr>
              <a:t>University of Exeter</a:t>
            </a:r>
          </a:p>
          <a:p>
            <a:pPr algn="l"/>
            <a:r>
              <a:rPr lang="it-IT" altLang="en-US" b="1" dirty="0">
                <a:latin typeface="ManiezzoSlides" pitchFamily="2" charset="0"/>
              </a:rPr>
              <a:t>L.Fenga@exeter.ac.uk</a:t>
            </a:r>
          </a:p>
        </p:txBody>
      </p:sp>
    </p:spTree>
    <p:extLst>
      <p:ext uri="{BB962C8B-B14F-4D97-AF65-F5344CB8AC3E}">
        <p14:creationId xmlns:p14="http://schemas.microsoft.com/office/powerpoint/2010/main" val="13498572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269984B-DF76-A78D-01B2-FC4B36C71B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it-IT" sz="2400" dirty="0"/>
              <a:t>Given a </a:t>
            </a:r>
            <a:r>
              <a:rPr lang="it-IT" sz="2400" dirty="0" err="1"/>
              <a:t>univariate</a:t>
            </a:r>
            <a:r>
              <a:rPr lang="it-IT" sz="2400" dirty="0"/>
              <a:t> time </a:t>
            </a:r>
            <a:r>
              <a:rPr lang="it-IT" sz="2400" dirty="0" err="1"/>
              <a:t>series</a:t>
            </a:r>
            <a:r>
              <a:rPr lang="it-IT" sz="2400" dirty="0"/>
              <a:t> T, </a:t>
            </a:r>
            <a:r>
              <a:rPr lang="it-IT" sz="2400" dirty="0" err="1"/>
              <a:t>changepoint</a:t>
            </a:r>
            <a:r>
              <a:rPr lang="it-IT" sz="2400" dirty="0"/>
              <a:t> </a:t>
            </a:r>
            <a:r>
              <a:rPr lang="it-IT" sz="2400" dirty="0" err="1"/>
              <a:t>detection</a:t>
            </a:r>
            <a:r>
              <a:rPr lang="it-IT" sz="2400" dirty="0"/>
              <a:t> </a:t>
            </a:r>
            <a:r>
              <a:rPr lang="it-IT" sz="2400" dirty="0" err="1"/>
              <a:t>identifies</a:t>
            </a:r>
            <a:r>
              <a:rPr lang="it-IT" sz="2400" dirty="0"/>
              <a:t> time points</a:t>
            </a:r>
            <a:r>
              <a:rPr lang="en-US" sz="2400" dirty="0"/>
              <a:t> where the statistical properties of the data undergo a significant change.</a:t>
            </a:r>
          </a:p>
          <a:p>
            <a:r>
              <a:rPr lang="en-US" sz="2400" dirty="0"/>
              <a:t>Most common use case is linear piecewise approximation, where the subseries between changepoints are approximated by best fit linear segments.</a:t>
            </a:r>
          </a:p>
          <a:p>
            <a:r>
              <a:rPr lang="en-US" sz="2400" dirty="0"/>
              <a:t>State-of-the-art methods are implemented in the ruptures package (Truong et al., 2020). Two DP-based examples: </a:t>
            </a:r>
          </a:p>
          <a:p>
            <a:pPr marL="342900" indent="-342900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2400" dirty="0" err="1"/>
              <a:t>Dynp</a:t>
            </a:r>
            <a:r>
              <a:rPr lang="en-US" sz="2400" dirty="0"/>
              <a:t> (requires the number of breakpoints as input)</a:t>
            </a:r>
          </a:p>
          <a:p>
            <a:pPr marL="342900" indent="-342900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2400" dirty="0"/>
              <a:t>PELT (Killick et al., 2012), which selects the number of breakpoints automatically via a penalized cost (e.g. AIC/BIC)</a:t>
            </a:r>
            <a:r>
              <a:rPr lang="da-DK" sz="2400" dirty="0"/>
              <a:t> </a:t>
            </a:r>
            <a:endParaRPr lang="en-US" sz="24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1894D63-7AE2-58CA-5CD8-6E209D73DC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Changepoint</a:t>
            </a:r>
            <a:r>
              <a:rPr lang="it-IT" dirty="0"/>
              <a:t> </a:t>
            </a:r>
            <a:r>
              <a:rPr lang="it-IT" dirty="0" err="1"/>
              <a:t>detection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A0E3FE2-D6E9-C7D6-C7BF-7E21023400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EF2CD6-D9BD-4733-FAE9-2127F06496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3808116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DF43367-177D-9F29-4DE7-4827FCD245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spcBef>
                <a:spcPts val="600"/>
              </a:spcBef>
            </a:pPr>
            <a:r>
              <a:rPr lang="en-US" sz="2200" b="1" dirty="0"/>
              <a:t>Changepoint detection </a:t>
            </a:r>
            <a:r>
              <a:rPr lang="en-US" sz="2200" dirty="0"/>
              <a:t>assumes a finite number of shifts, each permanent (the series settles into a new regime and doesn't return to the old one).</a:t>
            </a:r>
          </a:p>
          <a:p>
            <a:pPr>
              <a:spcBef>
                <a:spcPts val="600"/>
              </a:spcBef>
            </a:pPr>
            <a:r>
              <a:rPr lang="en-US" sz="2200" b="1" dirty="0"/>
              <a:t>Regime-switching </a:t>
            </a:r>
            <a:r>
              <a:rPr lang="en-US" sz="2200" dirty="0"/>
              <a:t>models allow the process to revisit earlier regimes, with switches governed by some rule rather than treated as isolated breaks.</a:t>
            </a:r>
          </a:p>
          <a:p>
            <a:pPr>
              <a:spcBef>
                <a:spcPts val="600"/>
              </a:spcBef>
            </a:pPr>
            <a:r>
              <a:rPr lang="en-US" sz="2200" dirty="0"/>
              <a:t>Two classical families: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200" dirty="0"/>
              <a:t>Threshold-based (deterministic switching rule). SETAR (Tong 1978/1990), TAR, STAR: the AR regime in force at time t is determined by whether a lagged value of the series crosses a threshold (or smoothly transitions in case of STAR).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200" dirty="0"/>
              <a:t>Markov-switching (latent stochastic switching rule). Markov-Switching Autoregressive model (Hamilton, 1989): regime is an unobserved discrete state following a Markov chain. Used for business-cycle identification (expansion / recession) and, in finance, for volatility regimes.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3B23E29-0E70-A065-C719-73E2FEDDF9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Regime switching </a:t>
            </a:r>
            <a:r>
              <a:rPr lang="it-IT" dirty="0" err="1"/>
              <a:t>detection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F471F2-13D0-D919-3BF0-99ABAB8C7E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7314E3-C629-6B24-C7F7-BA376C4EF1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1873638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A22D1EC-D93A-0840-F427-96A124F322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0984" y="980484"/>
            <a:ext cx="8546175" cy="5600099"/>
          </a:xfrm>
        </p:spPr>
        <p:txBody>
          <a:bodyPr>
            <a:noAutofit/>
          </a:bodyPr>
          <a:lstStyle/>
          <a:p>
            <a:pPr>
              <a:spcBef>
                <a:spcPts val="600"/>
              </a:spcBef>
            </a:pPr>
            <a:r>
              <a:rPr lang="en-US" sz="2000" dirty="0"/>
              <a:t>Segmenting the time series in order both to model active regimes in the past and forecast future behavior is largely unexplored.</a:t>
            </a:r>
          </a:p>
          <a:p>
            <a:pPr>
              <a:spcBef>
                <a:spcPts val="600"/>
              </a:spcBef>
            </a:pPr>
            <a:r>
              <a:rPr lang="en-US" sz="2000" dirty="0"/>
              <a:t>Current changepoint detection methods are designed to model the time series in-sample; segmentation is chosen with no out-of-sample forecasting intent.</a:t>
            </a:r>
          </a:p>
          <a:p>
            <a:pPr>
              <a:spcBef>
                <a:spcPts val="600"/>
              </a:spcBef>
            </a:pPr>
            <a:r>
              <a:rPr lang="en-US" sz="2000" dirty="0"/>
              <a:t>Even regime-switching models are built for description, not forecasting.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000" dirty="0"/>
              <a:t>SETAR: switches deterministically between a fixed, predefined set of regimes — cannot represent structural changes beyond that fixed parametric set.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000" dirty="0"/>
              <a:t>Markov-switching: regime is latent and only known probabilistically at the forecast origin; multi-step forecasts average over regimes, diluting the regime-specific dynamics of interest for in-sample analysis. </a:t>
            </a:r>
          </a:p>
          <a:p>
            <a:pPr>
              <a:spcBef>
                <a:spcPts val="600"/>
              </a:spcBef>
            </a:pPr>
            <a:r>
              <a:rPr lang="en-US" sz="2000" dirty="0"/>
              <a:t>(Clements &amp; Krolzig,1998, find no clear forecasting advantage over linear benchmarks for either SETAR or MS models of US GNP). </a:t>
            </a:r>
          </a:p>
          <a:p>
            <a:pPr>
              <a:spcBef>
                <a:spcPts val="600"/>
              </a:spcBef>
            </a:pPr>
            <a:r>
              <a:rPr lang="en-US" sz="2000" dirty="0"/>
              <a:t>We propose to identify time segments using the predictive accuracy of a forecasting model (AR, theta, MLP, … ) as a cost function, in place of the standard in-sample fit criteria (e.g. RSS/likelihood) used by existing segmentation methods.</a:t>
            </a:r>
          </a:p>
          <a:p>
            <a:endParaRPr lang="en-US" sz="20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326C9AB-1D10-A54D-01BA-123273E9D0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Modelling</a:t>
            </a:r>
            <a:r>
              <a:rPr lang="it-IT" dirty="0"/>
              <a:t> and forecasting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8308F5-E23D-03CC-8FE1-D1F8C430FBF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F12120D-E22B-84A0-BB50-666DBE375E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9511822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235AA441-D234-C05C-1381-2CCC456E07B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sz="2400"/>
                  <a:t>We generate all feasible time segments (suitable length and other segment-level constraints).</a:t>
                </a:r>
              </a:p>
              <a:p>
                <a:r>
                  <a:rPr lang="en-US" sz="2400" dirty="0"/>
                  <a:t>We apply the forecasting model of interest to each segment.</a:t>
                </a:r>
              </a:p>
              <a:p>
                <a:r>
                  <a:rPr lang="en-US" sz="2400" dirty="0"/>
                  <a:t>Each segment cost is the RMSE of the forecast on its following validation interval.</a:t>
                </a:r>
              </a:p>
              <a:p>
                <a:r>
                  <a:rPr lang="en-US" sz="2400" dirty="0"/>
                  <a:t>We identify the subset of segments  that collectively partitions the whole input series of minimum average cost, solving – and possibly extending – the SPP-like formulation</a:t>
                </a:r>
              </a:p>
              <a:p>
                <a:pPr>
                  <a:tabLst>
                    <a:tab pos="1257300" algn="l"/>
                    <a:tab pos="2171700" algn="l"/>
                  </a:tabLst>
                </a:pPr>
                <a:r>
                  <a:rPr lang="en-US" sz="2400" dirty="0"/>
                  <a:t>	</a:t>
                </a:r>
                <a14:m>
                  <m:oMath xmlns:m="http://schemas.openxmlformats.org/officeDocument/2006/math">
                    <m:limLow>
                      <m:limLow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sz="240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r>
                          <a:rPr lang="en-US" sz="2400" i="1" smtClean="0">
                            <a:latin typeface="Cambria Math" panose="02040503050406030204" pitchFamily="18" charset="0"/>
                          </a:rPr>
                          <m:t>𝑥</m:t>
                        </m:r>
                      </m:lim>
                    </m:limLow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   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d>
                      <m:d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240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supHide m:val="on"/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sz="240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en-US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sub>
                                <m:r>
                                  <a:rPr lang="en-US" sz="240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40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e>
                        </m:nary>
                      </m:num>
                      <m:den>
                        <m:nary>
                          <m:naryPr>
                            <m:chr m:val="∑"/>
                            <m:supHide m:val="on"/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sz="240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en-US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40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e>
                        </m:nary>
                      </m:den>
                    </m:f>
                  </m:oMath>
                </a14:m>
                <a:r>
                  <a:rPr lang="en-US" sz="2400" dirty="0"/>
                  <a:t> </a:t>
                </a:r>
              </a:p>
              <a:p>
                <a:pPr>
                  <a:spcBef>
                    <a:spcPts val="600"/>
                  </a:spcBef>
                  <a:tabLst>
                    <a:tab pos="1257300" algn="l"/>
                    <a:tab pos="2171700" algn="l"/>
                  </a:tabLst>
                </a:pPr>
                <a:r>
                  <a:rPr lang="en-US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	</a:t>
                </a:r>
                <a:r>
                  <a:rPr lang="en-US" sz="2400" dirty="0" err="1">
                    <a:latin typeface="Cambria" panose="02040503050406030204" pitchFamily="18" charset="0"/>
                    <a:ea typeface="Cambria" panose="02040503050406030204" pitchFamily="18" charset="0"/>
                  </a:rPr>
                  <a:t>s.t.</a:t>
                </a:r>
                <a:r>
                  <a:rPr lang="en-US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 smtClean="0"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smtClean="0"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i="1" smtClean="0">
                                <a:latin typeface="Cambria Math" panose="02040503050406030204" pitchFamily="18" charset="0"/>
                                <a:ea typeface="Cambria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400" i="1" smtClean="0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smtClean="0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2400" smtClean="0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</a:rPr>
                                  <m:t>𝑖𝑗</m:t>
                                </m:r>
                              </m:sub>
                            </m:sSub>
                            <m:r>
                              <a:rPr lang="en-US" sz="2400" smtClean="0">
                                <a:latin typeface="Cambria Math" panose="02040503050406030204" pitchFamily="18" charset="0"/>
                                <a:ea typeface="Cambria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smtClean="0">
                                <a:latin typeface="Cambria Math" panose="02040503050406030204" pitchFamily="18" charset="0"/>
                                <a:ea typeface="Cambria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  <m:r>
                      <a:rPr lang="en-US" sz="2400" smtClean="0">
                        <a:latin typeface="Cambria Math" panose="02040503050406030204" pitchFamily="18" charset="0"/>
                        <a:ea typeface="Cambria" panose="02040503050406030204" pitchFamily="18" charset="0"/>
                      </a:rPr>
                      <m:t>=1</m:t>
                    </m:r>
                  </m:oMath>
                </a14:m>
                <a:r>
                  <a:rPr lang="en-US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	</a:t>
                </a:r>
                <a:r>
                  <a:rPr lang="en-US" sz="2400" dirty="0" err="1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en-US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 = 1, … , </a:t>
                </a:r>
                <a:r>
                  <a:rPr lang="en-US" sz="2400" i="1" dirty="0" err="1">
                    <a:latin typeface="Cambria" panose="02040503050406030204" pitchFamily="18" charset="0"/>
                    <a:ea typeface="Cambria" panose="02040503050406030204" pitchFamily="18" charset="0"/>
                  </a:rPr>
                  <a:t>npoints</a:t>
                </a:r>
                <a:endParaRPr lang="en-US" sz="2400" i="1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>
                  <a:spcBef>
                    <a:spcPts val="600"/>
                  </a:spcBef>
                  <a:tabLst>
                    <a:tab pos="1257300" algn="l"/>
                    <a:tab pos="2171700" algn="l"/>
                  </a:tabLst>
                </a:pPr>
                <a:r>
                  <a:rPr lang="en-US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lit/>
                      </m:rPr>
                      <a:rPr lang="en-US" sz="2400" i="1"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0,1</m:t>
                    </m:r>
                    <m:r>
                      <m:rPr>
                        <m:lit/>
                      </m:rPr>
                      <a:rPr lang="en-US" sz="24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235AA441-D234-C05C-1381-2CCC456E07B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0" t="-1624" b="-6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56477BA4-3C01-F1A8-C90B-50E2D5492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Segment</a:t>
            </a:r>
            <a:r>
              <a:rPr lang="it-IT" dirty="0"/>
              <a:t> and forecast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DF49CE-7140-FD6A-2D00-2147CBE653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F8184F4-9DD8-E80A-4651-91B3E58DC8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1793331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4835650-8A0E-25B7-BA65-8BAB8570CE2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it-IT" dirty="0"/>
                  <a:t>The </a:t>
                </a:r>
                <a:r>
                  <a:rPr lang="it-IT" dirty="0" err="1"/>
                  <a:t>objective</a:t>
                </a:r>
                <a:r>
                  <a:rPr lang="it-IT" dirty="0"/>
                  <a:t> </a:t>
                </a:r>
                <a:r>
                  <a:rPr lang="it-IT" dirty="0" err="1"/>
                  <a:t>is</a:t>
                </a:r>
                <a:r>
                  <a:rPr lang="it-IT" dirty="0"/>
                  <a:t> non linear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it-IT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it-IT" i="0" dirty="0" smtClean="0">
                              <a:latin typeface="Cambria Math" panose="02040503050406030204" pitchFamily="18" charset="0"/>
                            </a:rPr>
                            <m:t>min</m:t>
                          </m:r>
                        </m:e>
                        <m:lim>
                          <m:r>
                            <a:rPr lang="it-IT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lim>
                      </m:limLow>
                      <m:r>
                        <a:rPr lang="it-IT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it-IT" b="0" i="1" dirty="0" smtClean="0">
                          <a:latin typeface="Cambria Math" panose="02040503050406030204" pitchFamily="18" charset="0"/>
                        </a:rPr>
                        <m:t>𝑧</m:t>
                      </m:r>
                      <m:d>
                        <m:dPr>
                          <m:ctrlPr>
                            <a:rPr lang="it-IT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it-IT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it-IT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supHide m:val="on"/>
                              <m:ctrlPr>
                                <a:rPr lang="it-IT" i="1" dirty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it-IT" i="1" dirty="0" err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it-IT" i="1" dirty="0" err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i="1" dirty="0" err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it-IT" i="1" dirty="0" err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it-IT" i="1" dirty="0" err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i="1" dirty="0" err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it-IT" i="1" dirty="0" err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supHide m:val="on"/>
                              <m:ctrlPr>
                                <a:rPr lang="it-IT" i="1" dirty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it-IT" i="1" dirty="0" err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it-IT" i="1" dirty="0" err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i="1" dirty="0" err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it-IT" i="1" dirty="0" err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nary>
                        </m:den>
                      </m:f>
                    </m:oMath>
                  </m:oMathPara>
                </a14:m>
                <a:endParaRPr lang="it-IT" dirty="0"/>
              </a:p>
              <a:p>
                <a:r>
                  <a:rPr lang="en-US" dirty="0"/>
                  <a:t>For any value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it-IT" i="1" dirty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acc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it-IT" b="0" i="1" dirty="0" smtClean="0">
                        <a:latin typeface="Cambria Math" panose="02040503050406030204" pitchFamily="18" charset="0"/>
                      </a:rPr>
                      <m:t>𝑧</m:t>
                    </m:r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i="1" dirty="0" smtClean="0">
                        <a:latin typeface="Cambria Math" panose="02040503050406030204" pitchFamily="18" charset="0"/>
                      </a:rPr>
                      <m:t>≤</m:t>
                    </m:r>
                    <m:acc>
                      <m:accPr>
                        <m:chr m:val="̅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it-IT" i="1" dirty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acc>
                  </m:oMath>
                </a14:m>
                <a:r>
                  <a:rPr lang="en-US" dirty="0"/>
                  <a:t> becomes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sz="29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it-IT" sz="29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9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9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it-IT" sz="29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sSub>
                          <m:sSubPr>
                            <m:ctrlPr>
                              <a:rPr lang="it-IT" sz="29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9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9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  <m:r>
                      <m:rPr>
                        <m:nor/>
                      </m:rPr>
                      <a:rPr lang="it-IT" sz="2900" i="0" dirty="0" smtClean="0">
                        <a:latin typeface="Cambria Math" panose="02040503050406030204" pitchFamily="18" charset="0"/>
                      </a:rPr>
                      <m:t>−</m:t>
                    </m:r>
                    <m:acc>
                      <m:accPr>
                        <m:chr m:val="̅"/>
                        <m:ctrlPr>
                          <a:rPr lang="en-US" sz="32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nor/>
                          </m:rPr>
                          <a:rPr lang="it-IT" sz="3200" i="0" dirty="0">
                            <a:latin typeface="Cambria Math" panose="02040503050406030204" pitchFamily="18" charset="0"/>
                          </a:rPr>
                          <m:t>z</m:t>
                        </m:r>
                      </m:e>
                    </m:acc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it-IT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i="1" dirty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  <m:r>
                      <m:rPr>
                        <m:nor/>
                      </m:rPr>
                      <a:rPr lang="it-IT" sz="2900" i="0" dirty="0" smtClean="0">
                        <a:latin typeface="Cambria Math" panose="02040503050406030204" pitchFamily="18" charset="0"/>
                      </a:rPr>
                      <m:t>≤0</m:t>
                    </m:r>
                  </m:oMath>
                </a14:m>
                <a:r>
                  <a:rPr lang="it-IT" sz="1600" dirty="0"/>
                  <a:t> </a:t>
                </a:r>
              </a:p>
              <a:p>
                <a:r>
                  <a:rPr lang="it-IT" dirty="0"/>
                  <a:t>Let </a:t>
                </a:r>
                <a14:m>
                  <m:oMath xmlns:m="http://schemas.openxmlformats.org/officeDocument/2006/math">
                    <m:r>
                      <a:rPr lang="it-IT" i="1" dirty="0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it-IT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b="0" i="1" dirty="0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it-IT" i="1" dirty="0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it-IT" b="0" i="1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it-IT" b="0" i="1" dirty="0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it-IT" i="0" dirty="0" smtClean="0">
                                <a:latin typeface="Cambria Math" panose="02040503050406030204" pitchFamily="18" charset="0"/>
                              </a:rPr>
                              <m:t>min</m:t>
                            </m:r>
                          </m:e>
                          <m:lim>
                            <m:r>
                              <a:rPr lang="it-IT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it-IT" i="1" dirty="0" smtClean="0"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it-IT" i="1" dirty="0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lim>
                        </m:limLow>
                      </m:fName>
                      <m:e>
                        <m:nary>
                          <m:naryPr>
                            <m:chr m:val="∑"/>
                            <m:supHide m:val="on"/>
                            <m:ctrlPr>
                              <a:rPr lang="it-IT" i="1" dirty="0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it-IT" i="1" dirty="0" err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/>
                          <m:e>
                            <m:d>
                              <m:dPr>
                                <m:ctrlPr>
                                  <a:rPr lang="it-IT" i="1" dirty="0" err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it-IT" i="1" dirty="0" err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i="1" dirty="0" err="1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it-IT" i="1" dirty="0" err="1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  <m:r>
                                  <a:rPr lang="it-IT" i="1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it-IT" b="0" i="1" dirty="0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</m:d>
                          </m:e>
                        </m:nary>
                        <m:sSub>
                          <m:sSubPr>
                            <m:ctrlPr>
                              <a:rPr lang="it-IT" i="1" dirty="0" err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i="1" dirty="0" err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i="1" dirty="0" err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func>
                  </m:oMath>
                </a14:m>
                <a:r>
                  <a:rPr lang="it-IT" dirty="0"/>
                  <a:t> </a:t>
                </a:r>
              </a:p>
              <a:p>
                <a:r>
                  <a:rPr lang="en-US" dirty="0"/>
                  <a:t>The function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b="0" i="1" dirty="0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</m:oMath>
                </a14:m>
                <a:r>
                  <a:rPr lang="en-US" dirty="0"/>
                  <a:t> is convex and non-increasing in </a:t>
                </a:r>
                <a14:m>
                  <m:oMath xmlns:m="http://schemas.openxmlformats.org/officeDocument/2006/math">
                    <m:r>
                      <a:rPr lang="it-IT" b="0" i="1" dirty="0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it-IT" dirty="0"/>
                  <a:t>, </a:t>
                </a:r>
              </a:p>
              <a:p>
                <a:pPr>
                  <a:spcBef>
                    <a:spcPts val="600"/>
                  </a:spcBef>
                </a:pPr>
                <a:r>
                  <a:rPr lang="en-US" dirty="0"/>
                  <a:t>Let the optimal value be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i="1" dirty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endParaRPr lang="en-US" dirty="0"/>
              </a:p>
              <a:p>
                <a:pPr>
                  <a:spcBef>
                    <a:spcPts val="600"/>
                  </a:spcBef>
                </a:pPr>
                <a:r>
                  <a:rPr lang="en-US" dirty="0"/>
                  <a:t>Finding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b="0" i="1" dirty="0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is equivalent to finding the zero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b="0" i="1" dirty="0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it-IT" b="0" i="0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it-IT" dirty="0"/>
                  <a:t> </a:t>
                </a:r>
              </a:p>
              <a:p>
                <a:pPr>
                  <a:spcBef>
                    <a:spcPts val="600"/>
                  </a:spcBef>
                </a:pPr>
                <a:r>
                  <a:rPr lang="it-IT" dirty="0"/>
                  <a:t>Newton-like </a:t>
                </a:r>
                <a:r>
                  <a:rPr lang="it-IT" dirty="0" err="1"/>
                  <a:t>descent</a:t>
                </a:r>
                <a:r>
                  <a:rPr lang="it-IT" dirty="0"/>
                  <a:t> </a:t>
                </a:r>
                <a:r>
                  <a:rPr lang="it-IT" dirty="0" err="1"/>
                  <a:t>is</a:t>
                </a:r>
                <a:r>
                  <a:rPr lang="it-IT" dirty="0"/>
                  <a:t> </a:t>
                </a:r>
                <a:r>
                  <a:rPr lang="it-IT" b="1" i="1" dirty="0" err="1"/>
                  <a:t>superlinear</a:t>
                </a:r>
                <a:r>
                  <a:rPr lang="it-IT" dirty="0"/>
                  <a:t> in </a:t>
                </a:r>
                <a:r>
                  <a:rPr lang="it-IT" dirty="0" err="1"/>
                  <a:t>this</a:t>
                </a:r>
                <a:r>
                  <a:rPr lang="it-IT" dirty="0"/>
                  <a:t> case</a:t>
                </a:r>
              </a:p>
              <a:p>
                <a:r>
                  <a:rPr lang="en-US" sz="1700" dirty="0" err="1"/>
                  <a:t>Dinkelbach</a:t>
                </a:r>
                <a:r>
                  <a:rPr lang="en-US" sz="1700" dirty="0"/>
                  <a:t>, W. (1967). </a:t>
                </a:r>
                <a:r>
                  <a:rPr lang="en-US" sz="1700" b="1" dirty="0"/>
                  <a:t>On nonlinear fractional programming</a:t>
                </a:r>
                <a:r>
                  <a:rPr lang="en-US" sz="1700" dirty="0"/>
                  <a:t>. </a:t>
                </a:r>
                <a:r>
                  <a:rPr lang="en-US" sz="1700" i="1" dirty="0"/>
                  <a:t>Management Science</a:t>
                </a:r>
                <a:r>
                  <a:rPr lang="en-US" sz="1700" dirty="0"/>
                  <a:t>, 13(7), 492–498.</a:t>
                </a:r>
                <a:endParaRPr lang="en-US" sz="3500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4835650-8A0E-25B7-BA65-8BAB8570CE2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84" t="-18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AE05391F-5473-33A0-8703-78AA31F25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Fractional</a:t>
            </a:r>
            <a:r>
              <a:rPr lang="it-IT" dirty="0"/>
              <a:t> programming </a:t>
            </a:r>
            <a:r>
              <a:rPr lang="it-IT" dirty="0" err="1"/>
              <a:t>at</a:t>
            </a:r>
            <a:r>
              <a:rPr lang="it-IT" dirty="0"/>
              <a:t> work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2AB5ED-A138-C456-8385-907E82378C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93DF63-2153-9ED3-67EA-84195BB1B9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6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7772269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CBF42E2-88E9-CF37-0415-596CF67519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037285"/>
            <a:ext cx="8546175" cy="5551606"/>
          </a:xfrm>
        </p:spPr>
        <p:txBody>
          <a:bodyPr>
            <a:normAutofit lnSpcReduction="10000"/>
          </a:bodyPr>
          <a:lstStyle/>
          <a:p>
            <a:pPr>
              <a:lnSpc>
                <a:spcPct val="120000"/>
              </a:lnSpc>
              <a:spcBef>
                <a:spcPts val="1200"/>
              </a:spcBef>
            </a:pPr>
            <a:r>
              <a:rPr lang="en-US" sz="2600" dirty="0"/>
              <a:t>Benchmark sets from the </a:t>
            </a:r>
            <a:r>
              <a:rPr lang="en-US" sz="2600" dirty="0">
                <a:solidFill>
                  <a:srgbClr val="C00000"/>
                </a:solidFill>
              </a:rPr>
              <a:t>M competitions</a:t>
            </a:r>
            <a:r>
              <a:rPr lang="en-US" sz="2600" i="1" baseline="30000" dirty="0">
                <a:solidFill>
                  <a:srgbClr val="C00000"/>
                </a:solidFill>
              </a:rPr>
              <a:t>1</a:t>
            </a:r>
            <a:r>
              <a:rPr lang="en-US" sz="2600" dirty="0">
                <a:solidFill>
                  <a:srgbClr val="C00000"/>
                </a:solidFill>
              </a:rPr>
              <a:t> </a:t>
            </a:r>
            <a:r>
              <a:rPr lang="en-US" sz="2600" dirty="0"/>
              <a:t>on time series forecasting: </a:t>
            </a:r>
          </a:p>
          <a:p>
            <a:pPr marL="457200" indent="-457200">
              <a:lnSpc>
                <a:spcPct val="12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600" dirty="0"/>
              <a:t>M3 (micro, industry, macro, finance, demographic, other)</a:t>
            </a:r>
          </a:p>
          <a:p>
            <a:pPr marL="457200" indent="-457200">
              <a:lnSpc>
                <a:spcPct val="12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600" dirty="0"/>
              <a:t>M4 (micro, industry, macro, finance, demographic, other)</a:t>
            </a:r>
          </a:p>
          <a:p>
            <a:pPr>
              <a:lnSpc>
                <a:spcPct val="120000"/>
              </a:lnSpc>
            </a:pPr>
            <a:r>
              <a:rPr lang="en-US" sz="2600" dirty="0"/>
              <a:t>5 series randomly selected within each category.</a:t>
            </a:r>
          </a:p>
          <a:p>
            <a:pPr>
              <a:lnSpc>
                <a:spcPct val="120000"/>
              </a:lnSpc>
            </a:pPr>
            <a:r>
              <a:rPr lang="en-US" sz="2600" dirty="0"/>
              <a:t>Forecasting models are autoregressive AR(1), ETS Holt-Winters, theta, random forest.</a:t>
            </a:r>
          </a:p>
          <a:p>
            <a:pPr>
              <a:lnSpc>
                <a:spcPct val="120000"/>
              </a:lnSpc>
              <a:spcBef>
                <a:spcPts val="1200"/>
              </a:spcBef>
            </a:pPr>
            <a:r>
              <a:rPr lang="en-US" sz="2600" dirty="0">
                <a:solidFill>
                  <a:srgbClr val="C00000"/>
                </a:solidFill>
              </a:rPr>
              <a:t>Code</a:t>
            </a:r>
            <a:r>
              <a:rPr lang="en-US" sz="2600" dirty="0"/>
              <a:t> in Python, </a:t>
            </a:r>
            <a:r>
              <a:rPr lang="en-US" sz="2600" dirty="0" err="1"/>
              <a:t>Gurobi</a:t>
            </a:r>
            <a:r>
              <a:rPr lang="en-US" sz="2600" dirty="0"/>
              <a:t> solver, platform desktop Windows 11.</a:t>
            </a:r>
          </a:p>
          <a:p>
            <a:pPr>
              <a:lnSpc>
                <a:spcPct val="120000"/>
              </a:lnSpc>
              <a:spcBef>
                <a:spcPts val="1200"/>
              </a:spcBef>
            </a:pPr>
            <a:r>
              <a:rPr lang="en-US" sz="2600" b="1" i="1" dirty="0"/>
              <a:t>Testing still actively ongoing!</a:t>
            </a:r>
          </a:p>
          <a:p>
            <a:pPr>
              <a:lnSpc>
                <a:spcPct val="120000"/>
              </a:lnSpc>
            </a:pPr>
            <a:r>
              <a:rPr lang="en-US" sz="2200" i="1" baseline="30000" dirty="0"/>
              <a:t>1</a:t>
            </a:r>
            <a:r>
              <a:rPr lang="en-US" sz="1600" dirty="0"/>
              <a:t> https://en.wikipedia.org/wiki/Makridakis_Competitions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076A18-B4A4-A350-FFBF-1B9602B780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Testsets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EAD1E5F-152B-B376-E87E-EDB6374A1A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A0E8CF-948D-D45B-4090-98FC2F2300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7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8797866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906DF1F9-DB16-46EB-A48F-FE364520AC5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12822027"/>
              </p:ext>
            </p:extLst>
          </p:nvPr>
        </p:nvGraphicFramePr>
        <p:xfrm>
          <a:off x="276301" y="1303619"/>
          <a:ext cx="8800258" cy="426192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22960">
                  <a:extLst>
                    <a:ext uri="{9D8B030D-6E8A-4147-A177-3AD203B41FA5}">
                      <a16:colId xmlns:a16="http://schemas.microsoft.com/office/drawing/2014/main" val="1764940927"/>
                    </a:ext>
                  </a:extLst>
                </a:gridCol>
                <a:gridCol w="569807">
                  <a:extLst>
                    <a:ext uri="{9D8B030D-6E8A-4147-A177-3AD203B41FA5}">
                      <a16:colId xmlns:a16="http://schemas.microsoft.com/office/drawing/2014/main" val="2010278970"/>
                    </a:ext>
                  </a:extLst>
                </a:gridCol>
                <a:gridCol w="569807">
                  <a:extLst>
                    <a:ext uri="{9D8B030D-6E8A-4147-A177-3AD203B41FA5}">
                      <a16:colId xmlns:a16="http://schemas.microsoft.com/office/drawing/2014/main" val="2156581516"/>
                    </a:ext>
                  </a:extLst>
                </a:gridCol>
                <a:gridCol w="569807">
                  <a:extLst>
                    <a:ext uri="{9D8B030D-6E8A-4147-A177-3AD203B41FA5}">
                      <a16:colId xmlns:a16="http://schemas.microsoft.com/office/drawing/2014/main" val="4082229016"/>
                    </a:ext>
                  </a:extLst>
                </a:gridCol>
                <a:gridCol w="569807">
                  <a:extLst>
                    <a:ext uri="{9D8B030D-6E8A-4147-A177-3AD203B41FA5}">
                      <a16:colId xmlns:a16="http://schemas.microsoft.com/office/drawing/2014/main" val="1180357110"/>
                    </a:ext>
                  </a:extLst>
                </a:gridCol>
                <a:gridCol w="569807">
                  <a:extLst>
                    <a:ext uri="{9D8B030D-6E8A-4147-A177-3AD203B41FA5}">
                      <a16:colId xmlns:a16="http://schemas.microsoft.com/office/drawing/2014/main" val="3931565425"/>
                    </a:ext>
                  </a:extLst>
                </a:gridCol>
                <a:gridCol w="569807">
                  <a:extLst>
                    <a:ext uri="{9D8B030D-6E8A-4147-A177-3AD203B41FA5}">
                      <a16:colId xmlns:a16="http://schemas.microsoft.com/office/drawing/2014/main" val="1431161398"/>
                    </a:ext>
                  </a:extLst>
                </a:gridCol>
                <a:gridCol w="569807">
                  <a:extLst>
                    <a:ext uri="{9D8B030D-6E8A-4147-A177-3AD203B41FA5}">
                      <a16:colId xmlns:a16="http://schemas.microsoft.com/office/drawing/2014/main" val="3099535207"/>
                    </a:ext>
                  </a:extLst>
                </a:gridCol>
                <a:gridCol w="569807">
                  <a:extLst>
                    <a:ext uri="{9D8B030D-6E8A-4147-A177-3AD203B41FA5}">
                      <a16:colId xmlns:a16="http://schemas.microsoft.com/office/drawing/2014/main" val="2428868227"/>
                    </a:ext>
                  </a:extLst>
                </a:gridCol>
                <a:gridCol w="569807">
                  <a:extLst>
                    <a:ext uri="{9D8B030D-6E8A-4147-A177-3AD203B41FA5}">
                      <a16:colId xmlns:a16="http://schemas.microsoft.com/office/drawing/2014/main" val="4280712952"/>
                    </a:ext>
                  </a:extLst>
                </a:gridCol>
                <a:gridCol w="569807">
                  <a:extLst>
                    <a:ext uri="{9D8B030D-6E8A-4147-A177-3AD203B41FA5}">
                      <a16:colId xmlns:a16="http://schemas.microsoft.com/office/drawing/2014/main" val="4265676797"/>
                    </a:ext>
                  </a:extLst>
                </a:gridCol>
                <a:gridCol w="569807">
                  <a:extLst>
                    <a:ext uri="{9D8B030D-6E8A-4147-A177-3AD203B41FA5}">
                      <a16:colId xmlns:a16="http://schemas.microsoft.com/office/drawing/2014/main" val="2214148226"/>
                    </a:ext>
                  </a:extLst>
                </a:gridCol>
                <a:gridCol w="569807">
                  <a:extLst>
                    <a:ext uri="{9D8B030D-6E8A-4147-A177-3AD203B41FA5}">
                      <a16:colId xmlns:a16="http://schemas.microsoft.com/office/drawing/2014/main" val="3321683673"/>
                    </a:ext>
                  </a:extLst>
                </a:gridCol>
                <a:gridCol w="569807">
                  <a:extLst>
                    <a:ext uri="{9D8B030D-6E8A-4147-A177-3AD203B41FA5}">
                      <a16:colId xmlns:a16="http://schemas.microsoft.com/office/drawing/2014/main" val="3127397826"/>
                    </a:ext>
                  </a:extLst>
                </a:gridCol>
                <a:gridCol w="569807">
                  <a:extLst>
                    <a:ext uri="{9D8B030D-6E8A-4147-A177-3AD203B41FA5}">
                      <a16:colId xmlns:a16="http://schemas.microsoft.com/office/drawing/2014/main" val="838683826"/>
                    </a:ext>
                  </a:extLst>
                </a:gridCol>
              </a:tblGrid>
              <a:tr h="32229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M3</a:t>
                      </a: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 dirty="0">
                          <a:effectLst/>
                        </a:rPr>
                        <a:t> 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 dirty="0">
                          <a:effectLst/>
                        </a:rPr>
                        <a:t> 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 dirty="0">
                          <a:effectLst/>
                        </a:rPr>
                        <a:t>AR(1)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 dirty="0">
                          <a:effectLst/>
                        </a:rPr>
                        <a:t> 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>
                          <a:effectLst/>
                        </a:rPr>
                        <a:t>HW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 dirty="0">
                          <a:effectLst/>
                        </a:rPr>
                        <a:t> 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 dirty="0">
                          <a:effectLst/>
                        </a:rPr>
                        <a:t>Theta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 dirty="0">
                          <a:effectLst/>
                        </a:rPr>
                        <a:t> </a:t>
                      </a:r>
                    </a:p>
                    <a:p>
                      <a:pPr algn="ctr" fontAlgn="b"/>
                      <a:r>
                        <a:rPr lang="en-US" sz="1400" u="none" strike="noStrike" dirty="0">
                          <a:effectLst/>
                        </a:rPr>
                        <a:t>Rnd. Forest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 dirty="0">
                          <a:effectLst/>
                        </a:rPr>
                        <a:t>Rnd. Forest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8426038"/>
                  </a:ext>
                </a:extLst>
              </a:tr>
              <a:tr h="32229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>
                          <a:effectLst/>
                        </a:rPr>
                        <a:t>Category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 err="1">
                          <a:effectLst/>
                        </a:rPr>
                        <a:t>npoints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 err="1">
                          <a:effectLst/>
                        </a:rPr>
                        <a:t>nsegm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>
                          <a:effectLst/>
                        </a:rPr>
                        <a:t>delta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>
                          <a:effectLst/>
                        </a:rPr>
                        <a:t>std dev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>
                          <a:effectLst/>
                        </a:rPr>
                        <a:t>range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>
                          <a:effectLst/>
                        </a:rPr>
                        <a:t>delta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>
                          <a:effectLst/>
                        </a:rPr>
                        <a:t>std dev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>
                          <a:effectLst/>
                        </a:rPr>
                        <a:t>range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>
                          <a:effectLst/>
                        </a:rPr>
                        <a:t>delta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>
                          <a:effectLst/>
                        </a:rPr>
                        <a:t>std dev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>
                          <a:effectLst/>
                        </a:rPr>
                        <a:t>range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>
                          <a:effectLst/>
                        </a:rPr>
                        <a:t>delta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>
                          <a:effectLst/>
                        </a:rPr>
                        <a:t>std dev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>
                          <a:effectLst/>
                        </a:rPr>
                        <a:t>range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5694833"/>
                  </a:ext>
                </a:extLst>
              </a:tr>
              <a:tr h="19867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Demographic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134.6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5010.0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-0.148</a:t>
                      </a:r>
                      <a:endParaRPr lang="en-US" sz="1100" b="0" i="0" u="none" strike="noStrike" dirty="0">
                        <a:solidFill>
                          <a:srgbClr val="9C0006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0.206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0.507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0.138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0.441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1.179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0.153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0.400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1.013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0.196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1.005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2.322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9773501"/>
                  </a:ext>
                </a:extLst>
              </a:tr>
              <a:tr h="19867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Finance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129.6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4610.4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0.278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0.477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1.103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-0.198</a:t>
                      </a:r>
                      <a:endParaRPr lang="en-US" sz="1100" b="0" i="0" u="none" strike="noStrike" dirty="0">
                        <a:solidFill>
                          <a:srgbClr val="9C0006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0.235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0.574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0.127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0.570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1.461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0.003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0.006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0.015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2314219"/>
                  </a:ext>
                </a:extLst>
              </a:tr>
              <a:tr h="19867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Industry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140.0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5577.0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-0.122</a:t>
                      </a:r>
                      <a:endParaRPr lang="en-US" sz="1100" b="0" i="0" u="none" strike="noStrike" dirty="0">
                        <a:solidFill>
                          <a:srgbClr val="9C0006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0.085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0.223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0.010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0.489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1.071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-0.105</a:t>
                      </a:r>
                      <a:endParaRPr lang="en-US" sz="1100" b="0" i="0" u="none" strike="noStrike" dirty="0">
                        <a:solidFill>
                          <a:srgbClr val="9C0006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0.272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0.715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-0.058</a:t>
                      </a:r>
                      <a:endParaRPr lang="en-US" sz="1100" b="0" i="0" u="none" strike="noStrike" dirty="0">
                        <a:solidFill>
                          <a:srgbClr val="9C0006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0.229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0.577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08234556"/>
                  </a:ext>
                </a:extLst>
              </a:tr>
              <a:tr h="19867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Macro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128.4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4460.8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-0.116</a:t>
                      </a:r>
                      <a:endParaRPr lang="en-US" sz="1100" b="0" i="0" u="none" strike="noStrike" dirty="0">
                        <a:solidFill>
                          <a:srgbClr val="9C0006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0.111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0.226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0.253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0.897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2.138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0.000</a:t>
                      </a:r>
                      <a:endParaRPr lang="en-US" sz="1100" b="0" i="0" u="none" strike="noStrike" dirty="0">
                        <a:solidFill>
                          <a:srgbClr val="9C0006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0.198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0.507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0.011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0.054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0.135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50216063"/>
                  </a:ext>
                </a:extLst>
              </a:tr>
              <a:tr h="19867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Micro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126.0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4186.0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-0.080</a:t>
                      </a:r>
                      <a:endParaRPr lang="en-US" sz="1100" b="0" i="0" u="none" strike="noStrike" dirty="0">
                        <a:solidFill>
                          <a:srgbClr val="9C0006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0.526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1.388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-0.249</a:t>
                      </a:r>
                      <a:endParaRPr lang="en-US" sz="1100" b="0" i="0" u="none" strike="noStrike" dirty="0">
                        <a:solidFill>
                          <a:srgbClr val="9C0006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0.297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0.743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-0.117</a:t>
                      </a:r>
                      <a:endParaRPr lang="en-US" sz="1100" b="0" i="0" u="none" strike="noStrike" dirty="0">
                        <a:solidFill>
                          <a:srgbClr val="9C0006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0.133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0.280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-0.076</a:t>
                      </a:r>
                      <a:endParaRPr lang="en-US" sz="1100" b="0" i="0" u="none" strike="noStrike" dirty="0">
                        <a:solidFill>
                          <a:srgbClr val="9C0006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0.112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0.249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6100191"/>
                  </a:ext>
                </a:extLst>
              </a:tr>
              <a:tr h="19867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Other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105.6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2596.6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-0.015</a:t>
                      </a:r>
                      <a:endParaRPr lang="en-US" sz="1100" b="0" i="0" u="none" strike="noStrike" dirty="0">
                        <a:solidFill>
                          <a:srgbClr val="9C0006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0.029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0.077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0.215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0.094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0.244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-0.096</a:t>
                      </a:r>
                      <a:endParaRPr lang="en-US" sz="1100" b="0" i="0" u="none" strike="noStrike" dirty="0">
                        <a:solidFill>
                          <a:srgbClr val="9C0006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0.140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0.333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-0.084</a:t>
                      </a:r>
                      <a:endParaRPr lang="en-US" sz="1100" b="0" i="0" u="none" strike="noStrike" dirty="0">
                        <a:solidFill>
                          <a:srgbClr val="9C0006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0.488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1.163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8702574"/>
                  </a:ext>
                </a:extLst>
              </a:tr>
              <a:tr h="19867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avg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127.4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4406.8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-0.034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0.239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0.587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0.028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0.409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0.991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-0.006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0.285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0.718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-0.001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0.316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0.743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0813952"/>
                  </a:ext>
                </a:extLst>
              </a:tr>
              <a:tr h="178065"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0978414"/>
                  </a:ext>
                </a:extLst>
              </a:tr>
              <a:tr h="17806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M4</a:t>
                      </a: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 dirty="0">
                          <a:effectLst/>
                        </a:rPr>
                        <a:t> 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>
                          <a:effectLst/>
                        </a:rPr>
                        <a:t> 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 dirty="0">
                          <a:effectLst/>
                        </a:rPr>
                        <a:t> 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 dirty="0">
                          <a:effectLst/>
                        </a:rPr>
                        <a:t> 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 dirty="0">
                          <a:effectLst/>
                        </a:rPr>
                        <a:t> 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9554246"/>
                  </a:ext>
                </a:extLst>
              </a:tr>
              <a:tr h="32229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>
                          <a:effectLst/>
                        </a:rPr>
                        <a:t>Category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 err="1">
                          <a:effectLst/>
                        </a:rPr>
                        <a:t>npoints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 err="1">
                          <a:effectLst/>
                        </a:rPr>
                        <a:t>nsegm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>
                          <a:effectLst/>
                        </a:rPr>
                        <a:t>delta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>
                          <a:effectLst/>
                        </a:rPr>
                        <a:t>std dev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>
                          <a:effectLst/>
                        </a:rPr>
                        <a:t>range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>
                          <a:effectLst/>
                        </a:rPr>
                        <a:t>delta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>
                          <a:effectLst/>
                        </a:rPr>
                        <a:t>std dev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>
                          <a:effectLst/>
                        </a:rPr>
                        <a:t>range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>
                          <a:effectLst/>
                        </a:rPr>
                        <a:t>delta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>
                          <a:effectLst/>
                        </a:rPr>
                        <a:t>std dev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>
                          <a:effectLst/>
                        </a:rPr>
                        <a:t>range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>
                          <a:effectLst/>
                        </a:rPr>
                        <a:t>delta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>
                          <a:effectLst/>
                        </a:rPr>
                        <a:t>std dev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>
                          <a:effectLst/>
                        </a:rPr>
                        <a:t>range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1782840"/>
                  </a:ext>
                </a:extLst>
              </a:tr>
              <a:tr h="19867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Demographic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146.4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7272.2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-0.069</a:t>
                      </a:r>
                      <a:endParaRPr lang="en-US" sz="1100" b="0" i="0" u="none" strike="noStrike" dirty="0">
                        <a:solidFill>
                          <a:srgbClr val="9C0006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0.179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0.465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-0.173</a:t>
                      </a:r>
                      <a:endParaRPr lang="en-US" sz="1100" b="0" i="0" u="none" strike="noStrike" dirty="0">
                        <a:solidFill>
                          <a:srgbClr val="9C0006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0.328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0.822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-0.022</a:t>
                      </a:r>
                      <a:endParaRPr lang="en-US" sz="1100" b="0" i="0" u="none" strike="noStrike" dirty="0">
                        <a:solidFill>
                          <a:srgbClr val="9C0006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0.314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0.805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-0.162</a:t>
                      </a:r>
                      <a:endParaRPr lang="en-US" sz="1100" b="0" i="0" u="none" strike="noStrike" dirty="0">
                        <a:solidFill>
                          <a:srgbClr val="9C0006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0.054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0.132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3725282"/>
                  </a:ext>
                </a:extLst>
              </a:tr>
              <a:tr h="19867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Finance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114.0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3686.4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0.349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0.754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1.903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-0.233</a:t>
                      </a:r>
                      <a:endParaRPr lang="en-US" sz="1100" b="0" i="0" u="none" strike="noStrike" dirty="0">
                        <a:solidFill>
                          <a:srgbClr val="9C0006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0.166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0.421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0.017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0.747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1.898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0.209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0.714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1.644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0632710"/>
                  </a:ext>
                </a:extLst>
              </a:tr>
              <a:tr h="19867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Industry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154.6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9753.0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lang="en-US" sz="110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-0.006</a:t>
                      </a: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0.157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0.386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0.986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2.056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5.057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-0.034</a:t>
                      </a:r>
                      <a:endParaRPr lang="en-US" sz="1100" b="0" i="0" u="none" strike="noStrike" dirty="0">
                        <a:solidFill>
                          <a:srgbClr val="9C0006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0.137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0.357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-0.084</a:t>
                      </a:r>
                      <a:endParaRPr lang="en-US" sz="1100" b="0" i="0" u="none" strike="noStrike" dirty="0">
                        <a:solidFill>
                          <a:srgbClr val="9C0006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0.044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0.115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1007948"/>
                  </a:ext>
                </a:extLst>
              </a:tr>
              <a:tr h="19867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Macro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146.4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7368.6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-0.073</a:t>
                      </a:r>
                      <a:endParaRPr lang="en-US" sz="1100" b="0" i="0" u="none" strike="noStrike" dirty="0">
                        <a:solidFill>
                          <a:srgbClr val="9C0006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0.210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0.516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0.396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0.851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1.936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0.183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0.522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1.370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-0.217</a:t>
                      </a:r>
                      <a:endParaRPr lang="en-US" sz="1100" b="0" i="0" u="none" strike="noStrike" dirty="0">
                        <a:solidFill>
                          <a:srgbClr val="9C0006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0.269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0.546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1060762"/>
                  </a:ext>
                </a:extLst>
              </a:tr>
              <a:tr h="19867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Micro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121.6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4605.8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0.029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0.258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0.723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0.156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0.199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0.405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0.079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0.110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0.275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-0.158</a:t>
                      </a:r>
                      <a:endParaRPr lang="en-US" sz="1100" b="0" i="0" u="none" strike="noStrike" dirty="0">
                        <a:solidFill>
                          <a:srgbClr val="9C0006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0.368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0.925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937449"/>
                  </a:ext>
                </a:extLst>
              </a:tr>
              <a:tr h="19867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Other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179.6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14940.6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-0.394</a:t>
                      </a:r>
                      <a:endParaRPr lang="en-US" sz="1100" b="0" i="0" u="none" strike="noStrike" dirty="0">
                        <a:solidFill>
                          <a:srgbClr val="9C0006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0.357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0.890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0.086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0.582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1.403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-0.375</a:t>
                      </a:r>
                      <a:endParaRPr lang="en-US" sz="1100" b="0" i="0" u="none" strike="noStrike" dirty="0">
                        <a:solidFill>
                          <a:srgbClr val="9C0006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0.290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0.666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0.402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7.722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17.540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1638193"/>
                  </a:ext>
                </a:extLst>
              </a:tr>
              <a:tr h="19867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avg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143.8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7937.8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-0.027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0.319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0.813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0.203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0.697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1.674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-0.025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0.353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0.895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-0.002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1.528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3.483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74877885"/>
                  </a:ext>
                </a:extLst>
              </a:tr>
            </a:tbl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0DA87D4A-E55F-422D-B619-44EDCDE007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M3 / M4, horizon </a:t>
            </a:r>
            <a:r>
              <a:rPr lang="en-US" dirty="0">
                <a:latin typeface="+mj-lt"/>
              </a:rPr>
              <a:t>=</a:t>
            </a:r>
            <a:r>
              <a:rPr lang="en-US" dirty="0"/>
              <a:t> 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2F0944-71A0-4A5E-B278-E7AD2661E7C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9E3A49-A33C-4800-A0BC-BDB74A3EA8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8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1482818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CB04FE7D-9AEB-403F-8157-7E12B9C5ED5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8450" y="1238727"/>
            <a:ext cx="8547100" cy="5128259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B9BFAE2-83E5-4FF5-B0FC-40774E8969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84A7903-DFB8-4520-B340-EB7B3D8451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B03869C-E3D8-402F-9FA3-133EF8F20A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9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356707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CCFDFAD7-585C-4FB6-A71E-7C057B2B170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8450" y="1238727"/>
            <a:ext cx="8547100" cy="5128259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E5FD90C5-C2D8-44E7-9012-403DF7DD3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HW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3B6498-5898-44A2-9848-1A36FCDDC9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AD0263-38D8-4A89-B951-7E053882A4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10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4072469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255E2472-A8F4-41D4-8EDC-28240D76962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8450" y="1238727"/>
            <a:ext cx="8547100" cy="5128259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359C4B02-56C9-4D8F-AD67-83F774EC10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RF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F346E0-11C2-49C2-BEB8-69C11094F30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049264-BD2E-4C82-875E-17BBBDD145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7814318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F4692B8-5FA0-4403-984B-F0EA30316E0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8450" y="1238727"/>
            <a:ext cx="8547100" cy="5128259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FDD4A7DB-E7BD-4815-8B0D-093092B3E5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FB97558-5E04-43ED-A6D8-DB4690A9E1D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F5D5DA-8A2D-4E43-B27A-2FA2054E5B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1978407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351E9763-B785-4150-96AC-1A2090DEC66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8450" y="1238727"/>
            <a:ext cx="8547100" cy="5128259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598133F8-0819-49AF-872D-33FB78B0AC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When things go awry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0E11FA3-1FA0-4459-96DD-6B8B68712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FA558D8-0653-48AF-BA12-460CCF0164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13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7172317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6209DA3C-C3AC-4545-8861-7804E073AB4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8450" y="1238727"/>
            <a:ext cx="8547100" cy="5128259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E6B15CB3-83DA-485D-BE68-0F4BE4892B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When things go awry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ED9217-1DE0-4678-AAA6-DB4BEB89C3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023C0DC-6770-42A8-A70F-7914297B32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14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43661734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ThemeQuadretti">
  <a:themeElements>
    <a:clrScheme name="Aspect">
      <a:dk1>
        <a:sysClr val="windowText" lastClr="000000"/>
      </a:dk1>
      <a:lt1>
        <a:sysClr val="window" lastClr="FFFFFF"/>
      </a:lt1>
      <a:dk2>
        <a:srgbClr val="323232"/>
      </a:dk2>
      <a:lt2>
        <a:srgbClr val="E3DED1"/>
      </a:lt2>
      <a:accent1>
        <a:srgbClr val="F07F09"/>
      </a:accent1>
      <a:accent2>
        <a:srgbClr val="9F2936"/>
      </a:accent2>
      <a:accent3>
        <a:srgbClr val="1B587C"/>
      </a:accent3>
      <a:accent4>
        <a:srgbClr val="4E8542"/>
      </a:accent4>
      <a:accent5>
        <a:srgbClr val="604878"/>
      </a:accent5>
      <a:accent6>
        <a:srgbClr val="C19859"/>
      </a:accent6>
      <a:hlink>
        <a:srgbClr val="6B9F25"/>
      </a:hlink>
      <a:folHlink>
        <a:srgbClr val="B26B02"/>
      </a:folHlink>
    </a:clrScheme>
    <a:fontScheme name="Custom 1">
      <a:majorFont>
        <a:latin typeface="Arial Rounded MT Bold"/>
        <a:ea typeface=""/>
        <a:cs typeface=""/>
      </a:majorFont>
      <a:minorFont>
        <a:latin typeface="Calibri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90000"/>
                <a:satMod val="150000"/>
              </a:schemeClr>
            </a:gs>
            <a:gs pos="60000">
              <a:schemeClr val="phClr">
                <a:shade val="20000"/>
                <a:satMod val="255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12000"/>
                <a:satMod val="240000"/>
              </a:schemeClr>
              <a:schemeClr val="phClr"/>
            </a:duotone>
          </a:blip>
          <a:stretch/>
        </a:blipFill>
      </a:bgFillStyleLst>
    </a:fmtScheme>
  </a:themeElements>
  <a:objectDefaults>
    <a:spDef>
      <a:spPr>
        <a:noFill/>
        <a:ln>
          <a:solidFill>
            <a:schemeClr val="tx1"/>
          </a:solidFill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smtClean="0">
            <a:solidFill>
              <a:schemeClr val="tx1"/>
            </a:solidFill>
          </a:defRPr>
        </a:defPPr>
      </a:lstStyle>
      <a:style>
        <a:lnRef idx="3">
          <a:schemeClr val="lt1"/>
        </a:lnRef>
        <a:fillRef idx="1">
          <a:schemeClr val="accent2"/>
        </a:fillRef>
        <a:effectRef idx="1">
          <a:schemeClr val="accent2"/>
        </a:effectRef>
        <a:fontRef idx="minor">
          <a:schemeClr val="lt1"/>
        </a:fontRef>
      </a:style>
    </a:spDef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>
          <a:solidFill>
            <a:schemeClr val="bg2"/>
          </a:solidFill>
        </a:ln>
      </a:spPr>
      <a:bodyPr wrap="square" rtlCol="0" anchor="t" anchorCtr="0">
        <a:noAutofit/>
      </a:bodyPr>
      <a:lstStyle>
        <a:defPPr>
          <a:defRPr sz="24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ThemeQuadretti" id="{19AB7872-5255-42EA-897B-4062C768F031}" vid="{57F8082C-57DB-4447-A402-D3E99C17B64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ThemeQuadretti</Template>
  <TotalTime>2771</TotalTime>
  <Words>1163</Words>
  <Application>Microsoft Office PowerPoint</Application>
  <PresentationFormat>On-screen Show (4:3)</PresentationFormat>
  <Paragraphs>343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4" baseType="lpstr">
      <vt:lpstr>AAchalk</vt:lpstr>
      <vt:lpstr>Arial</vt:lpstr>
      <vt:lpstr>Arial Rounded MT Bold</vt:lpstr>
      <vt:lpstr>Calibri</vt:lpstr>
      <vt:lpstr>Calibri Light</vt:lpstr>
      <vt:lpstr>Cambria</vt:lpstr>
      <vt:lpstr>Cambria Math</vt:lpstr>
      <vt:lpstr>ManiezzoSlides</vt:lpstr>
      <vt:lpstr>Wingdings</vt:lpstr>
      <vt:lpstr>ThemeQuadretti</vt:lpstr>
      <vt:lpstr>Forecasting-oriented changepoint detection</vt:lpstr>
      <vt:lpstr>Changepoint detection</vt:lpstr>
      <vt:lpstr>Regime switching detection</vt:lpstr>
      <vt:lpstr>Modelling and forecasting</vt:lpstr>
      <vt:lpstr>Segment and forecast</vt:lpstr>
      <vt:lpstr>Fractional programming at work</vt:lpstr>
      <vt:lpstr>Testsets</vt:lpstr>
      <vt:lpstr>M3 / M4, horizon = 6</vt:lpstr>
      <vt:lpstr>AR</vt:lpstr>
      <vt:lpstr>HW</vt:lpstr>
      <vt:lpstr>RF</vt:lpstr>
      <vt:lpstr>Th</vt:lpstr>
      <vt:lpstr>When things go awry</vt:lpstr>
      <vt:lpstr>When things go awry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Vittorio Maniezzo</dc:creator>
  <cp:lastModifiedBy>Vittorio Maniezzo</cp:lastModifiedBy>
  <cp:revision>304</cp:revision>
  <cp:lastPrinted>2026-08-30T16:21:59Z</cp:lastPrinted>
  <dcterms:created xsi:type="dcterms:W3CDTF">2024-02-06T11:14:54Z</dcterms:created>
  <dcterms:modified xsi:type="dcterms:W3CDTF">2026-09-08T09:37:10Z</dcterms:modified>
</cp:coreProperties>
</file>