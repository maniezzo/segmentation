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9" r:id="rId3"/>
    <p:sldId id="270" r:id="rId4"/>
    <p:sldId id="271" r:id="rId5"/>
    <p:sldId id="273" r:id="rId6"/>
    <p:sldId id="268" r:id="rId7"/>
    <p:sldId id="272" r:id="rId8"/>
    <p:sldId id="274" r:id="rId9"/>
    <p:sldId id="284" r:id="rId10"/>
    <p:sldId id="275" r:id="rId11"/>
    <p:sldId id="285" r:id="rId12"/>
    <p:sldId id="286" r:id="rId13"/>
    <p:sldId id="287" r:id="rId14"/>
    <p:sldId id="288" r:id="rId1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 snapToGrid="0">
      <p:cViewPr varScale="1">
        <p:scale>
          <a:sx n="87" d="100"/>
          <a:sy n="87" d="100"/>
        </p:scale>
        <p:origin x="74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6847" y="3657124"/>
            <a:ext cx="707429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rgbClr val="002060"/>
                </a:solidFill>
                <a:latin typeface="AAchalk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3" name="Title 1"/>
          <p:cNvSpPr>
            <a:spLocks noGrp="1"/>
          </p:cNvSpPr>
          <p:nvPr>
            <p:ph type="ctrTitle"/>
          </p:nvPr>
        </p:nvSpPr>
        <p:spPr>
          <a:xfrm>
            <a:off x="1032863" y="1905004"/>
            <a:ext cx="7078274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320584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E4BE8164-996A-474C-978A-F0A76F8C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39CA8FFC-AF78-45E6-98A9-C8B0B864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153099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7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0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3E84B2B8-6A6C-4172-8F92-776075D8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928763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C9A75-8A08-4035-85FB-5EA0B5BB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090886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>
          <a:xfrm>
            <a:off x="107504" y="6597352"/>
            <a:ext cx="3096344" cy="26064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dirty="0"/>
              <a:t>Vittorio Maniezzo - </a:t>
            </a:r>
            <a:r>
              <a:rPr lang="it-IT" dirty="0" err="1"/>
              <a:t>University</a:t>
            </a:r>
            <a:r>
              <a:rPr lang="it-IT" dirty="0"/>
              <a:t> of Bologna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95C6C1-66D2-4A7C-8B60-02391940B58A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365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/>
          <p:cNvGrpSpPr>
            <a:grpSpLocks/>
          </p:cNvGrpSpPr>
          <p:nvPr/>
        </p:nvGrpSpPr>
        <p:grpSpPr bwMode="ltGray">
          <a:xfrm>
            <a:off x="72070" y="37277"/>
            <a:ext cx="9071930" cy="6856413"/>
            <a:chOff x="0" y="0"/>
            <a:chExt cx="5759" cy="4319"/>
          </a:xfrm>
        </p:grpSpPr>
        <p:sp>
          <p:nvSpPr>
            <p:cNvPr id="13" name="Line 4"/>
            <p:cNvSpPr>
              <a:spLocks noChangeShapeType="1"/>
            </p:cNvSpPr>
            <p:nvPr/>
          </p:nvSpPr>
          <p:spPr bwMode="ltGray">
            <a:xfrm>
              <a:off x="0" y="14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4" name="Line 5"/>
            <p:cNvSpPr>
              <a:spLocks noChangeShapeType="1"/>
            </p:cNvSpPr>
            <p:nvPr/>
          </p:nvSpPr>
          <p:spPr bwMode="ltGray">
            <a:xfrm>
              <a:off x="0" y="33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ltGray">
            <a:xfrm>
              <a:off x="0" y="52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ltGray">
            <a:xfrm>
              <a:off x="0" y="72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ltGray">
            <a:xfrm>
              <a:off x="0" y="91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ltGray">
            <a:xfrm>
              <a:off x="0" y="110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ltGray">
            <a:xfrm>
              <a:off x="0" y="129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ltGray">
            <a:xfrm>
              <a:off x="0" y="148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ltGray">
            <a:xfrm>
              <a:off x="0" y="168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ltGray">
            <a:xfrm>
              <a:off x="0" y="187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ltGray">
            <a:xfrm>
              <a:off x="0" y="206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ltGray">
            <a:xfrm>
              <a:off x="0" y="225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ltGray">
            <a:xfrm>
              <a:off x="0" y="244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ltGray">
            <a:xfrm>
              <a:off x="0" y="264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ltGray">
            <a:xfrm>
              <a:off x="0" y="283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ltGray">
            <a:xfrm>
              <a:off x="0" y="302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ltGray">
            <a:xfrm>
              <a:off x="0" y="321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Line 21"/>
            <p:cNvSpPr>
              <a:spLocks noChangeShapeType="1"/>
            </p:cNvSpPr>
            <p:nvPr/>
          </p:nvSpPr>
          <p:spPr bwMode="ltGray">
            <a:xfrm>
              <a:off x="0" y="340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ltGray">
            <a:xfrm>
              <a:off x="0" y="360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ltGray">
            <a:xfrm>
              <a:off x="0" y="379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ltGray">
            <a:xfrm>
              <a:off x="0" y="398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ltGray">
            <a:xfrm>
              <a:off x="0" y="417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ltGray">
            <a:xfrm>
              <a:off x="1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ltGray">
            <a:xfrm>
              <a:off x="3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ltGray">
            <a:xfrm>
              <a:off x="5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ltGray">
            <a:xfrm>
              <a:off x="7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ltGray">
            <a:xfrm>
              <a:off x="9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ltGray">
            <a:xfrm>
              <a:off x="110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ltGray">
            <a:xfrm>
              <a:off x="129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ltGray">
            <a:xfrm>
              <a:off x="148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ltGray">
            <a:xfrm>
              <a:off x="168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ltGray">
            <a:xfrm>
              <a:off x="187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ltGray">
            <a:xfrm>
              <a:off x="206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ltGray">
            <a:xfrm>
              <a:off x="225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ltGray">
            <a:xfrm>
              <a:off x="244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ltGray">
            <a:xfrm>
              <a:off x="264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ltGray">
            <a:xfrm>
              <a:off x="283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ltGray">
            <a:xfrm>
              <a:off x="302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1" name="Line 42"/>
            <p:cNvSpPr>
              <a:spLocks noChangeShapeType="1"/>
            </p:cNvSpPr>
            <p:nvPr/>
          </p:nvSpPr>
          <p:spPr bwMode="ltGray">
            <a:xfrm>
              <a:off x="321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" name="Line 43"/>
            <p:cNvSpPr>
              <a:spLocks noChangeShapeType="1"/>
            </p:cNvSpPr>
            <p:nvPr/>
          </p:nvSpPr>
          <p:spPr bwMode="ltGray">
            <a:xfrm>
              <a:off x="340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" name="Line 44"/>
            <p:cNvSpPr>
              <a:spLocks noChangeShapeType="1"/>
            </p:cNvSpPr>
            <p:nvPr/>
          </p:nvSpPr>
          <p:spPr bwMode="ltGray">
            <a:xfrm>
              <a:off x="360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" name="Line 45"/>
            <p:cNvSpPr>
              <a:spLocks noChangeShapeType="1"/>
            </p:cNvSpPr>
            <p:nvPr/>
          </p:nvSpPr>
          <p:spPr bwMode="ltGray">
            <a:xfrm>
              <a:off x="379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5" name="Line 46"/>
            <p:cNvSpPr>
              <a:spLocks noChangeShapeType="1"/>
            </p:cNvSpPr>
            <p:nvPr/>
          </p:nvSpPr>
          <p:spPr bwMode="ltGray">
            <a:xfrm>
              <a:off x="398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6" name="Line 47"/>
            <p:cNvSpPr>
              <a:spLocks noChangeShapeType="1"/>
            </p:cNvSpPr>
            <p:nvPr/>
          </p:nvSpPr>
          <p:spPr bwMode="ltGray">
            <a:xfrm>
              <a:off x="417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7" name="Line 48"/>
            <p:cNvSpPr>
              <a:spLocks noChangeShapeType="1"/>
            </p:cNvSpPr>
            <p:nvPr/>
          </p:nvSpPr>
          <p:spPr bwMode="ltGray">
            <a:xfrm>
              <a:off x="436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8" name="Line 49"/>
            <p:cNvSpPr>
              <a:spLocks noChangeShapeType="1"/>
            </p:cNvSpPr>
            <p:nvPr/>
          </p:nvSpPr>
          <p:spPr bwMode="ltGray">
            <a:xfrm>
              <a:off x="456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ltGray">
            <a:xfrm>
              <a:off x="475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ltGray">
            <a:xfrm>
              <a:off x="49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" name="Line 52"/>
            <p:cNvSpPr>
              <a:spLocks noChangeShapeType="1"/>
            </p:cNvSpPr>
            <p:nvPr/>
          </p:nvSpPr>
          <p:spPr bwMode="ltGray">
            <a:xfrm>
              <a:off x="51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" name="Line 53"/>
            <p:cNvSpPr>
              <a:spLocks noChangeShapeType="1"/>
            </p:cNvSpPr>
            <p:nvPr/>
          </p:nvSpPr>
          <p:spPr bwMode="ltGray">
            <a:xfrm>
              <a:off x="53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3" name="Line 54"/>
            <p:cNvSpPr>
              <a:spLocks noChangeShapeType="1"/>
            </p:cNvSpPr>
            <p:nvPr/>
          </p:nvSpPr>
          <p:spPr bwMode="ltGray">
            <a:xfrm>
              <a:off x="55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4" name="Line 55"/>
            <p:cNvSpPr>
              <a:spLocks noChangeShapeType="1"/>
            </p:cNvSpPr>
            <p:nvPr/>
          </p:nvSpPr>
          <p:spPr bwMode="ltGray">
            <a:xfrm>
              <a:off x="57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907" y="1173916"/>
            <a:ext cx="8546175" cy="525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8767" y="37278"/>
            <a:ext cx="8791195" cy="76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81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2060"/>
          </a:solidFill>
          <a:latin typeface="AAchalk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Tx/>
        <a:buFont typeface="Arial" panose="020B0604020202020204" pitchFamily="34" charset="0"/>
        <a:buNone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48640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0392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152144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453896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9AEB7D-37B2-2B36-9DAD-91ED247EA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418" y="1365397"/>
            <a:ext cx="8014741" cy="264469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dirty="0"/>
              <a:t>Forecasting-oriented changepoint detection</a:t>
            </a:r>
            <a:endParaRPr lang="it-IT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98ADB6-C24C-444C-3A3E-15DED53637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080" y="5655523"/>
            <a:ext cx="3322029" cy="1202477"/>
          </a:xfrm>
        </p:spPr>
        <p:txBody>
          <a:bodyPr>
            <a:noAutofit/>
          </a:bodyPr>
          <a:lstStyle/>
          <a:p>
            <a:pPr algn="r" eaLnBrk="1" hangingPunct="1"/>
            <a:r>
              <a:rPr lang="it-IT" altLang="en-US" b="1" dirty="0">
                <a:latin typeface="ManiezzoSlides" pitchFamily="2" charset="0"/>
              </a:rPr>
              <a:t>Vittorio Maniezzo</a:t>
            </a:r>
          </a:p>
          <a:p>
            <a:pPr algn="r" eaLnBrk="1" hangingPunct="1"/>
            <a:r>
              <a:rPr lang="it-IT" altLang="en-US" b="1" dirty="0">
                <a:latin typeface="ManiezzoSlides" pitchFamily="2" charset="0"/>
              </a:rPr>
              <a:t>University of Bologna</a:t>
            </a:r>
          </a:p>
          <a:p>
            <a:pPr algn="r" eaLnBrk="1" hangingPunct="1"/>
            <a:r>
              <a:rPr lang="it-IT" altLang="en-US" b="1" dirty="0">
                <a:latin typeface="ManiezzoSlides" pitchFamily="2" charset="0"/>
              </a:rPr>
              <a:t>vittorio.maniezzo@unibo.it</a:t>
            </a:r>
          </a:p>
        </p:txBody>
      </p:sp>
      <p:grpSp>
        <p:nvGrpSpPr>
          <p:cNvPr id="4" name="linea">
            <a:extLst>
              <a:ext uri="{FF2B5EF4-FFF2-40B4-BE49-F238E27FC236}">
                <a16:creationId xmlns:a16="http://schemas.microsoft.com/office/drawing/2014/main" id="{145D9C24-497C-441E-A3D3-331D06145CEE}"/>
              </a:ext>
            </a:extLst>
          </p:cNvPr>
          <p:cNvGrpSpPr/>
          <p:nvPr/>
        </p:nvGrpSpPr>
        <p:grpSpPr bwMode="invGray">
          <a:xfrm>
            <a:off x="396442" y="4010091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>
              <a:extLst>
                <a:ext uri="{FF2B5EF4-FFF2-40B4-BE49-F238E27FC236}">
                  <a16:creationId xmlns:a16="http://schemas.microsoft.com/office/drawing/2014/main" id="{D322C151-15B2-4E6A-8094-123F558A996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" name="Figura a mano libera 11">
              <a:extLst>
                <a:ext uri="{FF2B5EF4-FFF2-40B4-BE49-F238E27FC236}">
                  <a16:creationId xmlns:a16="http://schemas.microsoft.com/office/drawing/2014/main" id="{864BCB5A-138C-4EED-A084-89B52A615D4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2">
              <a:extLst>
                <a:ext uri="{FF2B5EF4-FFF2-40B4-BE49-F238E27FC236}">
                  <a16:creationId xmlns:a16="http://schemas.microsoft.com/office/drawing/2014/main" id="{FB2A8E7A-2A36-477F-9E96-ED0C634B29E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5">
              <a:extLst>
                <a:ext uri="{FF2B5EF4-FFF2-40B4-BE49-F238E27FC236}">
                  <a16:creationId xmlns:a16="http://schemas.microsoft.com/office/drawing/2014/main" id="{C74CFF84-CFB4-41A8-8F02-59438256EAE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6">
              <a:extLst>
                <a:ext uri="{FF2B5EF4-FFF2-40B4-BE49-F238E27FC236}">
                  <a16:creationId xmlns:a16="http://schemas.microsoft.com/office/drawing/2014/main" id="{A3152A92-80EA-4CDC-817E-50A54EFD3B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7">
              <a:extLst>
                <a:ext uri="{FF2B5EF4-FFF2-40B4-BE49-F238E27FC236}">
                  <a16:creationId xmlns:a16="http://schemas.microsoft.com/office/drawing/2014/main" id="{88F34E46-1712-4E73-94E1-F182E06A68A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8">
              <a:extLst>
                <a:ext uri="{FF2B5EF4-FFF2-40B4-BE49-F238E27FC236}">
                  <a16:creationId xmlns:a16="http://schemas.microsoft.com/office/drawing/2014/main" id="{F264C382-1F30-4D8E-91C6-1960D13A506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9">
              <a:extLst>
                <a:ext uri="{FF2B5EF4-FFF2-40B4-BE49-F238E27FC236}">
                  <a16:creationId xmlns:a16="http://schemas.microsoft.com/office/drawing/2014/main" id="{25224C1B-2C6A-4F58-9835-5B6B0CD1CC3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20">
              <a:extLst>
                <a:ext uri="{FF2B5EF4-FFF2-40B4-BE49-F238E27FC236}">
                  <a16:creationId xmlns:a16="http://schemas.microsoft.com/office/drawing/2014/main" id="{99F95225-B0B8-4637-A794-8E8501A384B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1">
              <a:extLst>
                <a:ext uri="{FF2B5EF4-FFF2-40B4-BE49-F238E27FC236}">
                  <a16:creationId xmlns:a16="http://schemas.microsoft.com/office/drawing/2014/main" id="{6A8B5657-BCD0-40CB-B9EA-EC999E03901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2">
              <a:extLst>
                <a:ext uri="{FF2B5EF4-FFF2-40B4-BE49-F238E27FC236}">
                  <a16:creationId xmlns:a16="http://schemas.microsoft.com/office/drawing/2014/main" id="{545CA83B-7C9E-455F-95E4-35B7A056215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3">
              <a:extLst>
                <a:ext uri="{FF2B5EF4-FFF2-40B4-BE49-F238E27FC236}">
                  <a16:creationId xmlns:a16="http://schemas.microsoft.com/office/drawing/2014/main" id="{86FD7A18-3334-4362-960C-2A6FC5F67E7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4">
              <a:extLst>
                <a:ext uri="{FF2B5EF4-FFF2-40B4-BE49-F238E27FC236}">
                  <a16:creationId xmlns:a16="http://schemas.microsoft.com/office/drawing/2014/main" id="{86B8D299-9339-4702-A83B-038392EA13D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5">
              <a:extLst>
                <a:ext uri="{FF2B5EF4-FFF2-40B4-BE49-F238E27FC236}">
                  <a16:creationId xmlns:a16="http://schemas.microsoft.com/office/drawing/2014/main" id="{C05CDB97-4132-4059-8025-49A497CA92C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6">
              <a:extLst>
                <a:ext uri="{FF2B5EF4-FFF2-40B4-BE49-F238E27FC236}">
                  <a16:creationId xmlns:a16="http://schemas.microsoft.com/office/drawing/2014/main" id="{1C100573-D882-4799-9BCF-5579DA8C826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7">
              <a:extLst>
                <a:ext uri="{FF2B5EF4-FFF2-40B4-BE49-F238E27FC236}">
                  <a16:creationId xmlns:a16="http://schemas.microsoft.com/office/drawing/2014/main" id="{9F0FA0E2-2814-4DFA-B560-B92C2A0A467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8">
              <a:extLst>
                <a:ext uri="{FF2B5EF4-FFF2-40B4-BE49-F238E27FC236}">
                  <a16:creationId xmlns:a16="http://schemas.microsoft.com/office/drawing/2014/main" id="{70B3B9A2-5543-4C1E-907D-7000782965D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9">
              <a:extLst>
                <a:ext uri="{FF2B5EF4-FFF2-40B4-BE49-F238E27FC236}">
                  <a16:creationId xmlns:a16="http://schemas.microsoft.com/office/drawing/2014/main" id="{C795110E-FBDF-4C11-8FEC-7C8C79C3BE3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30">
              <a:extLst>
                <a:ext uri="{FF2B5EF4-FFF2-40B4-BE49-F238E27FC236}">
                  <a16:creationId xmlns:a16="http://schemas.microsoft.com/office/drawing/2014/main" id="{C45300A0-C35F-4942-B14A-C4F8CE85F2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1">
              <a:extLst>
                <a:ext uri="{FF2B5EF4-FFF2-40B4-BE49-F238E27FC236}">
                  <a16:creationId xmlns:a16="http://schemas.microsoft.com/office/drawing/2014/main" id="{427CC614-001E-4826-A460-64DB7D6A43A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2">
              <a:extLst>
                <a:ext uri="{FF2B5EF4-FFF2-40B4-BE49-F238E27FC236}">
                  <a16:creationId xmlns:a16="http://schemas.microsoft.com/office/drawing/2014/main" id="{3CF50919-5802-4F73-A5FA-2F384C55EBF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3">
              <a:extLst>
                <a:ext uri="{FF2B5EF4-FFF2-40B4-BE49-F238E27FC236}">
                  <a16:creationId xmlns:a16="http://schemas.microsoft.com/office/drawing/2014/main" id="{8881EC7A-6B0E-4240-B7DF-77E53A42028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4">
              <a:extLst>
                <a:ext uri="{FF2B5EF4-FFF2-40B4-BE49-F238E27FC236}">
                  <a16:creationId xmlns:a16="http://schemas.microsoft.com/office/drawing/2014/main" id="{93ABCD5D-F355-4501-AED1-25C89C0E6F0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5">
              <a:extLst>
                <a:ext uri="{FF2B5EF4-FFF2-40B4-BE49-F238E27FC236}">
                  <a16:creationId xmlns:a16="http://schemas.microsoft.com/office/drawing/2014/main" id="{BBDCC998-4230-4F20-A2E5-37A005478F5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6">
              <a:extLst>
                <a:ext uri="{FF2B5EF4-FFF2-40B4-BE49-F238E27FC236}">
                  <a16:creationId xmlns:a16="http://schemas.microsoft.com/office/drawing/2014/main" id="{92055003-E365-4C48-93BD-F68C52CA3F4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7">
              <a:extLst>
                <a:ext uri="{FF2B5EF4-FFF2-40B4-BE49-F238E27FC236}">
                  <a16:creationId xmlns:a16="http://schemas.microsoft.com/office/drawing/2014/main" id="{864C159D-529A-4F18-A058-26F591C4E7C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8">
              <a:extLst>
                <a:ext uri="{FF2B5EF4-FFF2-40B4-BE49-F238E27FC236}">
                  <a16:creationId xmlns:a16="http://schemas.microsoft.com/office/drawing/2014/main" id="{33D095F8-861D-466C-AE50-D8A2AAF2962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9">
              <a:extLst>
                <a:ext uri="{FF2B5EF4-FFF2-40B4-BE49-F238E27FC236}">
                  <a16:creationId xmlns:a16="http://schemas.microsoft.com/office/drawing/2014/main" id="{1693B8CA-5F2C-4D68-B258-F2060C0AA67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40">
              <a:extLst>
                <a:ext uri="{FF2B5EF4-FFF2-40B4-BE49-F238E27FC236}">
                  <a16:creationId xmlns:a16="http://schemas.microsoft.com/office/drawing/2014/main" id="{CF4CB899-72F1-471A-8827-C76CB3020AB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1">
              <a:extLst>
                <a:ext uri="{FF2B5EF4-FFF2-40B4-BE49-F238E27FC236}">
                  <a16:creationId xmlns:a16="http://schemas.microsoft.com/office/drawing/2014/main" id="{ABB2800F-1B33-4062-A71E-4B610D89773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2">
              <a:extLst>
                <a:ext uri="{FF2B5EF4-FFF2-40B4-BE49-F238E27FC236}">
                  <a16:creationId xmlns:a16="http://schemas.microsoft.com/office/drawing/2014/main" id="{6FFF9AA6-E7FC-4312-AD92-8C6E8AB5FAA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3">
              <a:extLst>
                <a:ext uri="{FF2B5EF4-FFF2-40B4-BE49-F238E27FC236}">
                  <a16:creationId xmlns:a16="http://schemas.microsoft.com/office/drawing/2014/main" id="{7654282E-411D-47A4-BEDD-F1D36963D61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4">
              <a:extLst>
                <a:ext uri="{FF2B5EF4-FFF2-40B4-BE49-F238E27FC236}">
                  <a16:creationId xmlns:a16="http://schemas.microsoft.com/office/drawing/2014/main" id="{BB64D69C-CAE2-4922-A4AF-662CF5AB179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5">
              <a:extLst>
                <a:ext uri="{FF2B5EF4-FFF2-40B4-BE49-F238E27FC236}">
                  <a16:creationId xmlns:a16="http://schemas.microsoft.com/office/drawing/2014/main" id="{2ED80A6D-4378-441A-B270-796047A1C38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6">
              <a:extLst>
                <a:ext uri="{FF2B5EF4-FFF2-40B4-BE49-F238E27FC236}">
                  <a16:creationId xmlns:a16="http://schemas.microsoft.com/office/drawing/2014/main" id="{0A86051E-8AAA-439F-B366-AEE843A3C1C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7">
              <a:extLst>
                <a:ext uri="{FF2B5EF4-FFF2-40B4-BE49-F238E27FC236}">
                  <a16:creationId xmlns:a16="http://schemas.microsoft.com/office/drawing/2014/main" id="{6571B322-E3F3-42C3-AF20-854FF13493B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8">
              <a:extLst>
                <a:ext uri="{FF2B5EF4-FFF2-40B4-BE49-F238E27FC236}">
                  <a16:creationId xmlns:a16="http://schemas.microsoft.com/office/drawing/2014/main" id="{C9C5DBCF-AD15-4C4B-8582-BCD483745B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9">
              <a:extLst>
                <a:ext uri="{FF2B5EF4-FFF2-40B4-BE49-F238E27FC236}">
                  <a16:creationId xmlns:a16="http://schemas.microsoft.com/office/drawing/2014/main" id="{B023E1B3-F129-43D8-8F04-43AFFDEC2A6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50">
              <a:extLst>
                <a:ext uri="{FF2B5EF4-FFF2-40B4-BE49-F238E27FC236}">
                  <a16:creationId xmlns:a16="http://schemas.microsoft.com/office/drawing/2014/main" id="{A44BE531-DC1E-4791-8B3F-FF2586CC77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1">
              <a:extLst>
                <a:ext uri="{FF2B5EF4-FFF2-40B4-BE49-F238E27FC236}">
                  <a16:creationId xmlns:a16="http://schemas.microsoft.com/office/drawing/2014/main" id="{030105FD-9954-400B-90B6-3871CC4198C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2">
              <a:extLst>
                <a:ext uri="{FF2B5EF4-FFF2-40B4-BE49-F238E27FC236}">
                  <a16:creationId xmlns:a16="http://schemas.microsoft.com/office/drawing/2014/main" id="{7B8EB148-CE8F-4E9D-B4EC-7333FD91002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3">
              <a:extLst>
                <a:ext uri="{FF2B5EF4-FFF2-40B4-BE49-F238E27FC236}">
                  <a16:creationId xmlns:a16="http://schemas.microsoft.com/office/drawing/2014/main" id="{AC05E91E-9EFF-47D7-A34E-F698DD9BCD1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4">
              <a:extLst>
                <a:ext uri="{FF2B5EF4-FFF2-40B4-BE49-F238E27FC236}">
                  <a16:creationId xmlns:a16="http://schemas.microsoft.com/office/drawing/2014/main" id="{96F1C184-5F65-4577-B1DD-2B765CD6F1C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5">
              <a:extLst>
                <a:ext uri="{FF2B5EF4-FFF2-40B4-BE49-F238E27FC236}">
                  <a16:creationId xmlns:a16="http://schemas.microsoft.com/office/drawing/2014/main" id="{4D5BFD5E-869B-4D2A-8398-725D90A2098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6">
              <a:extLst>
                <a:ext uri="{FF2B5EF4-FFF2-40B4-BE49-F238E27FC236}">
                  <a16:creationId xmlns:a16="http://schemas.microsoft.com/office/drawing/2014/main" id="{AAD56FE7-6ADD-4C7B-BE6D-7A50412884C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7">
              <a:extLst>
                <a:ext uri="{FF2B5EF4-FFF2-40B4-BE49-F238E27FC236}">
                  <a16:creationId xmlns:a16="http://schemas.microsoft.com/office/drawing/2014/main" id="{73FACDAE-D56F-4FE6-B31D-DC3A79D6D87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8">
              <a:extLst>
                <a:ext uri="{FF2B5EF4-FFF2-40B4-BE49-F238E27FC236}">
                  <a16:creationId xmlns:a16="http://schemas.microsoft.com/office/drawing/2014/main" id="{D94284AE-85BE-444E-B622-FF37C8A914F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9">
              <a:extLst>
                <a:ext uri="{FF2B5EF4-FFF2-40B4-BE49-F238E27FC236}">
                  <a16:creationId xmlns:a16="http://schemas.microsoft.com/office/drawing/2014/main" id="{98AAEA7A-F3F7-40C4-A2D6-4F82B7636AE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60">
              <a:extLst>
                <a:ext uri="{FF2B5EF4-FFF2-40B4-BE49-F238E27FC236}">
                  <a16:creationId xmlns:a16="http://schemas.microsoft.com/office/drawing/2014/main" id="{AF51A35D-2FBA-4046-98B3-E208CF4C32F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1">
              <a:extLst>
                <a:ext uri="{FF2B5EF4-FFF2-40B4-BE49-F238E27FC236}">
                  <a16:creationId xmlns:a16="http://schemas.microsoft.com/office/drawing/2014/main" id="{FFBEF6AF-DFC2-43C9-9F26-2A510F6F2A3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2">
              <a:extLst>
                <a:ext uri="{FF2B5EF4-FFF2-40B4-BE49-F238E27FC236}">
                  <a16:creationId xmlns:a16="http://schemas.microsoft.com/office/drawing/2014/main" id="{8D649C56-0573-4634-AA61-E940650D8B99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3">
              <a:extLst>
                <a:ext uri="{FF2B5EF4-FFF2-40B4-BE49-F238E27FC236}">
                  <a16:creationId xmlns:a16="http://schemas.microsoft.com/office/drawing/2014/main" id="{6C083D07-F662-4B88-A7AD-D2A3001A7A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4">
              <a:extLst>
                <a:ext uri="{FF2B5EF4-FFF2-40B4-BE49-F238E27FC236}">
                  <a16:creationId xmlns:a16="http://schemas.microsoft.com/office/drawing/2014/main" id="{52719EEC-4A5A-4B27-AF60-54D11F4CC9C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5">
              <a:extLst>
                <a:ext uri="{FF2B5EF4-FFF2-40B4-BE49-F238E27FC236}">
                  <a16:creationId xmlns:a16="http://schemas.microsoft.com/office/drawing/2014/main" id="{497702AA-B85C-43F5-8191-1EE8B9EB392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6">
              <a:extLst>
                <a:ext uri="{FF2B5EF4-FFF2-40B4-BE49-F238E27FC236}">
                  <a16:creationId xmlns:a16="http://schemas.microsoft.com/office/drawing/2014/main" id="{DC6FAF18-E30C-4311-80B3-BA1CB010124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7">
              <a:extLst>
                <a:ext uri="{FF2B5EF4-FFF2-40B4-BE49-F238E27FC236}">
                  <a16:creationId xmlns:a16="http://schemas.microsoft.com/office/drawing/2014/main" id="{9B06496D-42D9-4B23-AA94-0DF6F47EAB7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8">
              <a:extLst>
                <a:ext uri="{FF2B5EF4-FFF2-40B4-BE49-F238E27FC236}">
                  <a16:creationId xmlns:a16="http://schemas.microsoft.com/office/drawing/2014/main" id="{4E23B2FC-7FDB-492C-97FE-8D6CC5FCD28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9">
              <a:extLst>
                <a:ext uri="{FF2B5EF4-FFF2-40B4-BE49-F238E27FC236}">
                  <a16:creationId xmlns:a16="http://schemas.microsoft.com/office/drawing/2014/main" id="{9DEDC81D-E949-4266-9944-35BFA0DB695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70">
              <a:extLst>
                <a:ext uri="{FF2B5EF4-FFF2-40B4-BE49-F238E27FC236}">
                  <a16:creationId xmlns:a16="http://schemas.microsoft.com/office/drawing/2014/main" id="{0FE9C02B-9BE5-4C0A-AB91-626F2E7C379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1">
              <a:extLst>
                <a:ext uri="{FF2B5EF4-FFF2-40B4-BE49-F238E27FC236}">
                  <a16:creationId xmlns:a16="http://schemas.microsoft.com/office/drawing/2014/main" id="{106CEB60-669D-4F08-B9A7-2E4D35D8EAF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2">
              <a:extLst>
                <a:ext uri="{FF2B5EF4-FFF2-40B4-BE49-F238E27FC236}">
                  <a16:creationId xmlns:a16="http://schemas.microsoft.com/office/drawing/2014/main" id="{B8238780-CAD2-4991-B1A3-F3AF2ECA47C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3">
              <a:extLst>
                <a:ext uri="{FF2B5EF4-FFF2-40B4-BE49-F238E27FC236}">
                  <a16:creationId xmlns:a16="http://schemas.microsoft.com/office/drawing/2014/main" id="{DF31B18A-1226-49FC-B8F3-A71F6F7B5D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4">
              <a:extLst>
                <a:ext uri="{FF2B5EF4-FFF2-40B4-BE49-F238E27FC236}">
                  <a16:creationId xmlns:a16="http://schemas.microsoft.com/office/drawing/2014/main" id="{FDF82FA3-3896-4FCB-981C-E596BA9FE1F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5">
              <a:extLst>
                <a:ext uri="{FF2B5EF4-FFF2-40B4-BE49-F238E27FC236}">
                  <a16:creationId xmlns:a16="http://schemas.microsoft.com/office/drawing/2014/main" id="{97343E89-E6C3-4C21-BBA6-3CE199E9530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6">
              <a:extLst>
                <a:ext uri="{FF2B5EF4-FFF2-40B4-BE49-F238E27FC236}">
                  <a16:creationId xmlns:a16="http://schemas.microsoft.com/office/drawing/2014/main" id="{5E10BDFB-3013-4973-BB77-F7EB4C9D81E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7">
              <a:extLst>
                <a:ext uri="{FF2B5EF4-FFF2-40B4-BE49-F238E27FC236}">
                  <a16:creationId xmlns:a16="http://schemas.microsoft.com/office/drawing/2014/main" id="{654753FC-11FF-4DFC-8341-C03E5B7D08C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8">
              <a:extLst>
                <a:ext uri="{FF2B5EF4-FFF2-40B4-BE49-F238E27FC236}">
                  <a16:creationId xmlns:a16="http://schemas.microsoft.com/office/drawing/2014/main" id="{5B3789F8-AD2E-4DB4-A477-90E2D90CB74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9">
              <a:extLst>
                <a:ext uri="{FF2B5EF4-FFF2-40B4-BE49-F238E27FC236}">
                  <a16:creationId xmlns:a16="http://schemas.microsoft.com/office/drawing/2014/main" id="{D9D37BE8-9EA6-41C6-BABD-6A1865E68E8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80">
              <a:extLst>
                <a:ext uri="{FF2B5EF4-FFF2-40B4-BE49-F238E27FC236}">
                  <a16:creationId xmlns:a16="http://schemas.microsoft.com/office/drawing/2014/main" id="{97368B78-3BC7-4D1C-8BE1-803E4A1D632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1">
              <a:extLst>
                <a:ext uri="{FF2B5EF4-FFF2-40B4-BE49-F238E27FC236}">
                  <a16:creationId xmlns:a16="http://schemas.microsoft.com/office/drawing/2014/main" id="{CD5DEB82-90EE-4B03-9557-B57E844C1C8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2">
              <a:extLst>
                <a:ext uri="{FF2B5EF4-FFF2-40B4-BE49-F238E27FC236}">
                  <a16:creationId xmlns:a16="http://schemas.microsoft.com/office/drawing/2014/main" id="{9CAA0EB0-2610-4A85-ABBA-BA80571DF29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3">
              <a:extLst>
                <a:ext uri="{FF2B5EF4-FFF2-40B4-BE49-F238E27FC236}">
                  <a16:creationId xmlns:a16="http://schemas.microsoft.com/office/drawing/2014/main" id="{955C439C-F3A0-4AF9-BD5D-73ABEB989A0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4">
              <a:extLst>
                <a:ext uri="{FF2B5EF4-FFF2-40B4-BE49-F238E27FC236}">
                  <a16:creationId xmlns:a16="http://schemas.microsoft.com/office/drawing/2014/main" id="{E7DDF141-6537-4E0D-BF78-43F86805699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5">
              <a:extLst>
                <a:ext uri="{FF2B5EF4-FFF2-40B4-BE49-F238E27FC236}">
                  <a16:creationId xmlns:a16="http://schemas.microsoft.com/office/drawing/2014/main" id="{789A3C03-E670-4FC6-AC2C-871A522A852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33476957-E834-5898-12F1-45F860C68BA7}"/>
              </a:ext>
            </a:extLst>
          </p:cNvPr>
          <p:cNvSpPr txBox="1">
            <a:spLocks noChangeArrowheads="1"/>
          </p:cNvSpPr>
          <p:nvPr/>
        </p:nvSpPr>
        <p:spPr>
          <a:xfrm>
            <a:off x="6125209" y="5655523"/>
            <a:ext cx="3004050" cy="1202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2400" kern="1200" cap="none" baseline="0">
                <a:solidFill>
                  <a:srgbClr val="002060"/>
                </a:solidFill>
                <a:latin typeface="AAchalk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altLang="en-US" b="1" dirty="0">
                <a:latin typeface="ManiezzoSlides" pitchFamily="2" charset="0"/>
              </a:rPr>
              <a:t>Livio </a:t>
            </a:r>
            <a:r>
              <a:rPr lang="it-IT" altLang="en-US" b="1" dirty="0" err="1">
                <a:latin typeface="ManiezzoSlides" pitchFamily="2" charset="0"/>
              </a:rPr>
              <a:t>Fenga</a:t>
            </a:r>
            <a:endParaRPr lang="it-IT" altLang="en-US" b="1" dirty="0">
              <a:latin typeface="ManiezzoSlides" pitchFamily="2" charset="0"/>
            </a:endParaRPr>
          </a:p>
          <a:p>
            <a:pPr algn="l"/>
            <a:r>
              <a:rPr lang="it-IT" altLang="en-US" b="1" dirty="0">
                <a:latin typeface="ManiezzoSlides" pitchFamily="2" charset="0"/>
              </a:rPr>
              <a:t>University of Exeter</a:t>
            </a:r>
          </a:p>
          <a:p>
            <a:pPr algn="l"/>
            <a:r>
              <a:rPr lang="it-IT" altLang="en-US" b="1" dirty="0">
                <a:latin typeface="ManiezzoSlides" pitchFamily="2" charset="0"/>
              </a:rPr>
              <a:t>L.Fenga@exeter.ac.uk</a:t>
            </a:r>
          </a:p>
        </p:txBody>
      </p:sp>
    </p:spTree>
    <p:extLst>
      <p:ext uri="{BB962C8B-B14F-4D97-AF65-F5344CB8AC3E}">
        <p14:creationId xmlns:p14="http://schemas.microsoft.com/office/powerpoint/2010/main" val="1349857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69984B-DF76-A78D-01B2-FC4B36C71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Given a </a:t>
            </a:r>
            <a:r>
              <a:rPr lang="it-IT" sz="2400" i="1" dirty="0" err="1"/>
              <a:t>univariate</a:t>
            </a:r>
            <a:r>
              <a:rPr lang="it-IT" sz="2400" i="1" dirty="0"/>
              <a:t> time </a:t>
            </a:r>
            <a:r>
              <a:rPr lang="it-IT" sz="2400" i="1" dirty="0" err="1"/>
              <a:t>series</a:t>
            </a:r>
            <a:r>
              <a:rPr lang="it-IT" sz="2400" i="1" dirty="0"/>
              <a:t> </a:t>
            </a:r>
            <a:r>
              <a:rPr lang="it-IT" sz="2400" dirty="0"/>
              <a:t>T, </a:t>
            </a:r>
            <a:r>
              <a:rPr lang="it-IT" sz="2400" dirty="0" err="1">
                <a:solidFill>
                  <a:schemeClr val="accent2"/>
                </a:solidFill>
              </a:rPr>
              <a:t>changepoint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dirty="0" err="1">
                <a:solidFill>
                  <a:schemeClr val="accent2"/>
                </a:solidFill>
              </a:rPr>
              <a:t>detection</a:t>
            </a:r>
            <a:r>
              <a:rPr lang="it-IT" sz="2400" dirty="0">
                <a:solidFill>
                  <a:schemeClr val="accent2"/>
                </a:solidFill>
              </a:rPr>
              <a:t> </a:t>
            </a:r>
            <a:r>
              <a:rPr lang="it-IT" sz="2400" dirty="0" err="1"/>
              <a:t>identifies</a:t>
            </a:r>
            <a:r>
              <a:rPr lang="it-IT" sz="2400" dirty="0"/>
              <a:t> time points</a:t>
            </a:r>
            <a:r>
              <a:rPr lang="en-US" sz="2400" dirty="0"/>
              <a:t> where the statistical properties of the data undergo a significant change.</a:t>
            </a:r>
          </a:p>
          <a:p>
            <a:r>
              <a:rPr lang="en-US" sz="2400" dirty="0"/>
              <a:t>Most common use case is </a:t>
            </a:r>
            <a:r>
              <a:rPr lang="en-US" sz="2400" dirty="0">
                <a:solidFill>
                  <a:schemeClr val="accent2"/>
                </a:solidFill>
              </a:rPr>
              <a:t>linear piecewise approximation</a:t>
            </a:r>
            <a:r>
              <a:rPr lang="en-US" sz="2400" dirty="0"/>
              <a:t>, where the subseries between changepoints are approximated by best fit linear segments.</a:t>
            </a:r>
          </a:p>
          <a:p>
            <a:r>
              <a:rPr lang="en-US" sz="2400" dirty="0"/>
              <a:t>State-of-the-art methods are implemented in the </a:t>
            </a:r>
            <a:r>
              <a:rPr lang="en-US" sz="2400" dirty="0">
                <a:solidFill>
                  <a:schemeClr val="accent2"/>
                </a:solidFill>
              </a:rPr>
              <a:t>ruptures package </a:t>
            </a:r>
            <a:r>
              <a:rPr lang="en-US" sz="2400" dirty="0"/>
              <a:t>(Truong et al., 2020). Two DP-based examples: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 err="1"/>
              <a:t>Dynp</a:t>
            </a:r>
            <a:r>
              <a:rPr lang="en-US" sz="2400" dirty="0"/>
              <a:t> (requires the number of breakpoints as input)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PELT (Killick et al., 2012), which selects the number of breakpoints automatically via a penalized cost (e.g. AIC/BIC)</a:t>
            </a:r>
            <a:r>
              <a:rPr lang="da-DK" sz="2400" dirty="0"/>
              <a:t> 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894D63-7AE2-58CA-5CD8-6E209D73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Changepoint</a:t>
            </a:r>
            <a:r>
              <a:rPr lang="it-IT" dirty="0"/>
              <a:t> </a:t>
            </a:r>
            <a:r>
              <a:rPr lang="it-IT" dirty="0" err="1"/>
              <a:t>detection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E3FE2-D6E9-C7D6-C7BF-7E2102340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F2CD6-D9BD-4733-FAE9-2127F0649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8081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F43367-177D-9F29-4DE7-4827FCD2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200" b="1" dirty="0">
                <a:solidFill>
                  <a:schemeClr val="accent2"/>
                </a:solidFill>
              </a:rPr>
              <a:t>Changepoint detection </a:t>
            </a:r>
            <a:r>
              <a:rPr lang="en-US" sz="2200" dirty="0"/>
              <a:t>assumes a finite number of shifts, each permanent (the series settles into a new regime and doesn't return to the old one).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chemeClr val="accent2"/>
                </a:solidFill>
              </a:rPr>
              <a:t>Regime-switching </a:t>
            </a:r>
            <a:r>
              <a:rPr lang="en-US" sz="2200" dirty="0"/>
              <a:t>models allow the process to revisit earlier regimes, with switches governed by some rule rather than treated as isolated breaks.</a:t>
            </a:r>
          </a:p>
          <a:p>
            <a:pPr>
              <a:spcBef>
                <a:spcPts val="600"/>
              </a:spcBef>
            </a:pPr>
            <a:r>
              <a:rPr lang="en-US" sz="2200" dirty="0"/>
              <a:t>Two classical families: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/>
                </a:solidFill>
              </a:rPr>
              <a:t>Threshold-based</a:t>
            </a:r>
            <a:r>
              <a:rPr lang="en-US" sz="2200" dirty="0"/>
              <a:t> (</a:t>
            </a:r>
            <a:r>
              <a:rPr lang="en-US" sz="2200" i="1" dirty="0"/>
              <a:t>deterministic switching rule</a:t>
            </a:r>
            <a:r>
              <a:rPr lang="en-US" sz="2200" dirty="0"/>
              <a:t>). SETAR (Tong 1978/1990), TAR, STAR: the AR regime in force at time t is determined by whether a lagged value of the series crosses a threshold (or smoothly transitions in case of STAR).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/>
                </a:solidFill>
              </a:rPr>
              <a:t>Markov-switching</a:t>
            </a:r>
            <a:r>
              <a:rPr lang="en-US" sz="2200" dirty="0"/>
              <a:t> (</a:t>
            </a:r>
            <a:r>
              <a:rPr lang="en-US" sz="2200" i="1" dirty="0"/>
              <a:t>latent stochastic switching rule</a:t>
            </a:r>
            <a:r>
              <a:rPr lang="en-US" sz="2200" dirty="0"/>
              <a:t>). Markov-Switching Autoregressive model (Hamilton, 1989): regime is an unobserved discrete state following a Markov chain. Used for business-cycle identification (expansion / recession) and, in finance, for volatility regimes.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B23E29-0E70-A065-C719-73E2FEDD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Regime switching </a:t>
            </a:r>
            <a:r>
              <a:rPr lang="it-IT" dirty="0" err="1"/>
              <a:t>detection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471F2-13D0-D919-3BF0-99ABAB8C7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314E3-C629-6B24-C7F7-BA376C4EF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8736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2D1EC-D93A-0840-F427-96A124F32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984" y="980484"/>
            <a:ext cx="8546175" cy="5600099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Segmenting the time series in order </a:t>
            </a:r>
            <a:r>
              <a:rPr lang="en-US" sz="2000" b="1" dirty="0">
                <a:solidFill>
                  <a:schemeClr val="accent2"/>
                </a:solidFill>
              </a:rPr>
              <a:t>both to model active regimes in the past and forecast future behavior</a:t>
            </a:r>
            <a:r>
              <a:rPr lang="en-US" sz="2000" dirty="0"/>
              <a:t> is largely unexplored.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Current changepoint detection methods are designed to </a:t>
            </a:r>
            <a:r>
              <a:rPr lang="en-US" sz="2000" dirty="0">
                <a:solidFill>
                  <a:schemeClr val="accent2"/>
                </a:solidFill>
              </a:rPr>
              <a:t>model the time series in-sample</a:t>
            </a:r>
            <a:r>
              <a:rPr lang="en-US" sz="2000" dirty="0"/>
              <a:t>; segmentation is chosen with </a:t>
            </a:r>
            <a:r>
              <a:rPr lang="en-US" sz="2000" dirty="0">
                <a:solidFill>
                  <a:schemeClr val="accent2"/>
                </a:solidFill>
              </a:rPr>
              <a:t>no out-of-sample </a:t>
            </a:r>
            <a:r>
              <a:rPr lang="en-US" sz="2000" dirty="0"/>
              <a:t>forecasting intent.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Even regime-switching models are built for description, not forecasting.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SETAR: switches deterministically between a </a:t>
            </a:r>
            <a:r>
              <a:rPr lang="en-US" sz="2000" i="1" dirty="0"/>
              <a:t>fixed, predefined set of regimes </a:t>
            </a:r>
            <a:r>
              <a:rPr lang="en-US" sz="2000" dirty="0"/>
              <a:t>— cannot represent structural changes beyond that fixed parametric set.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Markov-switching: </a:t>
            </a:r>
            <a:r>
              <a:rPr lang="en-US" sz="2000" i="1" dirty="0"/>
              <a:t>regime is latent </a:t>
            </a:r>
            <a:r>
              <a:rPr lang="en-US" sz="2000" dirty="0"/>
              <a:t>and only known probabilistically at the forecast origin; multi-step forecasts average over regimes, </a:t>
            </a:r>
            <a:r>
              <a:rPr lang="en-US" sz="2000" i="1" dirty="0"/>
              <a:t>diluting the regime-specific dynamics</a:t>
            </a:r>
            <a:r>
              <a:rPr lang="en-US" sz="2000" dirty="0"/>
              <a:t> of interest for in-sample analysis. 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(Clements &amp; Krolzig,1998, find no clear forecasting advantage over linear benchmarks for either SETAR or MS models of US GNP). 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We propose to </a:t>
            </a:r>
            <a:r>
              <a:rPr lang="en-US" sz="2000" b="1" i="1" dirty="0">
                <a:solidFill>
                  <a:schemeClr val="accent2"/>
                </a:solidFill>
              </a:rPr>
              <a:t>identify time segments using the predictive accuracy of a forecasting model </a:t>
            </a:r>
            <a:r>
              <a:rPr lang="en-US" sz="2000" dirty="0"/>
              <a:t>(AR, theta, MLP, … ) as a cost function, in place of the standard in-sample fit criteria (e.g. RSS/likelihood) used by existing segmentation methods.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26C9AB-1D10-A54D-01BA-123273E9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Modelling</a:t>
            </a:r>
            <a:r>
              <a:rPr lang="it-IT" dirty="0"/>
              <a:t> and forecasting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308F5-E23D-03CC-8FE1-D1F8C430F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2120D-E22B-84A0-BB50-666DBE37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118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35AA441-D234-C05C-1381-2CCC456E0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We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generate all feasible time segments</a:t>
                </a:r>
                <a:r>
                  <a:rPr lang="en-US" sz="2400" dirty="0"/>
                  <a:t> (suitable length and other segment-level constraints).</a:t>
                </a:r>
              </a:p>
              <a:p>
                <a:r>
                  <a:rPr lang="en-US" sz="2400" dirty="0"/>
                  <a:t>We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apply the forecasting model </a:t>
                </a:r>
                <a:r>
                  <a:rPr lang="en-US" sz="2400" dirty="0"/>
                  <a:t>of interest to each segment.</a:t>
                </a:r>
              </a:p>
              <a:p>
                <a:r>
                  <a:rPr lang="en-US" sz="2400" dirty="0"/>
                  <a:t>Each segment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cost</a:t>
                </a:r>
                <a:r>
                  <a:rPr lang="en-US" sz="2400" dirty="0"/>
                  <a:t> is the RMSE of the forecast </a:t>
                </a:r>
                <a:r>
                  <a:rPr lang="en-US" sz="2400" i="1" dirty="0"/>
                  <a:t>on its following validation interval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We identify the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subset of segments  that collectively partitions </a:t>
                </a:r>
                <a:r>
                  <a:rPr lang="en-US" sz="2400" dirty="0"/>
                  <a:t>the whole input series of minimum average cost, solving – and possibly extending – the 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SPP-like formulation</a:t>
                </a:r>
              </a:p>
              <a:p>
                <a:pPr>
                  <a:tabLst>
                    <a:tab pos="1257300" algn="l"/>
                    <a:tab pos="2171700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lim>
                    </m:limLow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>
                  <a:spcBef>
                    <a:spcPts val="600"/>
                  </a:spcBef>
                  <a:tabLst>
                    <a:tab pos="1257300" algn="l"/>
                    <a:tab pos="2171700" algn="l"/>
                  </a:tabLst>
                </a:pP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:r>
                  <a:rPr 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s.t.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40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40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  <a:r>
                  <a:rPr 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1, … , </a:t>
                </a:r>
                <a:r>
                  <a:rPr lang="en-US" sz="2400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npoints</a:t>
                </a:r>
                <a:endParaRPr lang="en-US" sz="24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tabLst>
                    <a:tab pos="1257300" algn="l"/>
                    <a:tab pos="2171700" algn="l"/>
                  </a:tabLst>
                </a:pP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35AA441-D234-C05C-1381-2CCC456E0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1624" b="-6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6477BA4-3C01-F1A8-C90B-50E2D549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Segment</a:t>
            </a:r>
            <a:r>
              <a:rPr lang="it-IT" dirty="0"/>
              <a:t> and forecast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F49CE-7140-FD6A-2D00-2147CBE6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184F4-9DD8-E80A-4651-91B3E58DC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7933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835650-8A0E-25B7-BA65-8BAB8570C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112372"/>
                <a:ext cx="8546175" cy="5646806"/>
              </a:xfrm>
            </p:spPr>
            <p:txBody>
              <a:bodyPr>
                <a:normAutofit fontScale="92500"/>
              </a:bodyPr>
              <a:lstStyle/>
              <a:p>
                <a:r>
                  <a:rPr lang="it-IT" dirty="0"/>
                  <a:t>The </a:t>
                </a:r>
                <a:r>
                  <a:rPr lang="it-IT" dirty="0" err="1"/>
                  <a:t>objective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>
                    <a:solidFill>
                      <a:schemeClr val="accent2"/>
                    </a:solidFill>
                  </a:rPr>
                  <a:t>non linear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it-IT" i="0" dirty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lim>
                      </m:limLow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i="1" dirty="0" err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it-IT" dirty="0"/>
              </a:p>
              <a:p>
                <a:r>
                  <a:rPr lang="en-US" dirty="0"/>
                  <a:t>For any value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9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9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9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9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it-IT" sz="29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it-IT" sz="29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9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9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it-IT" sz="2900" i="0" dirty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sz="3200" i="0" dirty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acc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it-IT" sz="2900" i="0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it-IT" sz="1600" dirty="0"/>
                  <a:t> </a:t>
                </a:r>
              </a:p>
              <a:p>
                <a:r>
                  <a:rPr lang="it-IT" dirty="0"/>
                  <a:t>Let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t-IT" i="0" dirty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it-IT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 err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it-IT" i="1" dirty="0" err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nary>
                        <m:sSub>
                          <m:sSubPr>
                            <m:ctrlPr>
                              <a:rPr lang="it-IT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it-IT" dirty="0"/>
                  <a:t> </a:t>
                </a:r>
              </a:p>
              <a:p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i="1" dirty="0"/>
                  <a:t>convex and non-increasing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it-IT" dirty="0"/>
                  <a:t>,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Let the optimal value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Finding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equivalent to finding the zero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it-IT" dirty="0"/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it-IT" dirty="0"/>
                  <a:t>Newton-like </a:t>
                </a:r>
                <a:r>
                  <a:rPr lang="it-IT" dirty="0" err="1"/>
                  <a:t>descent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b="1" i="1" dirty="0" err="1">
                    <a:solidFill>
                      <a:schemeClr val="accent2"/>
                    </a:solidFill>
                  </a:rPr>
                  <a:t>superlinear</a:t>
                </a:r>
                <a:r>
                  <a:rPr lang="it-IT" dirty="0"/>
                  <a:t> in </a:t>
                </a:r>
                <a:r>
                  <a:rPr lang="it-IT" dirty="0" err="1"/>
                  <a:t>this</a:t>
                </a:r>
                <a:r>
                  <a:rPr lang="it-IT" dirty="0"/>
                  <a:t> case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1700" dirty="0" err="1"/>
                  <a:t>Dinkelbach</a:t>
                </a:r>
                <a:r>
                  <a:rPr lang="en-US" sz="1700" dirty="0"/>
                  <a:t>, W. (1967). </a:t>
                </a:r>
                <a:r>
                  <a:rPr lang="en-US" sz="1700" b="1" dirty="0"/>
                  <a:t>On nonlinear fractional programming</a:t>
                </a:r>
                <a:r>
                  <a:rPr lang="en-US" sz="1700" dirty="0"/>
                  <a:t>. </a:t>
                </a:r>
                <a:r>
                  <a:rPr lang="en-US" sz="1700" i="1" dirty="0"/>
                  <a:t>Management Science</a:t>
                </a:r>
                <a:r>
                  <a:rPr lang="en-US" sz="1700" dirty="0"/>
                  <a:t>, 13(7), 492–498.</a:t>
                </a:r>
                <a:endParaRPr lang="en-US" sz="35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835650-8A0E-25B7-BA65-8BAB8570C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112372"/>
                <a:ext cx="8546175" cy="5646806"/>
              </a:xfrm>
              <a:blipFill>
                <a:blip r:embed="rId2"/>
                <a:stretch>
                  <a:fillRect l="-1284" t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E05391F-5473-33A0-8703-78AA31F2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Fractional</a:t>
            </a:r>
            <a:r>
              <a:rPr lang="it-IT" dirty="0"/>
              <a:t> programming </a:t>
            </a:r>
            <a:r>
              <a:rPr lang="it-IT" dirty="0" err="1"/>
              <a:t>at</a:t>
            </a:r>
            <a:r>
              <a:rPr lang="it-IT" dirty="0"/>
              <a:t> work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AB5ED-A138-C456-8385-907E8237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3DF63-2153-9ED3-67EA-84195BB1B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7722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BF42E2-88E9-CF37-0415-596CF6751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37285"/>
            <a:ext cx="8546175" cy="5551606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/>
              <a:t>Benchmark sets from the </a:t>
            </a:r>
            <a:r>
              <a:rPr lang="en-US" sz="2600" dirty="0">
                <a:solidFill>
                  <a:srgbClr val="C00000"/>
                </a:solidFill>
              </a:rPr>
              <a:t>M competitions</a:t>
            </a:r>
            <a:r>
              <a:rPr lang="en-US" sz="2600" i="1" baseline="30000" dirty="0">
                <a:solidFill>
                  <a:srgbClr val="C00000"/>
                </a:solidFill>
              </a:rPr>
              <a:t>1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on time series forecasting: 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M3 (micro, industry, macro, finance, demographic, other)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M4 (micro, industry, macro, finance, demographic, other)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5 series randomly selected within each category.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Forecasting models are autoregressive </a:t>
            </a:r>
            <a:r>
              <a:rPr lang="en-US" sz="2600" dirty="0">
                <a:solidFill>
                  <a:schemeClr val="accent2"/>
                </a:solidFill>
              </a:rPr>
              <a:t>AR(1), ETS Holt-Winters, theta, random forest</a:t>
            </a:r>
            <a:r>
              <a:rPr lang="en-US" sz="2600" dirty="0"/>
              <a:t>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dirty="0">
                <a:solidFill>
                  <a:srgbClr val="C00000"/>
                </a:solidFill>
              </a:rPr>
              <a:t>Code</a:t>
            </a:r>
            <a:r>
              <a:rPr lang="en-US" sz="2600" dirty="0"/>
              <a:t> in Python, </a:t>
            </a:r>
            <a:r>
              <a:rPr lang="en-US" sz="2600" dirty="0" err="1"/>
              <a:t>Gurobi</a:t>
            </a:r>
            <a:r>
              <a:rPr lang="en-US" sz="2600" dirty="0"/>
              <a:t> solver, platform desktop Windows 11.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600" b="1" i="1" dirty="0"/>
              <a:t>Testing still actively ongoing!</a:t>
            </a:r>
          </a:p>
          <a:p>
            <a:pPr>
              <a:lnSpc>
                <a:spcPct val="120000"/>
              </a:lnSpc>
            </a:pPr>
            <a:r>
              <a:rPr lang="en-US" sz="2200" i="1" baseline="30000" dirty="0"/>
              <a:t>1</a:t>
            </a:r>
            <a:r>
              <a:rPr lang="en-US" sz="1600" dirty="0"/>
              <a:t> https://en.wikipedia.org/wiki/Makridakis_Competitions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76A18-B4A4-A350-FFBF-1B9602B7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Testsets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D1E5F-152B-B376-E87E-EDB6374A1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0E8CF-948D-D45B-4090-98FC2F230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9786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06DF1F9-DB16-46EB-A48F-FE364520A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3330212"/>
              </p:ext>
            </p:extLst>
          </p:nvPr>
        </p:nvGraphicFramePr>
        <p:xfrm>
          <a:off x="276301" y="1180531"/>
          <a:ext cx="8800258" cy="4261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64940927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2010278970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2156581516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4082229016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1180357110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3931565425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1431161398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3099535207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2428868227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4280712952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4265676797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2214148226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3321683673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3127397826"/>
                    </a:ext>
                  </a:extLst>
                </a:gridCol>
                <a:gridCol w="569807">
                  <a:extLst>
                    <a:ext uri="{9D8B030D-6E8A-4147-A177-3AD203B41FA5}">
                      <a16:colId xmlns:a16="http://schemas.microsoft.com/office/drawing/2014/main" val="838683826"/>
                    </a:ext>
                  </a:extLst>
                </a:gridCol>
              </a:tblGrid>
              <a:tr h="322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M3</a:t>
                      </a: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AR(1)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HW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Theta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Rnd. Forest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Rnd. Forest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6038"/>
                  </a:ext>
                </a:extLst>
              </a:tr>
              <a:tr h="322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Category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 err="1">
                          <a:effectLst/>
                        </a:rPr>
                        <a:t>npoints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 err="1">
                          <a:effectLst/>
                        </a:rPr>
                        <a:t>nsegm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694833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Demographic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134.6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5010.0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-0.148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0.507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0.441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1.179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0.153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0.400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1.013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0.196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1.005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2.322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773501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Finance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129.6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4610.4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0.477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-0.198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0.127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314219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Industry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140.0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5577.0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-0.122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-0.105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-0.058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234556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Macro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128.4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4460.8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-0.116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0.253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2.138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0.000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216063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Micro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126.0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4186.0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-0.080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1.388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-0.249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-0.117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-0.076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100191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105.6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2596.6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-0.015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0.077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0.244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-0.096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-0.084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1.163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702574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avg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127.4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4406.8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-0.034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0.239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0.587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0.028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0.409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0.991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-0.006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0.285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0.718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-0.001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0.316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0.743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813952"/>
                  </a:ext>
                </a:extLst>
              </a:tr>
              <a:tr h="17806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978414"/>
                  </a:ext>
                </a:extLst>
              </a:tr>
              <a:tr h="1780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M4</a:t>
                      </a: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554246"/>
                  </a:ext>
                </a:extLst>
              </a:tr>
              <a:tr h="322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Category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 err="1">
                          <a:effectLst/>
                        </a:rPr>
                        <a:t>npoints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 err="1">
                          <a:effectLst/>
                        </a:rPr>
                        <a:t>nsegm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delta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std dev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i="1" u="none" strike="noStrike" dirty="0">
                          <a:effectLst/>
                        </a:rPr>
                        <a:t>range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782840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Demographic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146.4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7272.2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-0.069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0.465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-0.173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0.822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-0.022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0.805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-0.162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0.054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725282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Finance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114.0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3686.4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0.349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1.903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-0.233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0.166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0.421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0.747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1.898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1.644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632710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Industry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154.6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9753.0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-0.006</a:t>
                      </a: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0.386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0.986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2.056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5.057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-0.034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-0.084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007948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Macro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146.4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7368.6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-0.073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0.396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1.936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0.522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1.370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-0.217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060762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Micro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121.6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4605.8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0.110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0.275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-0.158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0.368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37449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179.6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14940.6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-0.394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0.890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0.086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1.403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-0.375</a:t>
                      </a:r>
                      <a:endParaRPr lang="en-US" sz="1100" b="0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0.666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0.402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7.722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17.540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638193"/>
                  </a:ext>
                </a:extLst>
              </a:tr>
              <a:tr h="1986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avg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143.8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7937.8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-0.027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0.319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0.813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0.203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0.697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1.674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-0.025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0.353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0.895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-0.002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1.528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3.483</a:t>
                      </a:r>
                      <a:endParaRPr lang="en-US" sz="11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03" marR="8903" marT="8903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87788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DA87D4A-E55F-422D-B619-44EDCDE0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M3 / M4, horizon </a:t>
            </a:r>
            <a:r>
              <a:rPr lang="en-US" dirty="0">
                <a:latin typeface="+mj-lt"/>
              </a:rPr>
              <a:t>=</a:t>
            </a:r>
            <a:r>
              <a:rPr lang="en-US" dirty="0"/>
              <a:t> 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F0944-71A0-4A5E-B278-E7AD2661E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Vittorio Maniezzo - University of Bologna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E3A49-A33C-4800-A0BC-BDB74A3EA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8</a:t>
            </a:fld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9C3923-2AE2-AB46-185B-F8481B7DEC34}"/>
              </a:ext>
            </a:extLst>
          </p:cNvPr>
          <p:cNvSpPr txBox="1"/>
          <p:nvPr/>
        </p:nvSpPr>
        <p:spPr>
          <a:xfrm>
            <a:off x="138150" y="5657254"/>
            <a:ext cx="88677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r>
              <a:rPr lang="en-US" sz="1600" dirty="0"/>
              <a:t>Segmentation gains are model‑dependent. One can either select the model that maximizes average error reduction (with low variance), or — for a given model — use the empirical distribution of gains to anticipate the benefit of segmentation.</a:t>
            </a:r>
          </a:p>
        </p:txBody>
      </p:sp>
    </p:spTree>
    <p:extLst>
      <p:ext uri="{BB962C8B-B14F-4D97-AF65-F5344CB8AC3E}">
        <p14:creationId xmlns:p14="http://schemas.microsoft.com/office/powerpoint/2010/main" val="314828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04FE7D-9AEB-403F-8157-7E12B9C5E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238727"/>
            <a:ext cx="8547100" cy="5128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B9BFAE2-83E5-4FF5-B0FC-40774E89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A7903-DFB8-4520-B340-EB7B3D845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3869C-E3D8-402F-9FA3-133EF8F20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5670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FDFAD7-585C-4FB6-A71E-7C057B2B1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238727"/>
            <a:ext cx="8547100" cy="5128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FD90C5-C2D8-44E7-9012-403DF7DD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B6498-5898-44A2-9848-1A36FCDDC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D0263-38D8-4A89-B951-7E053882A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07246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5E2472-A8F4-41D4-8EDC-28240D769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238727"/>
            <a:ext cx="8547100" cy="5128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9C4B02-56C9-4D8F-AD67-83F774EC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346E0-11C2-49C2-BEB8-69C11094F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49264-BD2E-4C82-875E-17BBBDD14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8143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4692B8-5FA0-4403-984B-F0EA30316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238727"/>
            <a:ext cx="8547100" cy="5128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D4A7DB-E7BD-4815-8B0D-093092B3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97558-5E04-43ED-A6D8-DB4690A9E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5D5DA-8A2D-4E43-B27A-2FA2054E5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784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1E9763-B785-4150-96AC-1A2090DEC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238727"/>
            <a:ext cx="8547100" cy="5128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98133F8-0819-49AF-872D-33FB78B0A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things go awry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11FA3-1FA0-4459-96DD-6B8B68712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558D8-0653-48AF-BA12-460CCF016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723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09DA3C-C3AC-4545-8861-7804E073A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238727"/>
            <a:ext cx="8547100" cy="51282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B15CB3-83DA-485D-BE68-0F4BE4892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things go awry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D9217-1DE0-4678-AAA6-DB4BEB89C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3C0DC-6770-42A8-A70F-7914297B3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6617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Quadretti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t" anchorCtr="0">
        <a:no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Quadretti" id="{19AB7872-5255-42EA-897B-4062C768F031}" vid="{57F8082C-57DB-4447-A402-D3E99C17B6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ThemeQuadretti</Template>
  <TotalTime>2814</TotalTime>
  <Words>1206</Words>
  <Application>Microsoft Office PowerPoint</Application>
  <PresentationFormat>On-screen Show (4:3)</PresentationFormat>
  <Paragraphs>344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AAchalk</vt:lpstr>
      <vt:lpstr>Arial</vt:lpstr>
      <vt:lpstr>Calibri</vt:lpstr>
      <vt:lpstr>Calibri Light</vt:lpstr>
      <vt:lpstr>Cambria</vt:lpstr>
      <vt:lpstr>Cambria Math</vt:lpstr>
      <vt:lpstr>ManiezzoSlides</vt:lpstr>
      <vt:lpstr>Wingdings</vt:lpstr>
      <vt:lpstr>ThemeQuadretti</vt:lpstr>
      <vt:lpstr>Forecasting-oriented changepoint detection</vt:lpstr>
      <vt:lpstr>Changepoint detection</vt:lpstr>
      <vt:lpstr>Regime switching detection</vt:lpstr>
      <vt:lpstr>Modelling and forecasting</vt:lpstr>
      <vt:lpstr>Segment and forecast</vt:lpstr>
      <vt:lpstr>Fractional programming at work</vt:lpstr>
      <vt:lpstr>Testsets</vt:lpstr>
      <vt:lpstr>M3 / M4, horizon = 6</vt:lpstr>
      <vt:lpstr>AR</vt:lpstr>
      <vt:lpstr>HW</vt:lpstr>
      <vt:lpstr>RF</vt:lpstr>
      <vt:lpstr>Th</vt:lpstr>
      <vt:lpstr>When things go awry</vt:lpstr>
      <vt:lpstr>When things go awry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Vittorio Maniezzo</dc:creator>
  <cp:lastModifiedBy>Vittorio Maniezzo</cp:lastModifiedBy>
  <cp:revision>307</cp:revision>
  <cp:lastPrinted>2026-08-30T16:21:59Z</cp:lastPrinted>
  <dcterms:created xsi:type="dcterms:W3CDTF">2024-02-06T11:14:54Z</dcterms:created>
  <dcterms:modified xsi:type="dcterms:W3CDTF">2026-09-08T14:29:18Z</dcterms:modified>
</cp:coreProperties>
</file>