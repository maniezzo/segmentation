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62277"/>
  </p:normalViewPr>
  <p:slideViewPr>
    <p:cSldViewPr snapToGrid="0">
      <p:cViewPr varScale="1">
        <p:scale>
          <a:sx n="76" d="100"/>
          <a:sy n="76" d="100"/>
        </p:scale>
        <p:origin x="19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394DF-E5F4-4C45-994C-7BDD812FBFCB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CCC87-72FA-7043-AA05-CFA23E745E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6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L’algoritmo </a:t>
            </a:r>
            <a:r>
              <a:rPr lang="it-IT" dirty="0" err="1"/>
              <a:t>dynp</a:t>
            </a:r>
            <a:r>
              <a:rPr lang="it-IT" dirty="0"/>
              <a:t>, nella situazione classica, riceve in input un segnale di lunghezza </a:t>
            </a:r>
            <a:r>
              <a:rPr lang="it-IT" dirty="0" err="1"/>
              <a:t>N</a:t>
            </a:r>
            <a:r>
              <a:rPr lang="it-IT" dirty="0"/>
              <a:t>, un modello di costo, un numero di </a:t>
            </a:r>
            <a:r>
              <a:rPr lang="it-IT" dirty="0" err="1"/>
              <a:t>breakpoint</a:t>
            </a:r>
            <a:r>
              <a:rPr lang="it-IT" dirty="0"/>
              <a:t> k e l’obiettivo dell’algoritmo consiste nel trovare dove inserire i k </a:t>
            </a:r>
            <a:r>
              <a:rPr lang="it-IT" dirty="0" err="1"/>
              <a:t>breakpoint</a:t>
            </a:r>
            <a:r>
              <a:rPr lang="it-IT" dirty="0"/>
              <a:t> per dividere il segnale in k+1 segmenti in modo che la somma dei costi dei segmenti sia minima.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553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Definiamo una funzione che implementa l’algoritmo </a:t>
            </a:r>
            <a:r>
              <a:rPr lang="it-IT" dirty="0" err="1"/>
              <a:t>Dynp</a:t>
            </a:r>
            <a:r>
              <a:rPr lang="it-IT" dirty="0"/>
              <a:t>.</a:t>
            </a:r>
          </a:p>
          <a:p>
            <a:r>
              <a:rPr lang="it-IT" dirty="0"/>
              <a:t>Questa funzione riceve in ingresso:</a:t>
            </a:r>
          </a:p>
          <a:p>
            <a:pPr marL="171450" indent="-171450">
              <a:buFontTx/>
              <a:buChar char="-"/>
            </a:pPr>
            <a:r>
              <a:rPr lang="it-IT" dirty="0"/>
              <a:t>Il segnale da segmentare (ovvero i dati in ingresso)</a:t>
            </a:r>
          </a:p>
          <a:p>
            <a:pPr marL="171450" indent="-171450">
              <a:buFontTx/>
              <a:buChar char="-"/>
            </a:pPr>
            <a:r>
              <a:rPr lang="it-IT" dirty="0"/>
              <a:t>K il numero di </a:t>
            </a:r>
            <a:r>
              <a:rPr lang="it-IT" dirty="0" err="1"/>
              <a:t>breakpoints</a:t>
            </a:r>
            <a:r>
              <a:rPr lang="it-IT" dirty="0"/>
              <a:t> che voglio trovare. Quindi la funzione dividerà il segnale in k+1 segmenti.</a:t>
            </a:r>
          </a:p>
          <a:p>
            <a:pPr marL="171450" indent="-171450">
              <a:buFontTx/>
              <a:buChar char="-"/>
            </a:pPr>
            <a:r>
              <a:rPr lang="it-IT" dirty="0"/>
              <a:t>Modello è la funzione di costo: ad esempio si può decidere di usare l’errore quadratico medio</a:t>
            </a:r>
          </a:p>
          <a:p>
            <a:pPr marL="171450" indent="-171450">
              <a:buFontTx/>
              <a:buChar char="-"/>
            </a:pPr>
            <a:r>
              <a:rPr lang="it-IT" dirty="0" err="1"/>
              <a:t>Min_size</a:t>
            </a:r>
            <a:r>
              <a:rPr lang="it-IT" dirty="0"/>
              <a:t> è la lunghezza minima del segmento cioè il numero minimo di punti che un segmento deve contenere</a:t>
            </a:r>
          </a:p>
          <a:p>
            <a:pPr marL="171450" indent="-171450">
              <a:buFontTx/>
              <a:buChar char="-"/>
            </a:pPr>
            <a:r>
              <a:rPr lang="it-IT" dirty="0"/>
              <a:t>Jump serve a velocizzare l’algoritmo. </a:t>
            </a:r>
            <a:r>
              <a:rPr lang="it-IT" dirty="0" err="1"/>
              <a:t>Dynp</a:t>
            </a:r>
            <a:r>
              <a:rPr lang="it-IT" dirty="0"/>
              <a:t> prova i possibili </a:t>
            </a:r>
            <a:r>
              <a:rPr lang="it-IT" dirty="0" err="1"/>
              <a:t>breakpoints</a:t>
            </a:r>
            <a:r>
              <a:rPr lang="it-IT" dirty="0"/>
              <a:t> ogni </a:t>
            </a:r>
            <a:r>
              <a:rPr lang="it-IT" dirty="0" err="1"/>
              <a:t>jump</a:t>
            </a:r>
            <a:r>
              <a:rPr lang="it-IT" dirty="0"/>
              <a:t> punti. Non considera tutti i punti come possibili </a:t>
            </a:r>
            <a:r>
              <a:rPr lang="it-IT" dirty="0" err="1"/>
              <a:t>breakpoints</a:t>
            </a:r>
            <a:endParaRPr lang="it-IT" dirty="0"/>
          </a:p>
          <a:p>
            <a:pPr marL="0" indent="0">
              <a:buFontTx/>
              <a:buNone/>
            </a:pPr>
            <a:endParaRPr lang="it-IT" dirty="0"/>
          </a:p>
          <a:p>
            <a:pPr marL="0" indent="0">
              <a:buFontTx/>
              <a:buNone/>
            </a:pPr>
            <a:r>
              <a:rPr lang="it-IT" dirty="0"/>
              <a:t>Inizialmente creiamo una funzione di costo che sia in grado di calcolare il costo di un segmento (</a:t>
            </a:r>
            <a:r>
              <a:rPr lang="it-IT" dirty="0" err="1"/>
              <a:t>start,end</a:t>
            </a:r>
            <a:r>
              <a:rPr lang="it-IT" dirty="0"/>
              <a:t>) sulla base del modello che vogliamo.</a:t>
            </a:r>
          </a:p>
          <a:p>
            <a:pPr marL="0" indent="0">
              <a:buFontTx/>
              <a:buNone/>
            </a:pPr>
            <a:r>
              <a:rPr lang="it-IT" dirty="0"/>
              <a:t>Poi, con la funzione </a:t>
            </a:r>
            <a:r>
              <a:rPr lang="it-IT" dirty="0" err="1"/>
              <a:t>cost.fit</a:t>
            </a:r>
            <a:r>
              <a:rPr lang="it-IT" dirty="0"/>
              <a:t>, vengono preparate tutti i calcoli necessari sulla base del segnale fornito</a:t>
            </a:r>
          </a:p>
          <a:p>
            <a:pPr marL="0" indent="0">
              <a:buFontTx/>
              <a:buNone/>
            </a:pPr>
            <a:r>
              <a:rPr lang="it-IT" dirty="0"/>
              <a:t>E successivamente si crea l’oggetto </a:t>
            </a:r>
            <a:r>
              <a:rPr lang="it-IT" dirty="0" err="1"/>
              <a:t>N</a:t>
            </a:r>
            <a:r>
              <a:rPr lang="it-IT" dirty="0"/>
              <a:t> che corrisponde al numero totale di punti del segnale</a:t>
            </a:r>
          </a:p>
          <a:p>
            <a:pPr marL="0" indent="0">
              <a:buFontTx/>
              <a:buNone/>
            </a:pPr>
            <a:endParaRPr lang="it-IT" dirty="0"/>
          </a:p>
          <a:p>
            <a:pPr marL="0" indent="0">
              <a:buFontTx/>
              <a:buNone/>
            </a:pPr>
            <a:r>
              <a:rPr lang="it-IT" dirty="0"/>
              <a:t>Successivamente si passa alla funzione ricorsiva che trova la migliore partizione del segnale che va da 0 a </a:t>
            </a:r>
            <a:r>
              <a:rPr lang="it-IT" dirty="0" err="1"/>
              <a:t>N</a:t>
            </a:r>
            <a:r>
              <a:rPr lang="it-IT" dirty="0"/>
              <a:t> usando i k </a:t>
            </a:r>
            <a:r>
              <a:rPr lang="it-IT" dirty="0" err="1"/>
              <a:t>breakpoint</a:t>
            </a:r>
            <a:r>
              <a:rPr lang="it-IT" dirty="0"/>
              <a:t>. </a:t>
            </a:r>
          </a:p>
          <a:p>
            <a:pPr marL="0" indent="0">
              <a:buFontTx/>
              <a:buNone/>
            </a:pPr>
            <a:endParaRPr lang="it-IT" dirty="0"/>
          </a:p>
          <a:p>
            <a:pPr marL="0" indent="0">
              <a:buFontTx/>
              <a:buNone/>
            </a:pPr>
            <a:r>
              <a:rPr lang="it-IT" dirty="0"/>
              <a:t>Quando viene restituita la segmentazione, si estrae l’estremo di ogni segmento (che corrisponde al </a:t>
            </a:r>
            <a:r>
              <a:rPr lang="it-IT" dirty="0" err="1"/>
              <a:t>breakpoint</a:t>
            </a:r>
            <a:r>
              <a:rPr lang="it-IT" dirty="0"/>
              <a:t>) e si ordinano.</a:t>
            </a:r>
          </a:p>
          <a:p>
            <a:pPr marL="0" indent="0">
              <a:buFontTx/>
              <a:buNone/>
            </a:pP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613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Ora guardiamo come funziona la funzione più importante all’interno dell’algoritmo </a:t>
            </a:r>
            <a:r>
              <a:rPr lang="it-IT" dirty="0" err="1"/>
              <a:t>Dynp</a:t>
            </a:r>
            <a:r>
              <a:rPr lang="it-IT" dirty="0"/>
              <a:t>: la funzione di segmentazione. </a:t>
            </a:r>
          </a:p>
          <a:p>
            <a:r>
              <a:rPr lang="it-IT" dirty="0"/>
              <a:t>Ovviamente se è già stata calcolata la migliore partizione di un segmento, non la ricalcolo, ma la salvo in una tabella e faccio sì che venga restituito il calcolo memorizzato. </a:t>
            </a:r>
          </a:p>
          <a:p>
            <a:endParaRPr lang="it-IT" dirty="0"/>
          </a:p>
          <a:p>
            <a:r>
              <a:rPr lang="it-IT" dirty="0"/>
              <a:t>Si inizia con il calcolo in cui non ho nessun </a:t>
            </a:r>
            <a:r>
              <a:rPr lang="it-IT" dirty="0" err="1"/>
              <a:t>breakpoint</a:t>
            </a:r>
            <a:r>
              <a:rPr lang="it-IT" dirty="0"/>
              <a:t>. </a:t>
            </a:r>
          </a:p>
          <a:p>
            <a:r>
              <a:rPr lang="it-IT" dirty="0"/>
              <a:t>In questo caso viene calcolato il costo dell’unico segmento corrispondente al segnale e viene restituito il segmento con gli estremi e il costo corrispondente.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9825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Qui, invece, abbiamo il caso in cui vogliamo segmentare il segnale (</a:t>
            </a:r>
            <a:r>
              <a:rPr lang="it-IT" dirty="0" err="1"/>
              <a:t>start,end</a:t>
            </a:r>
            <a:r>
              <a:rPr lang="it-IT" dirty="0"/>
              <a:t>) in </a:t>
            </a:r>
            <a:r>
              <a:rPr lang="it-IT" dirty="0" err="1"/>
              <a:t>n</a:t>
            </a:r>
            <a:r>
              <a:rPr lang="it-IT" dirty="0"/>
              <a:t> </a:t>
            </a:r>
            <a:r>
              <a:rPr lang="it-IT" dirty="0" err="1"/>
              <a:t>breakpoints</a:t>
            </a:r>
            <a:r>
              <a:rPr lang="it-IT" dirty="0"/>
              <a:t>.</a:t>
            </a:r>
          </a:p>
          <a:p>
            <a:r>
              <a:rPr lang="it-IT" dirty="0" err="1"/>
              <a:t>Dynp</a:t>
            </a:r>
            <a:r>
              <a:rPr lang="it-IT" dirty="0"/>
              <a:t> ragiona così: decido dove mettere l’ultimo </a:t>
            </a:r>
            <a:r>
              <a:rPr lang="it-IT" dirty="0" err="1"/>
              <a:t>breakpoint</a:t>
            </a:r>
            <a:r>
              <a:rPr lang="it-IT" dirty="0"/>
              <a:t> prima della fine del segnale end e chiamo il punto </a:t>
            </a:r>
            <a:r>
              <a:rPr lang="it-IT" dirty="0" err="1"/>
              <a:t>bkp</a:t>
            </a:r>
            <a:r>
              <a:rPr lang="it-IT" dirty="0"/>
              <a:t>.</a:t>
            </a:r>
          </a:p>
          <a:p>
            <a:r>
              <a:rPr lang="it-IT" dirty="0"/>
              <a:t>A questo punto avrò una parte a sinistra che va da start a </a:t>
            </a:r>
            <a:r>
              <a:rPr lang="it-IT" dirty="0" err="1"/>
              <a:t>bkp</a:t>
            </a:r>
            <a:r>
              <a:rPr lang="it-IT" dirty="0"/>
              <a:t> che voglio segmentare in </a:t>
            </a:r>
            <a:r>
              <a:rPr lang="it-IT" dirty="0" err="1"/>
              <a:t>n</a:t>
            </a:r>
            <a:r>
              <a:rPr lang="it-IT" dirty="0"/>
              <a:t> </a:t>
            </a:r>
            <a:r>
              <a:rPr lang="it-IT" dirty="0" err="1"/>
              <a:t>breakpoints</a:t>
            </a:r>
            <a:r>
              <a:rPr lang="it-IT" dirty="0"/>
              <a:t> - 1 e una parte a destra che va da </a:t>
            </a:r>
            <a:r>
              <a:rPr lang="it-IT" dirty="0" err="1"/>
              <a:t>bkp</a:t>
            </a:r>
            <a:r>
              <a:rPr lang="it-IT" dirty="0"/>
              <a:t> a end che è un solo segmento senza </a:t>
            </a:r>
            <a:r>
              <a:rPr lang="it-IT" dirty="0" err="1"/>
              <a:t>breakpoints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Inizialmente scorriamo tutti i possibili ultimi </a:t>
            </a:r>
            <a:r>
              <a:rPr lang="it-IT" dirty="0" err="1"/>
              <a:t>breakpoints</a:t>
            </a:r>
            <a:r>
              <a:rPr lang="it-IT" dirty="0"/>
              <a:t>, consideriamo solo quelli che sono multipli di </a:t>
            </a:r>
            <a:r>
              <a:rPr lang="it-IT" dirty="0" err="1"/>
              <a:t>jump</a:t>
            </a:r>
            <a:r>
              <a:rPr lang="it-IT" dirty="0"/>
              <a:t> (in modo da velocizzare l’algoritmo e non considerare tutti i punti come possibili </a:t>
            </a:r>
            <a:r>
              <a:rPr lang="it-IT" dirty="0" err="1"/>
              <a:t>breakpoints</a:t>
            </a:r>
            <a:r>
              <a:rPr lang="it-IT" dirty="0"/>
              <a:t>) e ci assicuriamo che con la lunghezza della parte sinistra del segmento e con il numero di </a:t>
            </a:r>
            <a:r>
              <a:rPr lang="it-IT" dirty="0" err="1"/>
              <a:t>n</a:t>
            </a:r>
            <a:r>
              <a:rPr lang="it-IT" dirty="0"/>
              <a:t> </a:t>
            </a:r>
            <a:r>
              <a:rPr lang="it-IT" dirty="0" err="1"/>
              <a:t>breakpoint</a:t>
            </a:r>
            <a:r>
              <a:rPr lang="it-IT" dirty="0"/>
              <a:t> – 1 si possa avere una segmentazione sensata che rispetti la min size dei segmenti. </a:t>
            </a:r>
          </a:p>
          <a:p>
            <a:endParaRPr lang="it-IT" dirty="0"/>
          </a:p>
          <a:p>
            <a:r>
              <a:rPr lang="it-IT" dirty="0"/>
              <a:t>Bisogna controllare che anche la parte destra del segmento rispetti la lunghezza minima min size imposta. </a:t>
            </a:r>
          </a:p>
          <a:p>
            <a:endParaRPr lang="it-IT" dirty="0"/>
          </a:p>
          <a:p>
            <a:r>
              <a:rPr lang="it-IT" dirty="0"/>
              <a:t>Se tutti i controlli vengono superati, </a:t>
            </a:r>
            <a:r>
              <a:rPr lang="it-IT" dirty="0" err="1"/>
              <a:t>bpk</a:t>
            </a:r>
            <a:r>
              <a:rPr lang="it-IT" dirty="0"/>
              <a:t> è un candidato valido come ultimo </a:t>
            </a:r>
            <a:r>
              <a:rPr lang="it-IT" dirty="0" err="1"/>
              <a:t>breakpoint</a:t>
            </a:r>
            <a:r>
              <a:rPr lang="it-IT" dirty="0"/>
              <a:t>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3594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 questo punto viene richiamata ricorsivamente la stessa funzione ma con un </a:t>
            </a:r>
            <a:r>
              <a:rPr lang="it-IT" dirty="0" err="1"/>
              <a:t>breakpoint</a:t>
            </a:r>
            <a:r>
              <a:rPr lang="it-IT" dirty="0"/>
              <a:t> in meno per ottenere la migliore partizione della parte sinistra. </a:t>
            </a:r>
          </a:p>
          <a:p>
            <a:r>
              <a:rPr lang="it-IT" dirty="0"/>
              <a:t>Successivamente viene calcolato il costo del segmento di destra (</a:t>
            </a:r>
            <a:r>
              <a:rPr lang="it-IT" dirty="0" err="1"/>
              <a:t>BKP,end</a:t>
            </a:r>
            <a:r>
              <a:rPr lang="it-IT" dirty="0"/>
              <a:t>)</a:t>
            </a:r>
          </a:p>
          <a:p>
            <a:r>
              <a:rPr lang="it-IT" dirty="0"/>
              <a:t>Vengono uniti tutti i segmenti della parte sinistra con il segmento e destro, si ottiene una partizione completa del segnale in </a:t>
            </a:r>
            <a:r>
              <a:rPr lang="it-IT" dirty="0" err="1"/>
              <a:t>n</a:t>
            </a:r>
            <a:r>
              <a:rPr lang="it-IT" dirty="0"/>
              <a:t> </a:t>
            </a:r>
            <a:r>
              <a:rPr lang="it-IT" dirty="0" err="1"/>
              <a:t>breakpoints</a:t>
            </a:r>
            <a:r>
              <a:rPr lang="it-IT" dirty="0"/>
              <a:t> e si memorizza nella lista delle possibili soluzioni.</a:t>
            </a:r>
          </a:p>
          <a:p>
            <a:r>
              <a:rPr lang="it-IT" dirty="0"/>
              <a:t>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6093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tutte le partizioni calcolate (una per ogni possibile </a:t>
            </a:r>
            <a:r>
              <a:rPr lang="it-IT" dirty="0" err="1"/>
              <a:t>bkp</a:t>
            </a:r>
            <a:r>
              <a:rPr lang="it-IT" dirty="0"/>
              <a:t>), fa la somma di tutti i costi dei segmenti.</a:t>
            </a:r>
          </a:p>
          <a:p>
            <a:r>
              <a:rPr lang="it-IT" dirty="0"/>
              <a:t>Quella con la somma dei costi minore, è la partizione migliore e viene salvata in memoria e restituita. 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4829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Dynp</a:t>
            </a:r>
            <a:r>
              <a:rPr lang="it-IT" dirty="0"/>
              <a:t> non genera tutte le possibili segmentazioni.</a:t>
            </a:r>
          </a:p>
          <a:p>
            <a:r>
              <a:rPr lang="it-IT" dirty="0"/>
              <a:t>L’algoritmo calcola solo i sottoproblemi necessari e li salva nella tabella di memorizzazione.</a:t>
            </a:r>
          </a:p>
          <a:p>
            <a:r>
              <a:rPr lang="it-IT" dirty="0"/>
              <a:t>Ogni sottoproblema viene calcolato una sola volta. </a:t>
            </a:r>
          </a:p>
          <a:p>
            <a:r>
              <a:rPr lang="it-IT" dirty="0"/>
              <a:t>Ogni volta che deve calcolare un nuovo sottoproblema, verifica se è </a:t>
            </a:r>
            <a:r>
              <a:rPr lang="it-IT" dirty="0" err="1"/>
              <a:t>gia</a:t>
            </a:r>
            <a:r>
              <a:rPr lang="it-IT" dirty="0"/>
              <a:t> salvato in tabella, se lo è, lo riusa. </a:t>
            </a:r>
          </a:p>
          <a:p>
            <a:r>
              <a:rPr lang="it-IT" dirty="0"/>
              <a:t>Altrimenti lo calcola e lo salva.</a:t>
            </a:r>
          </a:p>
          <a:p>
            <a:endParaRPr lang="it-IT" dirty="0"/>
          </a:p>
          <a:p>
            <a:r>
              <a:rPr lang="it-IT" dirty="0"/>
              <a:t>Genera tutte le possibili scelte dell’ultimo </a:t>
            </a:r>
            <a:r>
              <a:rPr lang="it-IT" dirty="0" err="1"/>
              <a:t>breakpoint</a:t>
            </a:r>
            <a:r>
              <a:rPr lang="it-IT" dirty="0"/>
              <a:t>, ma non tutte le segmentazioni possibili. </a:t>
            </a:r>
          </a:p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Per ogni scelta dell’ultimo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breakpoint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la parte sinistra NON viene esplorata completamente da zero: viene recuperata dalla memorizzazione se esiste già.</a:t>
            </a:r>
          </a:p>
          <a:p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Dynp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scrive ogni stato una sola volta. </a:t>
            </a:r>
          </a:p>
          <a:p>
            <a:endParaRPr lang="it-IT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</a:rPr>
              <a:t>✔ ogni stato (start, end, k) viene calcolato </a:t>
            </a:r>
            <a:r>
              <a:rPr lang="it-IT" b="1" i="1" u="none" strike="noStrike" dirty="0">
                <a:solidFill>
                  <a:srgbClr val="000000"/>
                </a:solidFill>
                <a:effectLst/>
              </a:rPr>
              <a:t>solo quando serve</a:t>
            </a:r>
            <a:endParaRPr lang="it-IT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</a:rPr>
              <a:t>✔ e viene memorizzato in una cache (tipo dizionario)</a:t>
            </a: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</a:rPr>
              <a:t>✔ se lo stato serve di nuovo → viene ripescato dalla cache</a:t>
            </a: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</a:rPr>
              <a:t>✔ non viene MAI riscritto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3974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Definiamo una funzione che prende in input un segnale e un valore di penalizzazione lambda e che restituisca il numero di </a:t>
            </a:r>
            <a:r>
              <a:rPr lang="it-IT" dirty="0" err="1"/>
              <a:t>breakpoints</a:t>
            </a:r>
            <a:r>
              <a:rPr lang="it-IT" dirty="0"/>
              <a:t> ottimale e la segmentazione corrispondente. </a:t>
            </a:r>
          </a:p>
          <a:p>
            <a:r>
              <a:rPr lang="it-IT" dirty="0"/>
              <a:t>Definisco </a:t>
            </a:r>
            <a:r>
              <a:rPr lang="it-IT" dirty="0" err="1"/>
              <a:t>N</a:t>
            </a:r>
            <a:r>
              <a:rPr lang="it-IT" dirty="0"/>
              <a:t> come il numero totale di punti del segnale e calcolo </a:t>
            </a:r>
            <a:r>
              <a:rPr lang="it-IT" dirty="0" err="1"/>
              <a:t>k_max</a:t>
            </a:r>
            <a:r>
              <a:rPr lang="it-IT" dirty="0"/>
              <a:t> ovvero una stima del numero massimo di </a:t>
            </a:r>
            <a:r>
              <a:rPr lang="it-IT" dirty="0" err="1"/>
              <a:t>breakpoint</a:t>
            </a:r>
            <a:r>
              <a:rPr lang="it-IT" dirty="0"/>
              <a:t> possibili.</a:t>
            </a:r>
          </a:p>
          <a:p>
            <a:r>
              <a:rPr lang="it-IT" dirty="0"/>
              <a:t>Ogni segmento deve essere almeno lungo quanto la </a:t>
            </a:r>
            <a:r>
              <a:rPr lang="it-IT" dirty="0" err="1"/>
              <a:t>min_size</a:t>
            </a:r>
            <a:endParaRPr lang="it-IT" dirty="0"/>
          </a:p>
          <a:p>
            <a:r>
              <a:rPr lang="it-IT" dirty="0"/>
              <a:t>E tramite la funzione matematica </a:t>
            </a:r>
            <a:r>
              <a:rPr lang="it-IT" dirty="0" err="1"/>
              <a:t>floor</a:t>
            </a:r>
            <a:r>
              <a:rPr lang="it-IT" dirty="0"/>
              <a:t>, arrotonda per difetto al numero intero più vicino.</a:t>
            </a:r>
          </a:p>
          <a:p>
            <a:r>
              <a:rPr lang="it-IT" dirty="0"/>
              <a:t>Successivamente, si creano delle liste. </a:t>
            </a:r>
          </a:p>
          <a:p>
            <a:r>
              <a:rPr lang="it-IT" dirty="0"/>
              <a:t>Per ogni k, si salva la segmentazione ottenuta, la somma dei costi dei segmenti e lo score calcolato come la somma tra i costi e la penalità.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4471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Si applica un ciclo che prende tutti i possibili numeri di </a:t>
            </a:r>
            <a:r>
              <a:rPr lang="it-IT" dirty="0" err="1"/>
              <a:t>breakpoint</a:t>
            </a:r>
            <a:r>
              <a:rPr lang="it-IT" dirty="0"/>
              <a:t> e, per ognuno di essi, calcola la segmentazione ottima come abbiamo visto prima con l’approccio classico di </a:t>
            </a:r>
            <a:r>
              <a:rPr lang="it-IT" dirty="0" err="1"/>
              <a:t>dynp</a:t>
            </a:r>
            <a:r>
              <a:rPr lang="it-IT" dirty="0"/>
              <a:t>. </a:t>
            </a:r>
          </a:p>
          <a:p>
            <a:r>
              <a:rPr lang="it-IT" dirty="0"/>
              <a:t>Successivamente, per ognuno, si calcola il costo totale dei segmenti e anche lo score penalizzato, ottenuto dai costi sommato alla penalità. </a:t>
            </a:r>
          </a:p>
          <a:p>
            <a:r>
              <a:rPr lang="it-IT" dirty="0"/>
              <a:t>Si salvano i risultati e si sceglie il numero k che minimizza lo score penalizzato e la segmentazione associata di conseguenza.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CCC87-72FA-7043-AA05-CFA23E745E0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98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EF45BA-2CA8-D064-66A2-7535EF199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0412E8F-B4B5-738A-F9FD-BF373FF75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BB4A2D-1EBE-AC64-719E-957ACBE0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090025-F101-B388-04F6-DFE46FC3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6D53B2-5754-BD49-D6C2-BAA1CD13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162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41D3D3-7716-28D6-D77C-07CFDD19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2C6985-639B-AB21-CB30-42C314B46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253B02-2002-ACEB-BB76-7693B545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CD8F9C-FDE8-C319-30D4-D24796CB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C7C9A1-102C-3CF2-24E1-481ED87E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663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5A74F-4D5B-ED3D-8B5D-F6A871D3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A6ED55-1115-ED66-933C-BF955F193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12B40B-8D55-E65A-8E8E-7EBAD505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81F48A-B726-0965-3796-95CD3564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60AC53-75D1-024B-C56B-99972E71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45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41FD54-DDED-94B0-AA6D-62A6DBB9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4E7EE3-86A2-2998-967C-5FE3F50BE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BA6FB6E-5D3F-1622-F79A-933753994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B52D77-A78A-CD28-200A-82F89DD07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6169B0F-E7B8-C8F7-3D8C-A9F34AE8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988D2D-079B-71DE-79F8-C7FF74BF9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8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E2024F-6E6C-9EE7-0657-F2AC6884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3FF146-3089-D17C-55D3-7BB577E03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DF69678-9CCD-0D1C-EA46-D4FAB9956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77A08EE-48DD-7B84-EA25-963321C96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2A72CBF-5E95-2222-3227-082A031D7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8ECF29-61B0-48BC-32C0-7FDAD7B5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39E9FF9-5FDD-AB05-0B95-B0B18923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7A5E5CE-BCE8-5F54-1234-A1737135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082F62-8578-5C9F-964E-6F535453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8D26E7E-6F06-77A2-4317-733B7AF0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4CCB11-668E-8761-BF8C-77304372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68D3E17-F582-4F28-64F0-5C718A32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285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0BF112C-6634-887E-70AE-888F5C13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99E769D-8AA0-C014-7D22-95F030C84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6E2D14-934F-04BB-35B6-69536C1B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772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5733F9-296A-E375-9A34-5D3BFC6C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4518D7-F9ED-4FBD-6B50-1533482C0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11CBF5D-2A2B-1609-3C6B-2B0D1F857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4A91AB5-CD7C-BE8F-C38C-8FE0FDAA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58E944A-F3F8-5C7B-A039-7B7F3EFA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933BC6D-09EF-E442-DF5B-F67A637F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221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A6549E-CB6D-360F-3815-A8EA447D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A9E9C85-07E1-43A7-50F8-F46534E6D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283C568-CDCF-06A2-BCE4-6F479B8CE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5E66909-47B3-48BA-7F3B-B824534E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82E1461-D1DA-8D5B-6FE6-9BB1C771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6F9767-485F-ACA1-3A91-50DAEE33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695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EA8B3C-754A-F590-E8B4-50703AA6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C110E1-2A50-DCAF-D1A4-A314AA4E9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1B27F7-DD5F-2C8E-8658-F602223E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03C4C2-D6EB-4A35-10F1-3DAFB9C1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032D88-89EE-E333-7048-0767BAB7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859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64410F9-04F3-9351-83CF-3A1142F70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55E2465-CF28-DB9A-CF58-02F663252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6FE857-C663-59F9-8F72-79FDAD5E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1FE8A5-F0E8-43E6-0DFE-BDEC67AF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F82B55-7F1C-A24C-14F8-0D9D1962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825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CBD969C-1434-403F-CC59-FCAE15F6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520A28-ECBA-1B0A-1CD2-904F9E61F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8C37B3-F179-FC39-8CEC-E4E2F07EF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9D7D5-EB36-2545-AF01-13B06116681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9130FB-8605-8167-FB26-C3F9AF92E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2A2765-9EBC-784D-432E-E7981548B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3BFAE-9733-3C46-AD76-2123A14CFBB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1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15851E-C3F0-254F-58D0-B7EFA301A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787400"/>
            <a:ext cx="9144000" cy="2387600"/>
          </a:xfrm>
        </p:spPr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Dynp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AFD3ECD-DE00-28CB-65D1-67F8CCB6B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629" y="1899056"/>
            <a:ext cx="11334306" cy="4440496"/>
          </a:xfrm>
        </p:spPr>
        <p:txBody>
          <a:bodyPr>
            <a:normAutofit/>
          </a:bodyPr>
          <a:lstStyle/>
          <a:p>
            <a:pPr algn="l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segnale di lunghezza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modello di costo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numero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Obiettivo: </a:t>
            </a:r>
          </a:p>
          <a:p>
            <a:pPr algn="l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Trovare dove inserire i k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dividere il segnale in k+1 segmenti in modo che la somma dei costi dei segmenti sia minima.</a:t>
            </a:r>
          </a:p>
          <a:p>
            <a:pPr algn="l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167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3F5AF3-E6C9-CC2F-5657-9A8F153C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237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Pseudocodice globale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B948C8-D865-EEE9-B01C-4473CAD6E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22400"/>
            <a:ext cx="11677650" cy="5435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FUNZIONE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k, modello,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min_size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1. Funzione di costo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cost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crea_funzione_di_costo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(modello)     # Creazione dell’oggetto cost in grado di calcolare il costo del segmento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cost.fit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lunghezza(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# Numero totale di punti del segnale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2.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Ricorsione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programmazione dinamica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partizione_ottima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SEGMENTA(0,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k)  # Trova la migliore partizione del tratto da 0 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usando k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3. Estrai 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dagli estremi dei segmenti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lista_breakpoints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end per ogni (start, end) in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partizione_ottima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ordina(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lista_breakpoints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RITORNA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lista_breakpoints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FUNZIONE</a:t>
            </a:r>
          </a:p>
        </p:txBody>
      </p:sp>
    </p:spTree>
    <p:extLst>
      <p:ext uri="{BB962C8B-B14F-4D97-AF65-F5344CB8AC3E}">
        <p14:creationId xmlns:p14="http://schemas.microsoft.com/office/powerpoint/2010/main" val="523164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5378A5-DA44-38AA-F1FA-C10CF1E37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Funzione ricorsiva SEGMENTA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CF510E-5464-6D41-147B-98445D56E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8400"/>
            <a:ext cx="11582400" cy="55753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Memo = tabella per memorizzare i risultati (start, end,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FUNZIONE SEGMENTA(start, end,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0. Controllo se il risultato è già in memoria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 (start, end,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è in Memo: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RITORNA Memo[(start, end,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1. Caso base: nessun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0: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costo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cost.error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(start, end)   # costo del segmento (start, end)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partizione = { (start, end) : costo }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Memo[(start, end,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= partizione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RITORNA partizione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48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B685EEEA-F34C-1066-A751-367969285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100"/>
            <a:ext cx="10515600" cy="6451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2. Caso ricorsivo: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ALTRIMENTI: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ListaPartizioni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vuota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2.1 Trova 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candidati (possibili "ultimi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ListaCandidati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vuota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PER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start a end-1: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è multiplo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n_samples_sx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start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# Controllo se posso mettere k_bkps-1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sinistra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è_valida_segmentazione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n_samples_sx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- 1,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min_size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min_size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# Controllo che la parte destra sia lunga abbastanza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SE end -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min_size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aggiungi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ListaCandidati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FINE SE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FINE PER</a:t>
            </a:r>
          </a:p>
        </p:txBody>
      </p:sp>
    </p:spTree>
    <p:extLst>
      <p:ext uri="{BB962C8B-B14F-4D97-AF65-F5344CB8AC3E}">
        <p14:creationId xmlns:p14="http://schemas.microsoft.com/office/powerpoint/2010/main" val="199851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5586A4B-6672-6708-EB4C-49F20EC1D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0218"/>
            <a:ext cx="10515600" cy="58975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2.2 Per ogni possibile ultimo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risolvo i sottoproblemi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PER ogni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ListaCandidati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# parte sinistra: k_bkps-1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partizione_sx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SEGMENTA(start,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- 1)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# parte destra: nessun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un solo segmento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costo_dx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cost.error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end)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segmento_dx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bkp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end) :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costo_dx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# Combino la partizione di sinistra con il segmento destro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partizione_completa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copia(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partizione_sx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aggiungi a partizione completa: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segmento_dx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aggiungi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partizione_completa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ListaPartizioni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FINE PER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726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1A5077E-63FD-85A9-03C6-7DF6448DF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" y="1303337"/>
            <a:ext cx="10515600" cy="6024563"/>
          </a:xfrm>
        </p:spPr>
        <p:txBody>
          <a:bodyPr/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2.3 Scelgo la partizione con costo totale minimo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partizione_ottima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elemento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ListaPartizioni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con minima somma dei costi dei segmenti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2.4 Memorizzo il risultato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Memo[(start, end,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k_bkps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partizione_ottima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RITORNA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partizione_ottima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FUNZIONE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10A138B-D916-D506-99E4-5302226226CB}"/>
              </a:ext>
            </a:extLst>
          </p:cNvPr>
          <p:cNvSpPr txBox="1"/>
          <p:nvPr/>
        </p:nvSpPr>
        <p:spPr>
          <a:xfrm>
            <a:off x="819150" y="330200"/>
            <a:ext cx="10553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Scelta della migliore partizione</a:t>
            </a:r>
          </a:p>
        </p:txBody>
      </p:sp>
    </p:spTree>
    <p:extLst>
      <p:ext uri="{BB962C8B-B14F-4D97-AF65-F5344CB8AC3E}">
        <p14:creationId xmlns:p14="http://schemas.microsoft.com/office/powerpoint/2010/main" val="259738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E38119-1A70-72DF-DF46-A89092FC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05481"/>
            <a:ext cx="10515600" cy="2557849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RICORSIONE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80E7A1-5D92-6208-3EDD-1BFDBB2235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7708" y="1260389"/>
                <a:ext cx="12097455" cy="491657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ogni possibile candidato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bkp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che rispetti le condizioni:</a:t>
                </a:r>
              </a:p>
              <a:p>
                <a:pPr marL="514350" indent="-514350">
                  <a:buAutoNum type="arabicPeriod"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Calcola il costo dell’ultimo segmento -&gt;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cost.error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bkp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end)</a:t>
                </a:r>
              </a:p>
              <a:p>
                <a:pPr marL="514350" indent="-514350">
                  <a:buAutoNum type="arabicPeriod"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Aggiunge il costo migliore per segmentare la parte sinistra y[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start:bkp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 </a:t>
                </a:r>
                <a:b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k-1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breakpoints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-&gt;</a:t>
                </a:r>
                <a:r>
                  <a:rPr lang="it-IT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chiama ricorsivamente 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seg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(start,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bkp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k-1)</a:t>
                </a:r>
              </a:p>
              <a:p>
                <a:pPr marL="0" indent="0">
                  <a:buNone/>
                </a:pP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 confronta tutti i possibili </a:t>
                </a:r>
                <a:r>
                  <a:rPr lang="it-I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bkp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sceglie quello con costo totale minimo.</a:t>
                </a:r>
              </a:p>
              <a:p>
                <a:pPr marL="0" indent="0">
                  <a:buNone/>
                </a:pPr>
                <a:endParaRPr lang="it-I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𝑠𝑒𝑔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𝑒𝑛𝑑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𝑠𝑡𝑎𝑟𝑡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𝑒𝑛𝑑</m:t>
                                </m:r>
                              </m:e>
                            </m:d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                   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func>
                              <m:func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𝑏𝑘𝑝</m:t>
                                    </m:r>
                                  </m:lim>
                                </m:limLow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𝑠𝑒𝑔</m:t>
                                    </m:r>
                                    <m:d>
                                      <m:dPr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𝑠𝑡𝑎𝑟𝑡</m:t>
                                        </m:r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𝑏𝑘𝑝</m:t>
                                        </m:r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𝑏𝑘𝑝</m:t>
                                        </m:r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𝑒𝑛𝑑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𝑠𝑒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80E7A1-5D92-6208-3EDD-1BFDBB2235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7708" y="1260389"/>
                <a:ext cx="12097455" cy="4916574"/>
              </a:xfrm>
              <a:blipFill>
                <a:blip r:embed="rId3"/>
                <a:stretch>
                  <a:fillRect l="-1048" t="-2062" b="-871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03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41FAEF-EF27-CA00-BDFD-9B4261EE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43" y="18255"/>
            <a:ext cx="11589913" cy="1325563"/>
          </a:xfrm>
        </p:spPr>
        <p:txBody>
          <a:bodyPr>
            <a:normAutofit/>
          </a:bodyPr>
          <a:lstStyle/>
          <a:p>
            <a:pPr algn="ctr"/>
            <a:r>
              <a:rPr lang="it-IT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IGNOTO – SEGMENTAZIONE PENALIZZATA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D5EFD3-44E4-4B6E-5862-495278E4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653" y="1104408"/>
            <a:ext cx="10515600" cy="55282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segnale (sequenza di punti)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funzione di costo dei segmenti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penalità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ƛ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numero massimo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si è disposti a considerare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k_max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Procedura:</a:t>
            </a:r>
          </a:p>
          <a:p>
            <a:pPr marL="514350" indent="-514350">
              <a:buAutoNum type="arabicPeriod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ogni possibile k, si esegue la programmazione dinamica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già vista</a:t>
            </a:r>
          </a:p>
          <a:p>
            <a:pPr marL="514350" indent="-514350">
              <a:buAutoNum type="arabicPeriod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calcola il costo di tutti i segmenti </a:t>
            </a:r>
          </a:p>
          <a:p>
            <a:pPr marL="514350" indent="-514350">
              <a:buAutoNum type="arabicPeriod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calcola lo score penalizzato </a:t>
            </a:r>
          </a:p>
          <a:p>
            <a:pPr marL="514350" indent="-514350">
              <a:buAutoNum type="arabicPeriod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sceglie k* che minimizza lo score penalizzato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38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455272A-3020-1F78-B2F8-288A29538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77" y="1493948"/>
            <a:ext cx="10515600" cy="43627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Dynp_penalizzato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lambda):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lunghezza del segnale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Stima il massimo numero plausibile di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k_max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(2 *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min_size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) 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Creazioni liste 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ListaPartition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array vuoto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ListaCosti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array vuoto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ListaScore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array vuoto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632E1C-2478-158F-BDD0-E0A15FC8A65C}"/>
              </a:ext>
            </a:extLst>
          </p:cNvPr>
          <p:cNvSpPr txBox="1"/>
          <p:nvPr/>
        </p:nvSpPr>
        <p:spPr>
          <a:xfrm>
            <a:off x="426077" y="334851"/>
            <a:ext cx="112679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PSEUDOCODICE</a:t>
            </a:r>
          </a:p>
        </p:txBody>
      </p:sp>
    </p:spTree>
    <p:extLst>
      <p:ext uri="{BB962C8B-B14F-4D97-AF65-F5344CB8AC3E}">
        <p14:creationId xmlns:p14="http://schemas.microsoft.com/office/powerpoint/2010/main" val="2809696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13A386-41F3-081E-D166-05FE5BD6C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76" y="29303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k FROM 0 TO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k_max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1. Trova la segmentazione ottima con k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come prima 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Partizione_k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Dynp_segmenta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k)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2. Calcola il costo totale dei segmenti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Costo_k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somma dei costi dei segmenti in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Partizione_k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3. Calcola lo score penalizzato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Score_k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Costo_k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lambda * (k + 1)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4. Salva i risultati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ListaPartition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 =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Partizione_k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ListaCosti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 =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Costo_k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ListaScore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[k] =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Score_k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FOR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5. Scegli il k* che minimizza lo score penalizzato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k_star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argmin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ListaScore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6. Ritorna la partizione ottima e il numero ottimo di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breakpoints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ListaPartition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k_star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k_star</a:t>
            </a: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1546399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03D681-EA43-35C5-C584-9C203CA37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43943"/>
            <a:ext cx="10515600" cy="2334632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FUNZIONE DI COSTO AGGIUNTIVA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C18D1F3-3E37-35E4-9E84-04F30F858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39114"/>
                <a:ext cx="10515600" cy="523784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Ruptures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tutti gli algoritmi cercano una segmentazione che minimizzi una funzione di costo:</a:t>
                </a:r>
              </a:p>
              <a:p>
                <a:pPr marL="0" indent="0">
                  <a:buNone/>
                </a:pPr>
                <a:endPara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𝑐𝑜𝑠𝑡𝑜</m:t>
                      </m:r>
                      <m:r>
                        <a:rPr lang="it-IT" sz="1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it-IT" sz="1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𝑡𝑜𝑡𝑎𝑙𝑒</m:t>
                      </m:r>
                      <m:r>
                        <a:rPr lang="it-IT" sz="1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𝑒𝑔𝑚𝑒𝑛𝑡𝑖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sub>
                        <m:sup/>
                        <m:e>
                          <m:r>
                            <a:rPr lang="it-IT" sz="1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it-IT" sz="1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Dove </a:t>
                </a:r>
                <a14:m>
                  <m:oMath xmlns:m="http://schemas.openxmlformats.org/officeDocument/2006/math">
                    <m:r>
                      <a:rPr lang="it-IT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it-IT" sz="1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sz="1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sub>
                        </m:sSub>
                      </m:e>
                    </m:d>
                    <m:r>
                      <a:rPr lang="it-IT" sz="1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è la funzione di costo del singolo segmento I.</a:t>
                </a:r>
              </a:p>
              <a:p>
                <a:pPr marL="0" indent="0">
                  <a:buNone/>
                </a:pPr>
                <a:endPara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Funzioni di costo presenti nella libreria:</a:t>
                </a:r>
              </a:p>
              <a:p>
                <a:pPr>
                  <a:buFontTx/>
                  <a:buChar char="-"/>
                </a:pP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CostAutoregressive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-&gt; cambi nelle dipendenze temporali</a:t>
                </a:r>
              </a:p>
              <a:p>
                <a:pPr>
                  <a:buFontTx/>
                  <a:buChar char="-"/>
                </a:pP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CostCosine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-&gt; cambi di direzione</a:t>
                </a:r>
              </a:p>
              <a:p>
                <a:pPr>
                  <a:buFontTx/>
                  <a:buChar char="-"/>
                </a:pP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CostL1 -&gt; cambi nella media con </a:t>
                </a: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outliers</a:t>
                </a:r>
                <a:endPara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Char char="-"/>
                </a:pP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CostL2 -&gt; cambi nella media</a:t>
                </a:r>
              </a:p>
              <a:p>
                <a:pPr>
                  <a:buFontTx/>
                  <a:buChar char="-"/>
                </a:pP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CostLinear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-&gt; cambi nei trend</a:t>
                </a:r>
              </a:p>
              <a:p>
                <a:pPr>
                  <a:buFontTx/>
                  <a:buChar char="-"/>
                </a:pP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CostMaximumLikelihood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-&gt; base per altri modelli parametrici</a:t>
                </a:r>
              </a:p>
              <a:p>
                <a:pPr>
                  <a:buFontTx/>
                  <a:buChar char="-"/>
                </a:pP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CostNormal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-&gt; cambi nella media e nella varianza</a:t>
                </a:r>
              </a:p>
              <a:p>
                <a:pPr>
                  <a:buFontTx/>
                  <a:buChar char="-"/>
                </a:pP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CostRank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-&gt; cambi generici</a:t>
                </a:r>
              </a:p>
              <a:p>
                <a:pPr>
                  <a:buFontTx/>
                  <a:buChar char="-"/>
                </a:pPr>
                <a:r>
                  <a:rPr lang="it-IT" sz="1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CostRBFunctionKernel</a:t>
                </a:r>
                <a:r>
                  <a:rPr lang="it-IT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-&gt; cambi non lineari</a:t>
                </a:r>
              </a:p>
              <a:p>
                <a:pPr marL="0" indent="0">
                  <a:buNone/>
                </a:pPr>
                <a:endParaRPr lang="it-IT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C18D1F3-3E37-35E4-9E84-04F30F858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39114"/>
                <a:ext cx="10515600" cy="5237849"/>
              </a:xfrm>
              <a:blipFill>
                <a:blip r:embed="rId2"/>
                <a:stretch>
                  <a:fillRect l="-483" t="-6280" b="-84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300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295333-2984-EDB2-EA2B-F1EEAB56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43697"/>
            <a:ext cx="10515600" cy="2234385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0A49C8-3E96-EF6F-37FF-542DA2D08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2681"/>
            <a:ext cx="10900719" cy="5114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Bisogna estendere la classe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BaseCost</a:t>
            </a:r>
            <a:endParaRPr lang="it-IT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ruptures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BaseCost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it-IT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MyCost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BaseCost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indent="0">
              <a:buNone/>
            </a:pP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# The 2 following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must be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# nome per etichettare la funzione di costo</a:t>
            </a:r>
          </a:p>
          <a:p>
            <a:pPr marL="0" indent="0">
              <a:buNone/>
            </a:pP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min_size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  # dimensione minima del segmento su cui calcolare il costo</a:t>
            </a:r>
          </a:p>
          <a:p>
            <a:pPr marL="0" indent="0">
              <a:buNone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 # caricare il segnale su cui calcolare la funzione</a:t>
            </a:r>
          </a:p>
          <a:p>
            <a:pPr marL="0" indent="0">
              <a:buNone/>
            </a:pP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si possono inserire parametri necessari </a:t>
            </a:r>
          </a:p>
          <a:p>
            <a:pPr marL="0" indent="0">
              <a:buNone/>
            </a:pP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41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E0F0E4-8C72-FE35-3BFC-157B3E2FE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3633"/>
            <a:ext cx="10515600" cy="6203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Cuore della funzione di costo</a:t>
            </a:r>
          </a:p>
          <a:p>
            <a:pPr marL="0" indent="0">
              <a:buNone/>
            </a:pP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indent="0">
              <a:buNone/>
            </a:pPr>
            <a:endParaRPr lang="it-IT" sz="2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(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indent="0">
              <a:buNone/>
            </a:pP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start of the 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end (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end of the 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estrae il sotto-segnale su cui calcolare la funzione</a:t>
            </a:r>
          </a:p>
          <a:p>
            <a:pPr marL="0" indent="0">
              <a:buNone/>
            </a:pPr>
            <a:endParaRPr lang="it-IT" sz="2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float: 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numero che deve restituire associato al costo del segmento </a:t>
            </a:r>
          </a:p>
          <a:p>
            <a:pPr marL="0" indent="0">
              <a:buNone/>
            </a:pPr>
            <a:endParaRPr lang="it-IT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 marL="0" indent="0">
              <a:buNone/>
            </a:pP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it-IT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t-IT" sz="2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it-IT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  # Formula della funzione di costo </a:t>
            </a:r>
          </a:p>
        </p:txBody>
      </p:sp>
    </p:spTree>
    <p:extLst>
      <p:ext uri="{BB962C8B-B14F-4D97-AF65-F5344CB8AC3E}">
        <p14:creationId xmlns:p14="http://schemas.microsoft.com/office/powerpoint/2010/main" val="1817404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2331</Words>
  <Application>Microsoft Macintosh PowerPoint</Application>
  <PresentationFormat>Widescreen</PresentationFormat>
  <Paragraphs>243</Paragraphs>
  <Slides>13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-webkit-standard</vt:lpstr>
      <vt:lpstr>Aptos</vt:lpstr>
      <vt:lpstr>Aptos Display</vt:lpstr>
      <vt:lpstr>Arial</vt:lpstr>
      <vt:lpstr>Cambria Math</vt:lpstr>
      <vt:lpstr>Times New Roman</vt:lpstr>
      <vt:lpstr>Tema di Office</vt:lpstr>
      <vt:lpstr>Algoritmo Dynp</vt:lpstr>
      <vt:lpstr>Pseudocodice globale</vt:lpstr>
      <vt:lpstr>Funzione ricorsiva SEGMENTA</vt:lpstr>
      <vt:lpstr>Presentazione standard di PowerPoint</vt:lpstr>
      <vt:lpstr>Presentazione standard di PowerPoint</vt:lpstr>
      <vt:lpstr>Presentazione standard di PowerPoint</vt:lpstr>
      <vt:lpstr>RICORSIONE</vt:lpstr>
      <vt:lpstr>K IGNOTO – SEGMENTAZIONE PENALIZZATA</vt:lpstr>
      <vt:lpstr>Presentazione standard di PowerPoint</vt:lpstr>
      <vt:lpstr>Presentazione standard di PowerPoint</vt:lpstr>
      <vt:lpstr>FUNZIONE DI COSTO AGGIUNTIVA</vt:lpstr>
      <vt:lpstr>CODICE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Vecchi - lisa.vecchi@studio.unibo.it</dc:creator>
  <cp:lastModifiedBy>Lisa Vecchi - lisa.vecchi@studio.unibo.it</cp:lastModifiedBy>
  <cp:revision>9</cp:revision>
  <dcterms:created xsi:type="dcterms:W3CDTF">2025-11-19T15:07:29Z</dcterms:created>
  <dcterms:modified xsi:type="dcterms:W3CDTF">2025-11-28T13:47:03Z</dcterms:modified>
</cp:coreProperties>
</file>