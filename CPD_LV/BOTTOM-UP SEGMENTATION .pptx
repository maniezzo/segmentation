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0"/>
    <p:restoredTop sz="63649"/>
  </p:normalViewPr>
  <p:slideViewPr>
    <p:cSldViewPr snapToGrid="0">
      <p:cViewPr varScale="1">
        <p:scale>
          <a:sx n="78" d="100"/>
          <a:sy n="78" d="100"/>
        </p:scale>
        <p:origin x="1856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24FB93D-FFFB-8B47-9D88-DA3C380AD286}" type="datetimeFigureOut">
              <a:rPr lang="it-IT" smtClean="0"/>
              <a:t>10/12/25</a:t>
            </a:fld>
            <a:endParaRPr lang="it-IT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708636C-935C-3944-8620-434276270796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8722468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dirty="0"/>
              <a:t>Inizialmente per ogni coppia di segmenti, si calcola quanto costa eliminare il </a:t>
            </a:r>
            <a:r>
              <a:rPr lang="it-IT" dirty="0" err="1"/>
              <a:t>breakpoint</a:t>
            </a:r>
            <a:r>
              <a:rPr lang="it-IT" dirty="0"/>
              <a:t> CP[i] e fondere i due segmenti. </a:t>
            </a:r>
          </a:p>
          <a:p>
            <a:r>
              <a:rPr lang="it-IT" dirty="0"/>
              <a:t>Fino a quando si hanno più segmenti del necessario, si continua la fusione.</a:t>
            </a:r>
          </a:p>
          <a:p>
            <a:endParaRPr lang="it-IT" dirty="0"/>
          </a:p>
          <a:p>
            <a:r>
              <a:rPr lang="it-IT" dirty="0"/>
              <a:t>I star è il punto di cui la rimozione aumenta il meno possibile il costo totale.</a:t>
            </a:r>
          </a:p>
          <a:p>
            <a:endParaRPr lang="it-IT" dirty="0"/>
          </a:p>
          <a:p>
            <a:r>
              <a:rPr lang="it-IT" dirty="0"/>
              <a:t>Fonde i due segmenti e aggiorna i costi locali </a:t>
            </a:r>
          </a:p>
          <a:p>
            <a:endParaRPr lang="it-IT" dirty="0"/>
          </a:p>
          <a:p>
            <a:r>
              <a:rPr lang="it-IT" dirty="0"/>
              <a:t>Esegue le fusioni anche a destra e a sinistra del punto e aggiorna nuovamente. </a:t>
            </a:r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08636C-935C-3944-8620-434276270796}" type="slidenum">
              <a:rPr lang="it-IT" smtClean="0"/>
              <a:t>3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360475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7554A02-EE97-4A78-964F-9992F3DE858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487A1E7E-D63D-A6D5-DAE9-E5D549AB01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01D102D3-2833-BEC1-405B-6F607421F1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FC503-8B79-4940-B601-2AEF2FAF537A}" type="datetimeFigureOut">
              <a:rPr lang="it-IT" smtClean="0"/>
              <a:t>10/12/25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B2FE5290-5B29-2861-A27C-27DE5AE4B9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CEB58D6B-B3E1-445B-CE53-2266E2CD10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A88029-BF98-8B4C-946C-633B4C71B9F0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6608553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035114B-0806-FDD2-5E6A-D07EB50BB8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7BAE7B87-CCE0-D07B-24E9-D4630F8133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270D0C41-54D7-8BA5-470D-D993D7E50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FC503-8B79-4940-B601-2AEF2FAF537A}" type="datetimeFigureOut">
              <a:rPr lang="it-IT" smtClean="0"/>
              <a:t>10/12/25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E61D450B-8902-BC9F-D8F3-5EEF0D951B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7B0F0817-23DF-C66F-F811-39DB78ADB3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A88029-BF98-8B4C-946C-633B4C71B9F0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7248164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5DAEB59-D98C-2FE2-06E6-25B385CE49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D4E6C1CB-F2F5-564C-39BC-A0F12B0DA6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8F7371B6-8959-8CEA-9F95-933AD441DC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FC503-8B79-4940-B601-2AEF2FAF537A}" type="datetimeFigureOut">
              <a:rPr lang="it-IT" smtClean="0"/>
              <a:t>10/12/25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570263BF-9614-2F74-E8DE-424BF9621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3EDE1CD7-ACA1-7FCB-B309-14B6C642AC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A88029-BF98-8B4C-946C-633B4C71B9F0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6402012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D910538-259D-E0CB-EF53-9F14F6B785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CCE99CFE-50FE-C0B3-C279-98D699A1FE9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78D5254C-C938-D56D-2245-97BC09B783B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F59F4372-DA71-EC8E-1537-E2498898B7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FC503-8B79-4940-B601-2AEF2FAF537A}" type="datetimeFigureOut">
              <a:rPr lang="it-IT" smtClean="0"/>
              <a:t>10/12/25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592F13EB-DA67-AE87-1C39-D9BA51A558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434CC21A-CFE4-124F-51F2-C2DC68617A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A88029-BF98-8B4C-946C-633B4C71B9F0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6847640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1E6BB72-C04E-7ECF-E65F-F1F2CB6D9E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F618FB7F-4B16-5A1B-D772-BE044CD562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4AB713A0-728B-BB17-077D-511CB0C5A9D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1CCE7A19-9AB3-834C-8EE7-E8ED81DB0EB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C4CC9C36-5715-5B92-E0D2-201980A11C3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1C372E7F-8741-0CC1-86EA-320F955958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FC503-8B79-4940-B601-2AEF2FAF537A}" type="datetimeFigureOut">
              <a:rPr lang="it-IT" smtClean="0"/>
              <a:t>10/12/25</a:t>
            </a:fld>
            <a:endParaRPr lang="it-IT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C4C261B2-F652-0051-BA01-D69E527241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numero diapositiva 8">
            <a:extLst>
              <a:ext uri="{FF2B5EF4-FFF2-40B4-BE49-F238E27FC236}">
                <a16:creationId xmlns:a16="http://schemas.microsoft.com/office/drawing/2014/main" id="{C83DE382-7F52-5551-998A-8303F02657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A88029-BF98-8B4C-946C-633B4C71B9F0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5115185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7F29BFC-0016-9C2E-8129-F361C414DF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67D8580C-F732-4AA7-C7FA-A8D3987970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FC503-8B79-4940-B601-2AEF2FAF537A}" type="datetimeFigureOut">
              <a:rPr lang="it-IT" smtClean="0"/>
              <a:t>10/12/25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F809711D-671C-FDA6-778F-0EA57D44ED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27388EE9-0D6B-DF08-0096-B1313D7470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A88029-BF98-8B4C-946C-633B4C71B9F0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4087851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70DB91C7-E651-10E7-B3BD-CD315746EF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FC503-8B79-4940-B601-2AEF2FAF537A}" type="datetimeFigureOut">
              <a:rPr lang="it-IT" smtClean="0"/>
              <a:t>10/12/25</a:t>
            </a:fld>
            <a:endParaRPr lang="it-IT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C988D09F-B094-5E9A-5265-C3CD4419E0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63C644B2-F313-1320-95EB-0C47A1D47C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A88029-BF98-8B4C-946C-633B4C71B9F0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0983481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ABED564-024B-C6CA-494D-C6C55ED8B0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577D3341-5C2E-F59B-B9FB-453E139F41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5B455F3A-E3B5-DA2A-926D-3103B297441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6CF61AEA-58BC-28DD-C4AF-6215774FFF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FC503-8B79-4940-B601-2AEF2FAF537A}" type="datetimeFigureOut">
              <a:rPr lang="it-IT" smtClean="0"/>
              <a:t>10/12/25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7A5F79A5-4D0C-E010-ED8C-3C7D4585E8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D3F84DF5-DFCC-4889-F638-1743599C6A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A88029-BF98-8B4C-946C-633B4C71B9F0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9020926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7810547-22B1-D863-51E1-D09569BAAF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151D412B-332A-7411-62DC-94D40624FE4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316ED817-FF06-E722-EC21-F21D9316B0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9BD1F606-E470-83D4-9106-73DC583FBB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FC503-8B79-4940-B601-2AEF2FAF537A}" type="datetimeFigureOut">
              <a:rPr lang="it-IT" smtClean="0"/>
              <a:t>10/12/25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732CAB8B-D4E7-9A96-6BAB-85C64E2287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B43870AA-6B26-E640-53C6-508E70E4A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A88029-BF98-8B4C-946C-633B4C71B9F0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2341875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F3EB127-A3EA-746C-1B4C-E103CDA8B3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B0E13AA1-132C-5538-1906-015419F8EA8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166F45E8-0C08-87B6-0F2C-70D8FE8FB6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FC503-8B79-4940-B601-2AEF2FAF537A}" type="datetimeFigureOut">
              <a:rPr lang="it-IT" smtClean="0"/>
              <a:t>10/12/25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E157B73B-5B4C-709D-94D0-E7DE56DA76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7E152B8C-1999-F067-850F-8B04BB6ACC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A88029-BF98-8B4C-946C-633B4C71B9F0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204301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F638D4F1-AAEA-059D-52DD-EEC72F6DF9B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8547C365-6D46-85FA-7DA5-BE0FF1955B8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FB6493A6-E9B1-CDA6-E359-4C2FBCD626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FC503-8B79-4940-B601-2AEF2FAF537A}" type="datetimeFigureOut">
              <a:rPr lang="it-IT" smtClean="0"/>
              <a:t>10/12/25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7CF84524-87B0-205A-EC2A-57301C2731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11B68EE0-4275-863E-345F-FE93B92FDF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A88029-BF98-8B4C-946C-633B4C71B9F0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836470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82E947F8-3756-D2DD-CBB6-45778D79E1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9012EA1F-8C8B-BB43-5088-F679C4A99E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2A8A1A2F-7819-F9F5-CC8C-01BE8B0065A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57FC503-8B79-4940-B601-2AEF2FAF537A}" type="datetimeFigureOut">
              <a:rPr lang="it-IT" smtClean="0"/>
              <a:t>10/12/25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FE130216-EA93-9C21-728E-45279E63AA3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03F0054C-EFE7-D27F-3853-ABF68960477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FA88029-BF98-8B4C-946C-633B4C71B9F0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9136095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4846CD0-F945-E287-529A-F2CD4C2979A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31087" y="318977"/>
            <a:ext cx="9144000" cy="861237"/>
          </a:xfrm>
        </p:spPr>
        <p:txBody>
          <a:bodyPr>
            <a:normAutofit/>
          </a:bodyPr>
          <a:lstStyle/>
          <a:p>
            <a:r>
              <a:rPr lang="it-IT" sz="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BOTTOM-UP SEGMENTATION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60551405-0B7F-EF78-C396-F8BAC7E551D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1385" y="1988288"/>
            <a:ext cx="11823405" cy="1669312"/>
          </a:xfrm>
        </p:spPr>
        <p:txBody>
          <a:bodyPr>
            <a:noAutofit/>
          </a:bodyPr>
          <a:lstStyle/>
          <a:p>
            <a:pPr marL="457200" indent="-457200" algn="l">
              <a:buAutoNum type="arabicPeriod"/>
            </a:pPr>
            <a:r>
              <a:rPr lang="it-IT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 divide il segnale in tanti piccoli segmenti di lunghezza h prefissata</a:t>
            </a:r>
          </a:p>
          <a:p>
            <a:pPr marL="457200" indent="-457200" algn="l">
              <a:buAutoNum type="arabicPeriod"/>
            </a:pPr>
            <a:r>
              <a:rPr lang="it-IT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 ogni iterazione si valuta, per ogni coppia di segmenti consecutivi, quanto costa unirli tramite una funzione di costo prefissata</a:t>
            </a:r>
          </a:p>
          <a:p>
            <a:pPr marL="457200" indent="-457200" algn="l">
              <a:buAutoNum type="arabicPeriod"/>
            </a:pPr>
            <a:r>
              <a:rPr lang="it-IT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 fonde la coppia con minor costo</a:t>
            </a:r>
          </a:p>
          <a:p>
            <a:pPr marL="457200" indent="-457200" algn="l">
              <a:buAutoNum type="arabicPeriod"/>
            </a:pPr>
            <a:r>
              <a:rPr lang="it-IT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 ripete finché non si raggiunge il numero di segmenti desiderato K o quando non ci sono più fusioni convenienti.</a:t>
            </a:r>
          </a:p>
          <a:p>
            <a:pPr algn="l"/>
            <a:endParaRPr lang="it-IT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l">
              <a:buAutoNum type="arabicPeriod"/>
            </a:pPr>
            <a:endParaRPr lang="it-IT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l">
              <a:buAutoNum type="arabicPeriod"/>
            </a:pPr>
            <a:endParaRPr lang="it-IT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847018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03D5F9C-64B4-ED8A-C0CF-AC3B2DC504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9338" y="0"/>
            <a:ext cx="10515600" cy="1325563"/>
          </a:xfrm>
        </p:spPr>
        <p:txBody>
          <a:bodyPr/>
          <a:lstStyle/>
          <a:p>
            <a:pPr algn="ctr"/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PSEUDOCODICE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30E5E610-9020-861D-C2C0-F6E4C382F0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855" y="1392865"/>
            <a:ext cx="11876567" cy="530564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it-IT" dirty="0" err="1"/>
              <a:t>Function</a:t>
            </a:r>
            <a:r>
              <a:rPr lang="it-IT" dirty="0"/>
              <a:t> </a:t>
            </a:r>
            <a:r>
              <a:rPr lang="it-IT" dirty="0" err="1"/>
              <a:t>BottomUpSegmentation</a:t>
            </a:r>
            <a:r>
              <a:rPr lang="it-IT" dirty="0"/>
              <a:t>(y, h, K):</a:t>
            </a:r>
          </a:p>
          <a:p>
            <a:pPr marL="0" indent="0">
              <a:buNone/>
            </a:pPr>
            <a:r>
              <a:rPr lang="it-IT" dirty="0"/>
              <a:t>    # y  : serie temporale </a:t>
            </a:r>
          </a:p>
          <a:p>
            <a:pPr marL="0" indent="0">
              <a:buNone/>
            </a:pPr>
            <a:r>
              <a:rPr lang="it-IT" dirty="0"/>
              <a:t>    # h : lunghezza segmenti iniziali </a:t>
            </a:r>
          </a:p>
          <a:p>
            <a:pPr marL="0" indent="0">
              <a:buNone/>
            </a:pPr>
            <a:r>
              <a:rPr lang="it-IT" dirty="0"/>
              <a:t>    # K : numero di segmenti finali desiderati </a:t>
            </a:r>
          </a:p>
          <a:p>
            <a:pPr marL="0" indent="0">
              <a:buNone/>
            </a:pPr>
            <a:r>
              <a:rPr lang="it-IT" dirty="0"/>
              <a:t>    T := lunghezza(y)</a:t>
            </a:r>
          </a:p>
          <a:p>
            <a:pPr marL="0" indent="0">
              <a:buNone/>
            </a:pPr>
            <a:endParaRPr lang="it-IT" dirty="0"/>
          </a:p>
          <a:p>
            <a:pPr marL="0" indent="0">
              <a:buNone/>
            </a:pPr>
            <a:r>
              <a:rPr lang="it-IT" dirty="0"/>
              <a:t># 1. Costruzione segmentazione</a:t>
            </a:r>
          </a:p>
          <a:p>
            <a:pPr marL="0" indent="0">
              <a:buNone/>
            </a:pPr>
            <a:r>
              <a:rPr lang="it-IT" dirty="0"/>
              <a:t># CP contiene gli indici dei potenziali </a:t>
            </a:r>
            <a:r>
              <a:rPr lang="it-IT" dirty="0" err="1"/>
              <a:t>change</a:t>
            </a:r>
            <a:r>
              <a:rPr lang="it-IT" dirty="0"/>
              <a:t> point</a:t>
            </a:r>
          </a:p>
          <a:p>
            <a:pPr marL="0" indent="0">
              <a:buNone/>
            </a:pPr>
            <a:r>
              <a:rPr lang="it-IT" dirty="0"/>
              <a:t># Ora CP = [h, 2h, 3h, ..., T]</a:t>
            </a:r>
          </a:p>
          <a:p>
            <a:pPr marL="0" indent="0">
              <a:buNone/>
            </a:pP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40482203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olo 1">
            <a:extLst>
              <a:ext uri="{FF2B5EF4-FFF2-40B4-BE49-F238E27FC236}">
                <a16:creationId xmlns:a16="http://schemas.microsoft.com/office/drawing/2014/main" id="{EB3880E4-BE50-C704-789C-4241DB779E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5814" y="169862"/>
            <a:ext cx="11695814" cy="6528649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it-IT" dirty="0"/>
              <a:t># 2. Per ogni coppia di segmenti adiacenti calcola il costo di fusione</a:t>
            </a:r>
          </a:p>
          <a:p>
            <a:pPr marL="0" indent="0">
              <a:buNone/>
            </a:pPr>
            <a:r>
              <a:rPr lang="it-IT" dirty="0"/>
              <a:t>    Per i da 1 a |CP|-2: </a:t>
            </a:r>
          </a:p>
          <a:p>
            <a:pPr marL="0" indent="0">
              <a:buNone/>
            </a:pPr>
            <a:r>
              <a:rPr lang="it-IT" dirty="0"/>
              <a:t>a := CP[i-1]; b := CP[i]; c := CP[i+1]</a:t>
            </a:r>
          </a:p>
          <a:p>
            <a:pPr marL="0" indent="0">
              <a:buNone/>
            </a:pPr>
            <a:r>
              <a:rPr lang="it-IT" dirty="0"/>
              <a:t>        </a:t>
            </a:r>
            <a:r>
              <a:rPr lang="it-IT" dirty="0" err="1"/>
              <a:t>merge_cost</a:t>
            </a:r>
            <a:r>
              <a:rPr lang="it-IT" dirty="0"/>
              <a:t>[i] := c(a, c) - (c(a, b) + c(b, c))</a:t>
            </a:r>
          </a:p>
          <a:p>
            <a:pPr marL="0" indent="0">
              <a:buNone/>
            </a:pPr>
            <a:endParaRPr lang="it-IT" dirty="0"/>
          </a:p>
          <a:p>
            <a:pPr marL="0" indent="0">
              <a:buNone/>
            </a:pPr>
            <a:r>
              <a:rPr lang="it-IT" dirty="0"/>
              <a:t>  # 3. Ciclo di fusione</a:t>
            </a:r>
          </a:p>
          <a:p>
            <a:pPr marL="0" indent="0">
              <a:buNone/>
            </a:pPr>
            <a:r>
              <a:rPr lang="it-IT" dirty="0"/>
              <a:t>    mentre </a:t>
            </a:r>
            <a:r>
              <a:rPr lang="it-IT" dirty="0" err="1"/>
              <a:t>numero_di_segmenti</a:t>
            </a:r>
            <a:r>
              <a:rPr lang="it-IT" dirty="0"/>
              <a:t> &gt; K:</a:t>
            </a:r>
          </a:p>
          <a:p>
            <a:pPr marL="0" indent="0">
              <a:buNone/>
            </a:pPr>
            <a:endParaRPr lang="it-IT" dirty="0"/>
          </a:p>
          <a:p>
            <a:pPr marL="0" indent="0">
              <a:buNone/>
            </a:pPr>
            <a:r>
              <a:rPr lang="it-IT" dirty="0"/>
              <a:t>        # 3a. Trova l'indice i che minimizza il </a:t>
            </a:r>
            <a:r>
              <a:rPr lang="it-IT" dirty="0" err="1"/>
              <a:t>merge_cost</a:t>
            </a:r>
            <a:endParaRPr lang="it-IT" dirty="0"/>
          </a:p>
          <a:p>
            <a:pPr marL="0" indent="0">
              <a:buNone/>
            </a:pPr>
            <a:r>
              <a:rPr lang="it-IT" dirty="0"/>
              <a:t>        </a:t>
            </a:r>
            <a:r>
              <a:rPr lang="it-IT" dirty="0" err="1"/>
              <a:t>i_star</a:t>
            </a:r>
            <a:r>
              <a:rPr lang="it-IT" dirty="0"/>
              <a:t> := </a:t>
            </a:r>
            <a:r>
              <a:rPr lang="it-IT" dirty="0" err="1"/>
              <a:t>argmin_i</a:t>
            </a:r>
            <a:r>
              <a:rPr lang="it-IT" dirty="0"/>
              <a:t> </a:t>
            </a:r>
            <a:r>
              <a:rPr lang="it-IT" dirty="0" err="1"/>
              <a:t>merge_cost</a:t>
            </a:r>
            <a:r>
              <a:rPr lang="it-IT" dirty="0"/>
              <a:t>[i]</a:t>
            </a:r>
          </a:p>
          <a:p>
            <a:pPr marL="0" indent="0">
              <a:buNone/>
            </a:pPr>
            <a:endParaRPr lang="it-IT" dirty="0"/>
          </a:p>
          <a:p>
            <a:pPr marL="0" indent="0">
              <a:buNone/>
            </a:pPr>
            <a:r>
              <a:rPr lang="it-IT" dirty="0"/>
              <a:t>        # 3b. Fonde i segmenti i e i+1 rimuovendo </a:t>
            </a:r>
            <a:r>
              <a:rPr lang="it-IT" dirty="0" err="1"/>
              <a:t>breakpoint</a:t>
            </a:r>
            <a:r>
              <a:rPr lang="it-IT" dirty="0"/>
              <a:t> CP[</a:t>
            </a:r>
            <a:r>
              <a:rPr lang="it-IT" dirty="0" err="1"/>
              <a:t>i_star</a:t>
            </a:r>
            <a:r>
              <a:rPr lang="it-IT" dirty="0"/>
              <a:t>]</a:t>
            </a:r>
          </a:p>
          <a:p>
            <a:pPr marL="0" indent="0">
              <a:buNone/>
            </a:pPr>
            <a:r>
              <a:rPr lang="it-IT" dirty="0"/>
              <a:t>        rimuovi CP[</a:t>
            </a:r>
            <a:r>
              <a:rPr lang="it-IT" dirty="0" err="1"/>
              <a:t>i_star</a:t>
            </a:r>
            <a:r>
              <a:rPr lang="it-IT" dirty="0"/>
              <a:t>]</a:t>
            </a:r>
          </a:p>
          <a:p>
            <a:pPr marL="0" indent="0">
              <a:buNone/>
            </a:pPr>
            <a:endParaRPr lang="it-IT" dirty="0"/>
          </a:p>
          <a:p>
            <a:pPr marL="0" indent="0">
              <a:buNone/>
            </a:pPr>
            <a:r>
              <a:rPr lang="it-IT" dirty="0"/>
              <a:t>        # 3c. Aggiorna i costi locali di fusione (solo le coppie che coinvolgono i segmenti attorno a CP[</a:t>
            </a:r>
            <a:r>
              <a:rPr lang="it-IT" dirty="0" err="1"/>
              <a:t>i_star</a:t>
            </a:r>
            <a:r>
              <a:rPr lang="it-IT" dirty="0"/>
              <a:t>])</a:t>
            </a:r>
          </a:p>
          <a:p>
            <a:pPr marL="0" indent="0">
              <a:buNone/>
            </a:pPr>
            <a:r>
              <a:rPr lang="it-IT" dirty="0"/>
              <a:t>        </a:t>
            </a:r>
            <a:r>
              <a:rPr lang="it-IT" dirty="0" err="1"/>
              <a:t>j</a:t>
            </a:r>
            <a:r>
              <a:rPr lang="it-IT" dirty="0"/>
              <a:t> := </a:t>
            </a:r>
            <a:r>
              <a:rPr lang="it-IT" dirty="0" err="1"/>
              <a:t>i_star</a:t>
            </a:r>
            <a:endParaRPr lang="it-IT" dirty="0"/>
          </a:p>
          <a:p>
            <a:pPr marL="0" indent="0">
              <a:buNone/>
            </a:pPr>
            <a:r>
              <a:rPr lang="it-IT" dirty="0"/>
              <a:t>        # aggiorna fusione tra segmenti [CP[j-1], CP[</a:t>
            </a:r>
            <a:r>
              <a:rPr lang="it-IT" dirty="0" err="1"/>
              <a:t>j</a:t>
            </a:r>
            <a:r>
              <a:rPr lang="it-IT" dirty="0"/>
              <a:t>], CP[j+1]]</a:t>
            </a:r>
          </a:p>
          <a:p>
            <a:pPr marL="0" indent="0">
              <a:buNone/>
            </a:pPr>
            <a:r>
              <a:rPr lang="it-IT" dirty="0"/>
              <a:t>        se </a:t>
            </a:r>
            <a:r>
              <a:rPr lang="it-IT" dirty="0" err="1"/>
              <a:t>j</a:t>
            </a:r>
            <a:r>
              <a:rPr lang="it-IT" dirty="0"/>
              <a:t> &gt; 1:</a:t>
            </a:r>
          </a:p>
          <a:p>
            <a:pPr marL="0" indent="0">
              <a:buNone/>
            </a:pPr>
            <a:r>
              <a:rPr lang="it-IT" dirty="0"/>
              <a:t>            a := CP[j-1]; b := CP[</a:t>
            </a:r>
            <a:r>
              <a:rPr lang="it-IT" dirty="0" err="1"/>
              <a:t>j</a:t>
            </a:r>
            <a:r>
              <a:rPr lang="it-IT" dirty="0"/>
              <a:t>]; c := CP[j+1]</a:t>
            </a:r>
          </a:p>
          <a:p>
            <a:pPr marL="0" indent="0">
              <a:buNone/>
            </a:pPr>
            <a:r>
              <a:rPr lang="it-IT" dirty="0"/>
              <a:t>            </a:t>
            </a:r>
            <a:r>
              <a:rPr lang="it-IT" dirty="0" err="1"/>
              <a:t>merge_cost</a:t>
            </a:r>
            <a:r>
              <a:rPr lang="it-IT" dirty="0"/>
              <a:t>[</a:t>
            </a:r>
            <a:r>
              <a:rPr lang="it-IT" dirty="0" err="1"/>
              <a:t>j</a:t>
            </a:r>
            <a:r>
              <a:rPr lang="it-IT" dirty="0"/>
              <a:t>] := c(a, c) - (c(a, b) + c(b, c))</a:t>
            </a:r>
          </a:p>
          <a:p>
            <a:pPr marL="0" indent="0">
              <a:buNone/>
            </a:pP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6573360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olo 1">
            <a:extLst>
              <a:ext uri="{FF2B5EF4-FFF2-40B4-BE49-F238E27FC236}">
                <a16:creationId xmlns:a16="http://schemas.microsoft.com/office/drawing/2014/main" id="{2D94F5E2-C7A5-25DA-4D49-2CB834D676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05169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it-IT" dirty="0"/>
              <a:t> # aggiorna la fusione successiva</a:t>
            </a:r>
          </a:p>
          <a:p>
            <a:pPr marL="0" indent="0">
              <a:buNone/>
            </a:pPr>
            <a:r>
              <a:rPr lang="it-IT" dirty="0"/>
              <a:t>        se </a:t>
            </a:r>
            <a:r>
              <a:rPr lang="it-IT" dirty="0" err="1"/>
              <a:t>j</a:t>
            </a:r>
            <a:r>
              <a:rPr lang="it-IT" dirty="0"/>
              <a:t> &lt; |CP|-1:</a:t>
            </a:r>
          </a:p>
          <a:p>
            <a:pPr marL="0" indent="0">
              <a:buNone/>
            </a:pPr>
            <a:r>
              <a:rPr lang="it-IT" dirty="0"/>
              <a:t>            a := CP[</a:t>
            </a:r>
            <a:r>
              <a:rPr lang="it-IT" dirty="0" err="1"/>
              <a:t>j</a:t>
            </a:r>
            <a:r>
              <a:rPr lang="it-IT" dirty="0"/>
              <a:t>]; b := CP[j+1]; c := CP[j+2]</a:t>
            </a:r>
          </a:p>
          <a:p>
            <a:pPr marL="0" indent="0">
              <a:buNone/>
            </a:pPr>
            <a:r>
              <a:rPr lang="it-IT" dirty="0"/>
              <a:t>            </a:t>
            </a:r>
            <a:r>
              <a:rPr lang="it-IT" dirty="0" err="1"/>
              <a:t>merge_cost</a:t>
            </a:r>
            <a:r>
              <a:rPr lang="it-IT" dirty="0"/>
              <a:t>[j+1] := c(a, c) - (c(a, b) + c(b, c))</a:t>
            </a:r>
          </a:p>
          <a:p>
            <a:pPr marL="0" indent="0">
              <a:buNone/>
            </a:pPr>
            <a:endParaRPr lang="it-IT" dirty="0"/>
          </a:p>
          <a:p>
            <a:pPr marL="0" indent="0">
              <a:buNone/>
            </a:pPr>
            <a:r>
              <a:rPr lang="it-IT" dirty="0"/>
              <a:t>        # rimuove i vecchi merge cost non più validi</a:t>
            </a:r>
          </a:p>
          <a:p>
            <a:pPr marL="0" indent="0">
              <a:buNone/>
            </a:pPr>
            <a:endParaRPr lang="it-IT" dirty="0"/>
          </a:p>
          <a:p>
            <a:pPr marL="0" indent="0">
              <a:buNone/>
            </a:pPr>
            <a:r>
              <a:rPr lang="it-IT" dirty="0"/>
              <a:t>    ritorna CP </a:t>
            </a:r>
          </a:p>
        </p:txBody>
      </p:sp>
    </p:spTree>
    <p:extLst>
      <p:ext uri="{BB962C8B-B14F-4D97-AF65-F5344CB8AC3E}">
        <p14:creationId xmlns:p14="http://schemas.microsoft.com/office/powerpoint/2010/main" val="313777709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70</TotalTime>
  <Words>549</Words>
  <Application>Microsoft Macintosh PowerPoint</Application>
  <PresentationFormat>Widescreen</PresentationFormat>
  <Paragraphs>53</Paragraphs>
  <Slides>4</Slides>
  <Notes>1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4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4</vt:i4>
      </vt:variant>
    </vt:vector>
  </HeadingPairs>
  <TitlesOfParts>
    <vt:vector size="9" baseType="lpstr">
      <vt:lpstr>Aptos</vt:lpstr>
      <vt:lpstr>Aptos Display</vt:lpstr>
      <vt:lpstr>Arial</vt:lpstr>
      <vt:lpstr>Times New Roman</vt:lpstr>
      <vt:lpstr>Tema di Office</vt:lpstr>
      <vt:lpstr>BOTTOM-UP SEGMENTATION</vt:lpstr>
      <vt:lpstr>PSEUDOCODICE</vt:lpstr>
      <vt:lpstr>Presentazione standard di PowerPoint</vt:lpstr>
      <vt:lpstr>Presentazione standard di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Lisa Vecchi - lisa.vecchi@studio.unibo.it</dc:creator>
  <cp:lastModifiedBy>Lisa Vecchi - lisa.vecchi@studio.unibo.it</cp:lastModifiedBy>
  <cp:revision>4</cp:revision>
  <dcterms:created xsi:type="dcterms:W3CDTF">2025-12-05T10:48:28Z</dcterms:created>
  <dcterms:modified xsi:type="dcterms:W3CDTF">2025-12-10T11:05:37Z</dcterms:modified>
</cp:coreProperties>
</file>