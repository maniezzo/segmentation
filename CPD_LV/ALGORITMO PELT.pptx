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64720"/>
  </p:normalViewPr>
  <p:slideViewPr>
    <p:cSldViewPr snapToGrid="0">
      <p:cViewPr varScale="1">
        <p:scale>
          <a:sx n="69" d="100"/>
          <a:sy n="69" d="100"/>
        </p:scale>
        <p:origin x="1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D3B88-ED99-A540-ABFA-B646A62B3F83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9B0C7-4FB5-7449-B517-75A7D2FAD5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11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9B0C7-4FB5-7449-B517-75A7D2FAD56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931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Si procede da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t=1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 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t=n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</a:t>
                </a:r>
                <a:br>
                  <a:rPr lang="it-IT" dirty="0"/>
                </a:b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A ogni passo si calcola il costo ottimale per segmentare i dati da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1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 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</a:t>
                </a:r>
              </a:p>
              <a:p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Per ogni possibile t, cerca il modo migliore per segmentare i dati fino a t minimizzando la funzione che corrisponde al costo se l’ultimo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-webkit-standard"/>
                  </a:rPr>
                  <a:t>changepoint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è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</a:t>
                </a:r>
              </a:p>
              <a:p>
                <a:endParaRPr lang="it-IT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Per ogni possibile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si calcola il costo della segmentazione ovvero tutti i</a:t>
                </a:r>
                <a:r>
                  <a:rPr lang="it-IT" b="0" i="0" u="none" strike="noStrike" baseline="0" dirty="0">
                    <a:solidFill>
                      <a:srgbClr val="000000"/>
                    </a:solidFill>
                    <a:effectLst/>
                    <a:latin typeface="-webkit-standard"/>
                  </a:rPr>
                  <a:t>l costo di tutti i modi possibili per terminare la segmentazione in t.</a:t>
                </a:r>
              </a:p>
              <a:p>
                <a:r>
                  <a:rPr lang="it-IT" b="0" i="0" u="none" strike="noStrike" baseline="0" dirty="0">
                    <a:solidFill>
                      <a:srgbClr val="000000"/>
                    </a:solidFill>
                    <a:effectLst/>
                    <a:latin typeface="-webkit-standard"/>
                  </a:rPr>
                  <a:t>Scelgo il punto che minimizza il costo e si aggiorna la lista dei candidati.</a:t>
                </a:r>
                <a:endParaRPr lang="it-IT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endParaRPr lang="it-IT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pPr algn="l"/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Dopo aver scelto 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τ*, 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PELT elimina un candidato 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 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se: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</a:rPr>
                  <a:t>F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(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τ)+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C(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τ+1: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t)+K≥F(t)</a:t>
                </a:r>
              </a:p>
              <a:p>
                <a:pPr algn="l"/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Questo vuol dire:</a:t>
                </a:r>
              </a:p>
              <a:p>
                <a:r>
                  <a:rPr lang="it-IT" dirty="0"/>
                  <a:t>Se prolungare il segmento da </a:t>
                </a:r>
                <a:r>
                  <a:rPr lang="el-GR" dirty="0"/>
                  <a:t>τ </a:t>
                </a:r>
                <a:r>
                  <a:rPr lang="it-IT" dirty="0"/>
                  <a:t>fino a t è già più costoso che chiudere il segmento in t, allora </a:t>
                </a:r>
                <a:r>
                  <a:rPr lang="el-GR" dirty="0"/>
                  <a:t>τ </a:t>
                </a:r>
                <a:r>
                  <a:rPr lang="it-IT" dirty="0"/>
                  <a:t>non potrà mai più essere un buon </a:t>
                </a:r>
                <a:r>
                  <a:rPr lang="it-IT" dirty="0" err="1"/>
                  <a:t>changepoint</a:t>
                </a:r>
                <a:r>
                  <a:rPr lang="it-IT" dirty="0"/>
                  <a:t>,</a:t>
                </a:r>
                <a:br>
                  <a:rPr lang="it-IT" dirty="0"/>
                </a:br>
                <a:r>
                  <a:rPr lang="it-IT" dirty="0"/>
                  <a:t>né ora né in futuro, quindi viene scartato.</a:t>
                </a:r>
              </a:p>
              <a:p>
                <a:endParaRPr lang="it-IT" dirty="0"/>
              </a:p>
              <a:p>
                <a:r>
                  <a:rPr lang="it-IT" dirty="0"/>
                  <a:t>Alla fine si aggiunge t alla possibile lista di possibili </a:t>
                </a:r>
                <a:r>
                  <a:rPr lang="it-IT" dirty="0" err="1"/>
                  <a:t>changepoint</a:t>
                </a:r>
                <a:r>
                  <a:rPr lang="it-IT" dirty="0"/>
                  <a:t>.</a:t>
                </a:r>
              </a:p>
              <a:p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Si procede da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t=1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 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t=n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</a:t>
                </a:r>
                <a:br>
                  <a:rPr lang="it-IT" dirty="0"/>
                </a:b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A ogni passo si calcola il costo ottimale per segmentare i dati da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1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 a 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</a:t>
                </a:r>
              </a:p>
              <a:p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Per ogni possibile t, cerca il modo migliore per segmentare i dati fino a t minimizzando la funzione che corrisponde al costo se l’ultimo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-webkit-standard"/>
                  </a:rPr>
                  <a:t>changepoint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è in </a:t>
                </a:r>
                <a:r>
                  <a:rPr lang="it-IT" b="0" i="0">
                    <a:latin typeface="Cambria Math" panose="02040503050406030204" pitchFamily="18" charset="0"/>
                  </a:rPr>
                  <a:t>(</a:t>
                </a:r>
                <a:r>
                  <a:rPr lang="it-IT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𝜏)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</a:t>
                </a:r>
              </a:p>
              <a:p>
                <a:endParaRPr lang="it-IT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Per ogni possibile </a:t>
                </a:r>
                <a:r>
                  <a:rPr lang="it-IT" b="0" i="0">
                    <a:latin typeface="Cambria Math" panose="02040503050406030204" pitchFamily="18" charset="0"/>
                  </a:rPr>
                  <a:t>(</a:t>
                </a:r>
                <a:r>
                  <a:rPr lang="it-IT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𝜏)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si calcola il costo della segmentazione ovvero tutti i</a:t>
                </a:r>
                <a:r>
                  <a:rPr lang="it-IT" b="0" i="0" u="none" strike="noStrike" baseline="0" dirty="0">
                    <a:solidFill>
                      <a:srgbClr val="000000"/>
                    </a:solidFill>
                    <a:effectLst/>
                    <a:latin typeface="-webkit-standard"/>
                  </a:rPr>
                  <a:t>l costo di tutti i modi possibili per terminare la segmentazione in t.</a:t>
                </a:r>
              </a:p>
              <a:p>
                <a:r>
                  <a:rPr lang="it-IT" b="0" i="0" u="none" strike="noStrike" baseline="0" dirty="0">
                    <a:solidFill>
                      <a:srgbClr val="000000"/>
                    </a:solidFill>
                    <a:effectLst/>
                    <a:latin typeface="-webkit-standard"/>
                  </a:rPr>
                  <a:t>Scelgo il punto che minimizza il costo e si aggiorna la lista dei candidati.</a:t>
                </a:r>
                <a:endParaRPr lang="it-IT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endParaRPr lang="it-IT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pPr algn="l"/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Dopo aver scelto 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τ*, 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PELT elimina un candidato 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 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se: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</a:rPr>
                  <a:t>F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(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τ)+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C(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τ+1: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t)+K≥F(t)</a:t>
                </a:r>
              </a:p>
              <a:p>
                <a:pPr algn="l"/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</a:rPr>
                  <a:t>Questo vuol dire:</a:t>
                </a:r>
              </a:p>
              <a:p>
                <a:r>
                  <a:rPr lang="it-IT" dirty="0"/>
                  <a:t>Se prolungare il segmento da </a:t>
                </a:r>
                <a:r>
                  <a:rPr lang="el-GR" dirty="0"/>
                  <a:t>τ </a:t>
                </a:r>
                <a:r>
                  <a:rPr lang="it-IT" dirty="0"/>
                  <a:t>fino a t è già più costoso che chiudere il segmento in t, allora </a:t>
                </a:r>
                <a:r>
                  <a:rPr lang="el-GR" dirty="0"/>
                  <a:t>τ </a:t>
                </a:r>
                <a:r>
                  <a:rPr lang="it-IT" dirty="0"/>
                  <a:t>non potrà mai più essere un buon </a:t>
                </a:r>
                <a:r>
                  <a:rPr lang="it-IT" dirty="0" err="1"/>
                  <a:t>changepoint</a:t>
                </a:r>
                <a:r>
                  <a:rPr lang="it-IT" dirty="0"/>
                  <a:t>,</a:t>
                </a:r>
                <a:br>
                  <a:rPr lang="it-IT" dirty="0"/>
                </a:br>
                <a:r>
                  <a:rPr lang="it-IT" dirty="0"/>
                  <a:t>né ora né in futuro, quindi viene scartato.</a:t>
                </a:r>
              </a:p>
              <a:p>
                <a:endParaRPr lang="it-IT" dirty="0"/>
              </a:p>
              <a:p>
                <a:r>
                  <a:rPr lang="it-IT" dirty="0"/>
                  <a:t>Alla fine si aggiunge t alla possibile lista di possibili </a:t>
                </a:r>
                <a:r>
                  <a:rPr lang="it-IT" dirty="0" err="1"/>
                  <a:t>changepoint</a:t>
                </a:r>
                <a:r>
                  <a:rPr lang="it-IT" dirty="0"/>
                  <a:t>.</a:t>
                </a:r>
              </a:p>
              <a:p>
                <a:endParaRPr lang="it-IT" dirty="0"/>
              </a:p>
              <a:p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9B0C7-4FB5-7449-B517-75A7D2FAD56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8035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L’algoritmo inizia definendo alcune strutture fondamentali: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Imposta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← -</a:t>
            </a:r>
            <a:r>
              <a:rPr lang="el-G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evitare di penalizzare due volte il primo segmento.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cp</a:t>
            </a:r>
            <a:r>
              <a:rPr lang="it-IT" dirty="0"/>
              <a:t>[0]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è la lista dei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changepoint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ottimali fino al tempo 0, che ovviamente è vuota</a:t>
            </a:r>
            <a:endParaRPr lang="it-IT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 infine definisco l’insieme dei candidati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RR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inizialmente uguale a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{0}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/>
          </a:p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Per ogni tempo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l’obiettivo è capire qual è il miglior modo di segmentare i dati da 1 fino a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br>
              <a:rPr lang="it-IT" dirty="0"/>
            </a:b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 faccio confrontando tutte le possibilità in cui l’ultimo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changepoint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prima di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si trova in uno dei punti dell’insieme 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R</a:t>
            </a:r>
            <a:endParaRPr lang="it-IT" b="0" i="0" u="none" strike="noStrike" dirty="0">
              <a:solidFill>
                <a:srgbClr val="000000"/>
              </a:solidFill>
              <a:effectLst/>
            </a:endParaRPr>
          </a:p>
          <a:p>
            <a:endParaRPr lang="it-IT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Per ogni candidato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in 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R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, calcolo il costo della segmentazione che:</a:t>
            </a:r>
          </a:p>
          <a:p>
            <a:pPr algn="l">
              <a:buFont typeface="+mj-lt"/>
              <a:buAutoNum type="arabicPeriod"/>
            </a:pP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segue la soluzione ottimale fino a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τ, 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cioè 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F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τ]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F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τ],</a:t>
            </a:r>
          </a:p>
          <a:p>
            <a:pPr algn="l">
              <a:buFont typeface="+mj-lt"/>
              <a:buAutoNum type="arabicPeriod"/>
            </a:pP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chiude l’ultimo segmento tra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τ+1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e t, cioè il costo C(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τ+1: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t),</a:t>
            </a:r>
          </a:p>
          <a:p>
            <a:pPr algn="l">
              <a:buFont typeface="+mj-lt"/>
              <a:buAutoNum type="arabicPeriod"/>
            </a:pP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e aggiunge la penalità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β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per avere un nuovo segmento.</a:t>
            </a: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Quindi per ogni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computo un </a:t>
            </a:r>
            <a:r>
              <a:rPr lang="it-IT" b="0" i="1" u="none" strike="noStrike" dirty="0">
                <a:solidFill>
                  <a:srgbClr val="000000"/>
                </a:solidFill>
                <a:effectLst/>
              </a:rPr>
              <a:t>costo candidato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questo punto scelgo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τ∗</a:t>
            </a:r>
            <a:r>
              <a:rPr lang="el-G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quello che dà il costo minimo.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Una volta trovato </a:t>
            </a:r>
            <a:r>
              <a:rPr lang="el-GR" b="0" i="0" u="none" strike="noStrike" dirty="0" err="1">
                <a:solidFill>
                  <a:srgbClr val="000000"/>
                </a:solidFill>
                <a:effectLst/>
              </a:rPr>
              <a:t>τ∗τ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∗, 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imposto: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F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[t]=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costo_candidato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τ∗]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, cioè il costo ottimale fino a 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tt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Poi aggiorno la lista dei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changepoint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 ottimali fino a t:</a:t>
            </a:r>
            <a:br>
              <a:rPr lang="it-IT" b="0" i="0" u="none" strike="noStrike" dirty="0">
                <a:solidFill>
                  <a:srgbClr val="000000"/>
                </a:solidFill>
                <a:effectLst/>
              </a:rPr>
            </a:b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copio 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cp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τ_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star] e aggiungo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τ∗.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9B0C7-4FB5-7449-B517-75A7D2FAD56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6417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arriva la parte fondamentale che rende PELT veloce: il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pruning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Prendo ciascun </a:t>
            </a:r>
            <a:r>
              <a:rPr lang="el-GR" b="0" i="0" u="none" strike="noStrike" dirty="0" err="1">
                <a:solidFill>
                  <a:srgbClr val="000000"/>
                </a:solidFill>
                <a:effectLst/>
              </a:rPr>
              <a:t>ττ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nell’insieme dei candidati RR e verifico una disuguaglianza:</a:t>
            </a:r>
          </a:p>
          <a:p>
            <a:pPr algn="l"/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F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τ]+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C(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τ+1: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t)+K&lt;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F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[t] Se questa condizione è vera, significa che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potrebbe ancora essere un buon ultimo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</a:rPr>
              <a:t>changepoint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 in futuro, quindi lo tengo.</a:t>
            </a: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Se invece la condizione è falsa, lo elimino.</a:t>
            </a:r>
            <a:br>
              <a:rPr lang="it-IT" b="0" i="0" u="none" strike="noStrike" dirty="0">
                <a:solidFill>
                  <a:srgbClr val="000000"/>
                </a:solidFill>
                <a:effectLst/>
              </a:rPr>
            </a:b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Il teorema del paper garantisce che, una volta eliminato, 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τ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</a:rPr>
              <a:t>non potrà mai essere parte della segmentazione ottimale in nessun tempo futuro.</a:t>
            </a:r>
          </a:p>
          <a:p>
            <a:endParaRPr lang="it-IT" dirty="0"/>
          </a:p>
          <a:p>
            <a:r>
              <a:rPr lang="it-IT" dirty="0"/>
              <a:t>Aggiorno </a:t>
            </a:r>
            <a:r>
              <a:rPr lang="it-IT" dirty="0" err="1"/>
              <a:t>R</a:t>
            </a:r>
            <a:r>
              <a:rPr lang="it-IT" dirty="0"/>
              <a:t> con i candidati rimanenti e aggiungo t all’insieme dei candidati.</a:t>
            </a:r>
          </a:p>
          <a:p>
            <a:endParaRPr lang="it-IT" dirty="0"/>
          </a:p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Alla fine del ciclo, la lista </a:t>
            </a:r>
            <a:r>
              <a:rPr lang="it-IT" dirty="0" err="1"/>
              <a:t>cp</a:t>
            </a:r>
            <a:r>
              <a:rPr lang="it-IT" dirty="0"/>
              <a:t>[</a:t>
            </a:r>
            <a:r>
              <a:rPr lang="it-IT" dirty="0" err="1"/>
              <a:t>n</a:t>
            </a:r>
            <a:r>
              <a:rPr lang="it-IT" dirty="0"/>
              <a:t>]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contiene la serie completa dei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changepoint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ottimali.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9B0C7-4FB5-7449-B517-75A7D2FAD56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2401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81BABD-23CE-076F-A480-50E26EDC6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5B9A4B-A27F-03F7-B7E4-887AC539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40EFD9-E4A9-2C8A-F0FF-ABE9B80E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DBFCEC-7A1E-6B0D-C998-946DDBC1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5BE495-8E3A-42B5-FEF6-3FC527A9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853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320AB4-F099-B43E-0E2F-1A156510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23BB06-85E1-3F11-13F2-7C2905A98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68EB0-461D-5B1E-C307-3AEB2CF4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9D54DE-704D-0DCB-6999-67FACDBE9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DDB71D-8C14-F937-528B-261A8570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460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74A2EE-A763-B4E1-4F39-FF9CFCB7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886BBE-F072-B787-63F5-4A4309D9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A9C9E1-5858-134B-B343-2BAD29A0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A23E5A-D732-16D8-6E1B-168D29D4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99E7CD-B549-2F52-8D5B-8120AB52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962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EDE09F-961F-B38C-B4F7-84501659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A202F8-CE7B-7232-0E7C-DF2092B5B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EFFE70-DAC9-D26A-A384-AFC2FFE3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4304B0-94AD-7BE3-E83D-8B8BDD62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DE7A6C-9E64-F4A6-B659-B97865CF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8F2395-AB4B-8830-D5DA-D3A1B47C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62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97CBA9-E95F-3AFB-B8C8-DA9EA366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552687-7979-E58A-CE36-2C6174410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47964E6-3519-A3B5-9ED4-1B8AA077F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34DCA6D-6B7E-F0E7-1C23-4A7E48515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8ED0FDB-3B34-6051-DE0C-9AD058D50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841C3EB-7ED7-1F1D-8E95-8B41065C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324647A-BCE8-BF2B-6289-B0BEC3A0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614EF8-F2AE-853C-2514-CBC2D3B6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84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4C08C-E309-94E4-2ABF-3567E7A3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B72EA0B-D393-D570-CA3B-DC96D7FF6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A0B686F-AD69-0913-7E12-F60568B2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22DF82-090D-DEC4-A7B8-E51E64EB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946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68307F4-D01F-630B-D2CE-55CA4954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0393E6B-E443-CDE6-A957-ECC331C4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CED6510-4FC3-812F-934E-0B044296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416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9C2065-6372-0555-D9DF-0FB05C775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DA2A41-6A94-48CC-087A-961E2704F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24F6EF-CDD1-B4CC-B96C-8D1E94CB7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558C875-3A93-2500-F39F-3028DC87D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6D0A33-A519-DB32-721A-5825D993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836894-8173-33F7-1556-127ADA26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512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A1BE18-389B-8852-0BBB-C825007B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88716F4-73B3-983B-281D-7263DD25C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04C61E-8D43-5411-6751-10704814A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37FBE4B-73DA-0F39-104F-4AFE0ABA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AEFF71-1173-DD9E-179C-A20015F9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2EA427-71F2-CCF6-0179-B746D69E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98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EDB005-6128-2ED8-08E1-24884717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7FA74BA-6019-3DA9-3720-AE480D8CA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1E6635-263D-BE93-C6A5-79A967B6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16D6D7-C34A-80E1-070C-8B687ACF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A24EFA-4F60-F896-4517-A1BE4F4C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89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5F821E8-99FE-B66C-47DE-D85B796FA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67C425-63C1-6190-90B3-55FB36C56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9F452F-BC5D-EC4C-9AD6-D7C108CCA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BE6A71-C8C1-1428-2A4C-C4B7349B2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6B8DDC-D4C5-751E-AA51-4E5EB996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444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069406F-86AD-39F9-0F74-AE9BE8EE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F0AFD9-C9E8-44E2-C80C-019DCCBDF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3ACC1B-3633-048D-F9BC-4C094E643E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C1572-20E0-904B-8854-6087E70C9574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F03C35-19EB-97FC-6140-52EC6718C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225E65-C240-2756-FCB2-EBB428A28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BD232-7066-444D-A69C-0BADFD4DF4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569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2109A6-1379-A95E-D6DD-AF31497C7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123950"/>
          </a:xfrm>
        </p:spPr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PELT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A01DCF40-9595-9B42-5429-0F81004EB61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3850" y="1133475"/>
                <a:ext cx="11544299" cy="539115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Obiettivo:</a:t>
                </a:r>
              </a:p>
              <a:p>
                <a:pPr algn="l"/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Individuare il numero e la posizione dei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changepoints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una serie temporale, minimizzando una funzione di costo che combina:</a:t>
                </a:r>
              </a:p>
              <a:p>
                <a:pPr marL="342900" indent="-342900" algn="l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 totale della segmentazione</a:t>
                </a:r>
              </a:p>
              <a:p>
                <a:pPr marL="342900" indent="-342900" algn="l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Penalità per il numero di segmenti</a:t>
                </a:r>
              </a:p>
              <a:p>
                <a:pPr marL="342900" indent="-342900" algn="l">
                  <a:buFontTx/>
                  <a:buChar char="-"/>
                </a:pP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</a:p>
              <a:p>
                <a:pPr marL="342900" indent="-342900" algn="l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 temporale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it-IT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Funzione di costo del segmento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it-IT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Penalità </a:t>
                </a:r>
                <a14:m>
                  <m:oMath xmlns:m="http://schemas.openxmlformats.org/officeDocument/2006/math">
                    <m:r>
                      <a:rPr lang="it-IT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ogni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</a:t>
                </a: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Costante K per la condizione di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pruning</a:t>
                </a: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A01DCF40-9595-9B42-5429-0F81004EB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3850" y="1133475"/>
                <a:ext cx="11544299" cy="5391150"/>
              </a:xfrm>
              <a:blipFill>
                <a:blip r:embed="rId3"/>
                <a:stretch>
                  <a:fillRect l="-549" t="-11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F0742AE8-92AF-3FCA-CB18-75443D1FEA39}"/>
              </a:ext>
            </a:extLst>
          </p:cNvPr>
          <p:cNvCxnSpPr>
            <a:cxnSpLocks/>
          </p:cNvCxnSpPr>
          <p:nvPr/>
        </p:nvCxnSpPr>
        <p:spPr>
          <a:xfrm>
            <a:off x="5699052" y="3689497"/>
            <a:ext cx="0" cy="16480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66DAB50-F795-0DAA-2C5D-95AB5E0898D2}"/>
                  </a:ext>
                </a:extLst>
              </p:cNvPr>
              <p:cNvSpPr txBox="1"/>
              <p:nvPr/>
            </p:nvSpPr>
            <p:spPr>
              <a:xfrm>
                <a:off x="6195239" y="3429000"/>
                <a:ext cx="560690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marL="285750" indent="-285750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Lista dei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changepoints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ottimali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it-IT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 ottimale della segmentazione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it-IT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66DAB50-F795-0DAA-2C5D-95AB5E089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239" y="3429000"/>
                <a:ext cx="5606902" cy="1323439"/>
              </a:xfrm>
              <a:prstGeom prst="rect">
                <a:avLst/>
              </a:prstGeom>
              <a:blipFill>
                <a:blip r:embed="rId4"/>
                <a:stretch>
                  <a:fillRect l="-1129" t="-2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391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F4D8EA-2162-98FD-6904-E144C753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28649"/>
            <a:ext cx="10515600" cy="2319338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FUNZIONA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930A4CB-1039-A450-CC32-EAB02B39C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7250"/>
                <a:ext cx="10515600" cy="5829300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ogni possibile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=1,..,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Pelt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calcola il miglior modo per segmentare i dati fino a 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lim>
                          </m:limLow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+1: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it-I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Dove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è ogni possibile ultimo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prima di t 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+1: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è il segmento finale che termina in t.</a:t>
                </a:r>
              </a:p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Per ogni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nell’insieme di candidati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calcola il costo della segmentazione: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+1: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it-I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Si trova 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che minimizzi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𝑐𝑜𝑠𝑡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si imposta: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+1: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si aggiorna la lista dei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ottimali fino a t</a:t>
                </a:r>
              </a:p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Pruning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per ciascun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Pelt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verifica: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+1: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la disuguaglianza è vera,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tiene, altrimenti, si scarta. </a:t>
                </a:r>
              </a:p>
              <a:p>
                <a:pPr marL="0" indent="0">
                  <a:buNone/>
                </a:pPr>
                <a:endParaRPr lang="it-I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930A4CB-1039-A450-CC32-EAB02B39C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7250"/>
                <a:ext cx="10515600" cy="5829300"/>
              </a:xfrm>
              <a:blipFill>
                <a:blip r:embed="rId3"/>
                <a:stretch>
                  <a:fillRect l="-1206" t="-2609" b="-17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85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16231C-6C5E-DD79-3DCE-F21C958C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957"/>
            <a:ext cx="10515600" cy="930729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94DF0FC-837F-07A3-8ACD-11B0132B3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585" y="914400"/>
                <a:ext cx="11756571" cy="57966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Funzione PELT(y[1,n], C, </a:t>
                </a:r>
                <a14:m>
                  <m:oMath xmlns:m="http://schemas.openxmlformats.org/officeDocument/2006/math">
                    <m:r>
                      <a:rPr lang="it-IT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K):</a:t>
                </a: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 1. INIZIALIZZAZIONE</a:t>
                </a:r>
              </a:p>
              <a:p>
                <a:pPr marL="0" indent="0">
                  <a:buNone/>
                </a:pP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 ← -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 ← []</a:t>
                </a:r>
              </a:p>
              <a:p>
                <a:pPr marL="0" indent="0">
                  <a:buNone/>
                </a:pP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← {0}</a:t>
                </a:r>
              </a:p>
              <a:p>
                <a:pPr marL="0" indent="0">
                  <a:buNone/>
                </a:pP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 2. CICLO SUI TEMPI t=1,…,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t da 1 a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# 2.1 Calcolo del costo migliore per segmentare 1:t</a:t>
                </a: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ogni 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 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costo_candidato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τ] ←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τ] + 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τ+1 : 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t) + 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</a:p>
              <a:p>
                <a:pPr marL="0" indent="0">
                  <a:buNone/>
                </a:pP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τ_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 ←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argmin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τ∈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costo_candidato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τ]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# τ_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 = ultimo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ottimale prima di t</a:t>
                </a: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[t] ←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costo_candidato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τ_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star]  # costo ottimale fino a t</a:t>
                </a:r>
              </a:p>
              <a:p>
                <a:pPr marL="0" indent="0">
                  <a:buNone/>
                </a:pP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[t] ←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τ_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star] ∪ {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τ_</a:t>
                </a:r>
                <a:r>
                  <a:rPr lang="it-I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star}  # ricostruzione incrementale dei </a:t>
                </a:r>
                <a:r>
                  <a:rPr lang="it-IT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changepoint</a:t>
                </a:r>
                <a:endParaRPr lang="it-I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94DF0FC-837F-07A3-8ACD-11B0132B3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585" y="914400"/>
                <a:ext cx="11756571" cy="5796643"/>
              </a:xfrm>
              <a:blipFill>
                <a:blip r:embed="rId3"/>
                <a:stretch>
                  <a:fillRect l="-648" t="-10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69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277335-3BBB-09F1-B256-2EB93EEE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46957"/>
            <a:ext cx="11756571" cy="649877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	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#2.2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Pruning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dei candidati</a:t>
            </a:r>
          </a:p>
          <a:p>
            <a:pPr marL="0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R_new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∅</a:t>
            </a: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PER ogni 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 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τ] +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τ+1 :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 + K  &lt; 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[t]: # 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mantenuto </a:t>
            </a: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aggiungi 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R_new</a:t>
            </a:r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ALTRIMENTI: # 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 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scartato</a:t>
            </a:r>
          </a:p>
          <a:p>
            <a:pPr marL="457200" lvl="1" indent="0">
              <a:buNone/>
            </a:pPr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#2.3 Aggiunta del nuovo punto t come candidato</a:t>
            </a: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aggiungi t a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R_new</a:t>
            </a:r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R_new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aggiorna il set dei candidati</a:t>
            </a:r>
          </a:p>
          <a:p>
            <a:pPr marL="457200" lvl="1" indent="0">
              <a:buNone/>
            </a:pPr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#3. OUTPUT</a:t>
            </a:r>
          </a:p>
          <a:p>
            <a:pPr marL="0" indent="0">
              <a:buNone/>
            </a:pP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changepoints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RESTITUISCI (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changepoints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8483477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1066</Words>
  <Application>Microsoft Macintosh PowerPoint</Application>
  <PresentationFormat>Widescreen</PresentationFormat>
  <Paragraphs>95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1" baseType="lpstr">
      <vt:lpstr>-webkit-standard</vt:lpstr>
      <vt:lpstr>Aptos</vt:lpstr>
      <vt:lpstr>Aptos Display</vt:lpstr>
      <vt:lpstr>Arial</vt:lpstr>
      <vt:lpstr>Cambria Math</vt:lpstr>
      <vt:lpstr>Times New Roman</vt:lpstr>
      <vt:lpstr>Tema di Office</vt:lpstr>
      <vt:lpstr>ALGORITMO PELT</vt:lpstr>
      <vt:lpstr>COME FUNZIONA</vt:lpstr>
      <vt:lpstr>PSEUDOCODICE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Vecchi - lisa.vecchi@studio.unibo.it</dc:creator>
  <cp:lastModifiedBy>Lisa Vecchi - lisa.vecchi@studio.unibo.it</cp:lastModifiedBy>
  <cp:revision>3</cp:revision>
  <dcterms:created xsi:type="dcterms:W3CDTF">2025-12-04T09:49:22Z</dcterms:created>
  <dcterms:modified xsi:type="dcterms:W3CDTF">2025-12-10T10:35:46Z</dcterms:modified>
</cp:coreProperties>
</file>